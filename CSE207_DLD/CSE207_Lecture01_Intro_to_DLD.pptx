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3" r:id="rId17"/>
    <p:sldId id="274" r:id="rId18"/>
    <p:sldId id="271" r:id="rId19"/>
    <p:sldId id="272"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11" d="100"/>
          <a:sy n="111" d="100"/>
        </p:scale>
        <p:origin x="516"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232403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students. Today we start from the very bottom: how a simple switch becomes a 0 or a 1, and how we describe and simplify circuits built from them.</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Analog signals can take any value in a range (a dimmer). Digital signals take only two values (a light switch). Digital is used because two values are easy to tell apart even with noise, and easy to build with transistors.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Five topics. Each one uses the one before it.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Simplest digital circuit: battery, switch, lamp. Open switch means no current, lamp off, we call it 0. Closed switch means current flows, lamp on, we call it 1. A transistor is just an electronic switch.</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Series: current must pass through A and then B, so both must be closed. That is AND. Parallel: current can take either path, so one closed switch is enough. That is OR. In the picture, the parallel circuit has A open and B closed, and the lamp is still on.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truth table has one row for every input combination. Each input can be 0 or 1, so every new input doubles the rows: 2, 4, 8, 16. Example: the series (AND) circuit.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Trick for filling inputs: the last column flips every row, the next every 2 rows, the first every 4 rows. It is the same as counting 0 to 7 in binary.</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logic gate is a small circuit that follows one fixed rule. AND = all inputs must be 1. OR = at least one input is 1. NOT = flips the input.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NAND is AND followed by NOT; NOR is OR followed by NOT (the small bubble means NOT). XOR: inputs different gives 1. XNOR: inputs same gives 1. Output strings are for inputs 00, 01, 10, 11.</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Universal means you can build NOT, AND and OR, and so every circuit, using only that one gate type. NOT from NAND: tie both inputs together, (A·A)' = A'. AND from NAND: a NAND followed by a NAND-made NOT. OR from NAND: invert both inputs first, (A'·B')' = A + B by De Morgan. NOR is the mirror image. XOR is not universal: it can make NOT but never AND or OR.</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Boolean algebra is ordinary-looking algebra where every variable is 0 or 1. Important difference: in OR, 1 + 1 = 1, not 2. Precedence: NOT first, then AND, then OR.</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Most laws come in pairs: an OR form and an AND form. Note the second distributive law, A + BC = (A + B)(A + C), which is NOT true in normal math but is true in Boolean algebra. Students can check any law by trying A = 0 and A = 1.</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rules for pushing a NOT inside brackets. The truth table proves the second one: the highlighted columns (A·B)' and A' + B' are identical in every row.</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 symbol in an expression becomes real hardware. AB + AB' needs two ANDs, one NOT (for B') and one OR. After simplification it is just A: a plain wire. Next slide shows how.</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All three follow the same pattern: use the distributive law to group, the complement law to make a 1 or a 0, then the identity law to finish. Example 2: A + A'B = (A + A')(A + B) uses the OR form of the distributive law.</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In-class practice, easiest first. Solve these on the board with the students.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Homework problems.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Answers: 1) OFF, both paths are open (0 + 0 = 0). 2) 2^4 = 16 rows. 3) XOR. 4) F = A + AB = A(1 + B) = A · 1 = A (Absorption law).</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Recap the five ideas. Next class: canonical and standard forms, then Karnaugh maps.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8E1B22"/>
        </a:solidFill>
        <a:effectLst/>
      </p:bgPr>
    </p:bg>
    <p:spTree>
      <p:nvGrpSpPr>
        <p:cNvPr id="1" name=""/>
        <p:cNvGrpSpPr/>
        <p:nvPr/>
      </p:nvGrpSpPr>
      <p:grpSpPr>
        <a:xfrm>
          <a:off x="0" y="0"/>
          <a:ext cx="0" cy="0"/>
          <a:chOff x="0" y="0"/>
          <a:chExt cx="0" cy="0"/>
        </a:xfrm>
      </p:grpSpPr>
      <p:sp>
        <p:nvSpPr>
          <p:cNvPr id="2" name="Oval 1"/>
          <p:cNvSpPr/>
          <p:nvPr/>
        </p:nvSpPr>
        <p:spPr>
          <a:xfrm>
            <a:off x="868680" y="1874519"/>
            <a:ext cx="3017520" cy="30175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logo.png"/>
          <p:cNvPicPr>
            <a:picLocks noChangeAspect="1"/>
          </p:cNvPicPr>
          <p:nvPr/>
        </p:nvPicPr>
        <p:blipFill>
          <a:blip r:embed="rId3"/>
          <a:stretch>
            <a:fillRect/>
          </a:stretch>
        </p:blipFill>
        <p:spPr>
          <a:xfrm>
            <a:off x="1371600" y="2377440"/>
            <a:ext cx="2011680" cy="2011680"/>
          </a:xfrm>
          <a:prstGeom prst="rect">
            <a:avLst/>
          </a:prstGeom>
        </p:spPr>
      </p:pic>
      <p:sp>
        <p:nvSpPr>
          <p:cNvPr id="4" name="TextBox 3"/>
          <p:cNvSpPr txBox="1"/>
          <p:nvPr/>
        </p:nvSpPr>
        <p:spPr>
          <a:xfrm>
            <a:off x="4480560" y="1325880"/>
            <a:ext cx="7132320" cy="365760"/>
          </a:xfrm>
          <a:prstGeom prst="rect">
            <a:avLst/>
          </a:prstGeom>
          <a:noFill/>
        </p:spPr>
        <p:txBody>
          <a:bodyPr wrap="square" lIns="0" tIns="0" rIns="0" bIns="0" anchor="t">
            <a:spAutoFit/>
          </a:bodyPr>
          <a:lstStyle/>
          <a:p>
            <a:pPr algn="l">
              <a:spcAft>
                <a:spcPts val="0"/>
              </a:spcAft>
            </a:pPr>
            <a:r>
              <a:rPr sz="1600" b="1" i="0">
                <a:solidFill>
                  <a:srgbClr val="F2C9CC"/>
                </a:solidFill>
                <a:latin typeface="Calibri"/>
              </a:rPr>
              <a:t>CSE207  ·  DIGITAL LOGIC DESIGN  ·  LECTURE 01</a:t>
            </a:r>
          </a:p>
        </p:txBody>
      </p:sp>
      <p:sp>
        <p:nvSpPr>
          <p:cNvPr id="5" name="TextBox 4"/>
          <p:cNvSpPr txBox="1"/>
          <p:nvPr/>
        </p:nvSpPr>
        <p:spPr>
          <a:xfrm>
            <a:off x="4480560" y="1783080"/>
            <a:ext cx="7223760" cy="1600200"/>
          </a:xfrm>
          <a:prstGeom prst="rect">
            <a:avLst/>
          </a:prstGeom>
          <a:noFill/>
        </p:spPr>
        <p:txBody>
          <a:bodyPr wrap="square" lIns="0" tIns="0" rIns="0" bIns="0" anchor="t">
            <a:spAutoFit/>
          </a:bodyPr>
          <a:lstStyle/>
          <a:p>
            <a:pPr algn="l">
              <a:spcAft>
                <a:spcPts val="0"/>
              </a:spcAft>
            </a:pPr>
            <a:r>
              <a:rPr sz="4400" b="1" i="0">
                <a:solidFill>
                  <a:srgbClr val="FFFFFF"/>
                </a:solidFill>
                <a:latin typeface="Calibri"/>
              </a:rPr>
              <a:t>Welcome to the World of 0s and 1s</a:t>
            </a:r>
          </a:p>
        </p:txBody>
      </p:sp>
      <p:sp>
        <p:nvSpPr>
          <p:cNvPr id="6" name="TextBox 5"/>
          <p:cNvSpPr txBox="1"/>
          <p:nvPr/>
        </p:nvSpPr>
        <p:spPr>
          <a:xfrm>
            <a:off x="4480560" y="3429000"/>
            <a:ext cx="7132320" cy="868680"/>
          </a:xfrm>
          <a:prstGeom prst="rect">
            <a:avLst/>
          </a:prstGeom>
          <a:noFill/>
        </p:spPr>
        <p:txBody>
          <a:bodyPr wrap="square" lIns="0" tIns="0" rIns="0" bIns="0" anchor="t">
            <a:spAutoFit/>
          </a:bodyPr>
          <a:lstStyle/>
          <a:p>
            <a:pPr algn="l">
              <a:spcAft>
                <a:spcPts val="0"/>
              </a:spcAft>
            </a:pPr>
            <a:r>
              <a:rPr sz="1900" b="0" i="0">
                <a:solidFill>
                  <a:srgbClr val="F2C9CC"/>
                </a:solidFill>
                <a:latin typeface="Calibri"/>
              </a:rPr>
              <a:t>Switching circuits, truth tables, logic gates, Boolean algebra and simplification</a:t>
            </a:r>
          </a:p>
        </p:txBody>
      </p:sp>
      <p:sp>
        <p:nvSpPr>
          <p:cNvPr id="7" name="TextBox 6"/>
          <p:cNvSpPr txBox="1"/>
          <p:nvPr/>
        </p:nvSpPr>
        <p:spPr>
          <a:xfrm>
            <a:off x="4480560" y="4572000"/>
            <a:ext cx="7132320" cy="1280160"/>
          </a:xfrm>
          <a:prstGeom prst="rect">
            <a:avLst/>
          </a:prstGeom>
          <a:noFill/>
        </p:spPr>
        <p:txBody>
          <a:bodyPr wrap="square" lIns="0" tIns="0" rIns="0" bIns="0" anchor="t">
            <a:spAutoFit/>
          </a:bodyPr>
          <a:lstStyle/>
          <a:p>
            <a:pPr algn="l">
              <a:spcAft>
                <a:spcPts val="200"/>
              </a:spcAft>
            </a:pPr>
            <a:r>
              <a:rPr sz="2400" b="1" i="0">
                <a:solidFill>
                  <a:srgbClr val="FFFFFF"/>
                </a:solidFill>
                <a:latin typeface="Calibri"/>
              </a:rPr>
              <a:t>Munzer Mahmood</a:t>
            </a:r>
          </a:p>
          <a:p>
            <a:pPr algn="l">
              <a:spcAft>
                <a:spcPts val="0"/>
              </a:spcAft>
            </a:pPr>
            <a:r>
              <a:rPr sz="1500" b="0" i="0">
                <a:solidFill>
                  <a:srgbClr val="FFFFFF"/>
                </a:solidFill>
                <a:latin typeface="Calibri"/>
              </a:rPr>
              <a:t>Lecturer, Department of Computer Science and Engineering</a:t>
            </a:r>
          </a:p>
          <a:p>
            <a:pPr algn="l">
              <a:spcAft>
                <a:spcPts val="0"/>
              </a:spcAft>
            </a:pPr>
            <a:r>
              <a:rPr sz="1500" b="1" i="0">
                <a:solidFill>
                  <a:srgbClr val="FFFFFF"/>
                </a:solidFill>
                <a:latin typeface="Calibri"/>
              </a:rPr>
              <a:t>Presidency University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91672" cy="713232"/>
          </a:xfrm>
          <a:prstGeom prst="rect">
            <a:avLst/>
          </a:prstGeom>
          <a:noFill/>
        </p:spPr>
        <p:txBody>
          <a:bodyPr wrap="square" lIns="0" tIns="0" rIns="0" bIns="0" anchor="ctr">
            <a:spAutoFit/>
          </a:bodyPr>
          <a:lstStyle/>
          <a:p>
            <a:pPr algn="l">
              <a:spcAft>
                <a:spcPts val="0"/>
              </a:spcAft>
            </a:pPr>
            <a:r>
              <a:rPr sz="3400" b="1" i="0">
                <a:solidFill>
                  <a:srgbClr val="1B3A6B"/>
                </a:solidFill>
                <a:latin typeface="Calibri"/>
              </a:rPr>
              <a:t>What is Digital Logic Design?</a:t>
            </a:r>
          </a:p>
        </p:txBody>
      </p:sp>
      <p:sp>
        <p:nvSpPr>
          <p:cNvPr id="3" name="TextBox 2"/>
          <p:cNvSpPr txBox="1"/>
          <p:nvPr/>
        </p:nvSpPr>
        <p:spPr>
          <a:xfrm>
            <a:off x="548640" y="6428232"/>
            <a:ext cx="5486400" cy="274320"/>
          </a:xfrm>
          <a:prstGeom prst="rect">
            <a:avLst/>
          </a:prstGeom>
          <a:noFill/>
        </p:spPr>
        <p:txBody>
          <a:bodyPr wrap="square" lIns="0" tIns="0" rIns="0" bIns="0" anchor="t">
            <a:spAutoFit/>
          </a:bodyPr>
          <a:lstStyle/>
          <a:p>
            <a:pPr algn="l">
              <a:spcAft>
                <a:spcPts val="0"/>
              </a:spcAft>
            </a:pPr>
            <a:r>
              <a:rPr sz="1100" b="0" i="0">
                <a:solidFill>
                  <a:srgbClr val="6B6B6B"/>
                </a:solidFill>
                <a:latin typeface="Calibri"/>
              </a:rPr>
              <a:t>CSE207  ·  Digital Logic Design  ·  Lecture 01</a:t>
            </a:r>
          </a:p>
        </p:txBody>
      </p:sp>
      <p:sp>
        <p:nvSpPr>
          <p:cNvPr id="4" name="TextBox 3"/>
          <p:cNvSpPr txBox="1"/>
          <p:nvPr/>
        </p:nvSpPr>
        <p:spPr>
          <a:xfrm>
            <a:off x="10725912" y="6428232"/>
            <a:ext cx="914400" cy="274320"/>
          </a:xfrm>
          <a:prstGeom prst="rect">
            <a:avLst/>
          </a:prstGeom>
          <a:noFill/>
        </p:spPr>
        <p:txBody>
          <a:bodyPr wrap="square" lIns="0" tIns="0" rIns="0" bIns="0" anchor="t">
            <a:spAutoFit/>
          </a:bodyPr>
          <a:lstStyle/>
          <a:p>
            <a:pPr algn="r">
              <a:spcAft>
                <a:spcPts val="0"/>
              </a:spcAft>
            </a:pPr>
            <a:r>
              <a:rPr sz="1100" b="0" i="0">
                <a:solidFill>
                  <a:srgbClr val="6B6B6B"/>
                </a:solidFill>
                <a:latin typeface="Calibri"/>
              </a:rPr>
              <a:t>2</a:t>
            </a:r>
          </a:p>
        </p:txBody>
      </p:sp>
      <p:sp>
        <p:nvSpPr>
          <p:cNvPr id="5" name="Rounded Rectangle 4"/>
          <p:cNvSpPr/>
          <p:nvPr/>
        </p:nvSpPr>
        <p:spPr>
          <a:xfrm>
            <a:off x="548640" y="1417320"/>
            <a:ext cx="5257800" cy="1600200"/>
          </a:xfrm>
          <a:prstGeom prst="roundRect">
            <a:avLst>
              <a:gd name="adj" fmla="val 6000"/>
            </a:avLst>
          </a:prstGeom>
          <a:solidFill>
            <a:srgbClr val="F8E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572768"/>
            <a:ext cx="4754880" cy="1325880"/>
          </a:xfrm>
          <a:prstGeom prst="rect">
            <a:avLst/>
          </a:prstGeom>
          <a:noFill/>
        </p:spPr>
        <p:txBody>
          <a:bodyPr wrap="square" lIns="0" tIns="0" rIns="0" bIns="0" anchor="t">
            <a:spAutoFit/>
          </a:bodyPr>
          <a:lstStyle/>
          <a:p>
            <a:pPr algn="l">
              <a:spcAft>
                <a:spcPts val="400"/>
              </a:spcAft>
            </a:pPr>
            <a:r>
              <a:rPr sz="1900" b="0" i="0">
                <a:solidFill>
                  <a:srgbClr val="222222"/>
                </a:solidFill>
                <a:latin typeface="Calibri"/>
              </a:rPr>
              <a:t>Digital Logic Design is about building circuits that work with only two values:</a:t>
            </a:r>
          </a:p>
          <a:p>
            <a:pPr algn="l">
              <a:spcAft>
                <a:spcPts val="0"/>
              </a:spcAft>
            </a:pPr>
            <a:r>
              <a:rPr sz="3200" b="1" i="0">
                <a:solidFill>
                  <a:srgbClr val="8E1B22"/>
                </a:solidFill>
                <a:latin typeface="Calibri"/>
              </a:rPr>
              <a:t>0</a:t>
            </a:r>
            <a:r>
              <a:rPr sz="1900" b="0" i="0">
                <a:solidFill>
                  <a:srgbClr val="222222"/>
                </a:solidFill>
                <a:latin typeface="Calibri"/>
              </a:rPr>
              <a:t>   and   </a:t>
            </a:r>
            <a:r>
              <a:rPr sz="3200" b="1" i="0">
                <a:solidFill>
                  <a:srgbClr val="8E1B22"/>
                </a:solidFill>
                <a:latin typeface="Calibri"/>
              </a:rPr>
              <a:t>1</a:t>
            </a:r>
          </a:p>
        </p:txBody>
      </p:sp>
      <p:sp>
        <p:nvSpPr>
          <p:cNvPr id="7" name="TextBox 6"/>
          <p:cNvSpPr txBox="1"/>
          <p:nvPr/>
        </p:nvSpPr>
        <p:spPr>
          <a:xfrm>
            <a:off x="548640" y="3291840"/>
            <a:ext cx="5257800" cy="411480"/>
          </a:xfrm>
          <a:prstGeom prst="rect">
            <a:avLst/>
          </a:prstGeom>
          <a:noFill/>
        </p:spPr>
        <p:txBody>
          <a:bodyPr wrap="square" lIns="0" tIns="0" rIns="0" bIns="0" anchor="t">
            <a:spAutoFit/>
          </a:bodyPr>
          <a:lstStyle/>
          <a:p>
            <a:pPr algn="l">
              <a:spcAft>
                <a:spcPts val="0"/>
              </a:spcAft>
            </a:pPr>
            <a:r>
              <a:rPr sz="2000" b="1" i="0">
                <a:solidFill>
                  <a:srgbClr val="1B3A6B"/>
                </a:solidFill>
                <a:latin typeface="Calibri"/>
              </a:rPr>
              <a:t>You'll find digital logic inside:</a:t>
            </a:r>
          </a:p>
        </p:txBody>
      </p:sp>
      <p:sp>
        <p:nvSpPr>
          <p:cNvPr id="8" name="TextBox 7"/>
          <p:cNvSpPr txBox="1"/>
          <p:nvPr/>
        </p:nvSpPr>
        <p:spPr>
          <a:xfrm>
            <a:off x="548640" y="3794760"/>
            <a:ext cx="5257800" cy="2286000"/>
          </a:xfrm>
          <a:prstGeom prst="rect">
            <a:avLst/>
          </a:prstGeom>
          <a:noFill/>
        </p:spPr>
        <p:txBody>
          <a:bodyPr wrap="square" lIns="0" tIns="0" rIns="0" bIns="0" anchor="t">
            <a:spAutoFit/>
          </a:bodyPr>
          <a:lstStyle/>
          <a:p>
            <a:pPr marL="342900" indent="-342900" algn="l">
              <a:spcAft>
                <a:spcPts val="1200"/>
              </a:spcAft>
              <a:buClr>
                <a:srgbClr val="8E1B22"/>
              </a:buClr>
              <a:buFont typeface="Arial"/>
              <a:buChar char="•"/>
            </a:pPr>
            <a:r>
              <a:rPr sz="2000" b="0" i="0">
                <a:solidFill>
                  <a:srgbClr val="222222"/>
                </a:solidFill>
                <a:latin typeface="Calibri"/>
              </a:rPr>
              <a:t>Computers and smartphones</a:t>
            </a:r>
          </a:p>
          <a:p>
            <a:pPr marL="342900" indent="-342900" algn="l">
              <a:spcAft>
                <a:spcPts val="1200"/>
              </a:spcAft>
              <a:buClr>
                <a:srgbClr val="8E1B22"/>
              </a:buClr>
              <a:buFont typeface="Arial"/>
              <a:buChar char="•"/>
            </a:pPr>
            <a:r>
              <a:rPr sz="2000" b="0" i="0">
                <a:solidFill>
                  <a:srgbClr val="222222"/>
                </a:solidFill>
                <a:latin typeface="Calibri"/>
              </a:rPr>
              <a:t>Calculators and digital watches</a:t>
            </a:r>
          </a:p>
          <a:p>
            <a:pPr marL="342900" indent="-342900" algn="l">
              <a:spcAft>
                <a:spcPts val="1200"/>
              </a:spcAft>
              <a:buClr>
                <a:srgbClr val="8E1B22"/>
              </a:buClr>
              <a:buFont typeface="Arial"/>
              <a:buChar char="•"/>
            </a:pPr>
            <a:r>
              <a:rPr sz="2000" b="0" i="0">
                <a:solidFill>
                  <a:srgbClr val="222222"/>
                </a:solidFill>
                <a:latin typeface="Calibri"/>
              </a:rPr>
              <a:t>Traffic lights and elevators</a:t>
            </a:r>
          </a:p>
          <a:p>
            <a:pPr marL="342900" indent="-342900" algn="l">
              <a:spcAft>
                <a:spcPts val="1200"/>
              </a:spcAft>
              <a:buClr>
                <a:srgbClr val="8E1B22"/>
              </a:buClr>
              <a:buFont typeface="Arial"/>
              <a:buChar char="•"/>
            </a:pPr>
            <a:r>
              <a:rPr sz="2000" b="0" i="0">
                <a:solidFill>
                  <a:srgbClr val="222222"/>
                </a:solidFill>
                <a:latin typeface="Calibri"/>
              </a:rPr>
              <a:t>Washing machines and microwaves</a:t>
            </a:r>
          </a:p>
        </p:txBody>
      </p:sp>
      <p:sp>
        <p:nvSpPr>
          <p:cNvPr id="9" name="Rounded Rectangle 8"/>
          <p:cNvSpPr/>
          <p:nvPr/>
        </p:nvSpPr>
        <p:spPr>
          <a:xfrm>
            <a:off x="6309360" y="1417320"/>
            <a:ext cx="5330952" cy="2240280"/>
          </a:xfrm>
          <a:prstGeom prst="roundRect">
            <a:avLst>
              <a:gd name="adj" fmla="val 6000"/>
            </a:avLst>
          </a:prstGeom>
          <a:solidFill>
            <a:srgbClr val="ED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83680" y="1581912"/>
            <a:ext cx="4846320" cy="411480"/>
          </a:xfrm>
          <a:prstGeom prst="rect">
            <a:avLst/>
          </a:prstGeom>
          <a:noFill/>
        </p:spPr>
        <p:txBody>
          <a:bodyPr wrap="square" lIns="0" tIns="0" rIns="0" bIns="0" anchor="t">
            <a:spAutoFit/>
          </a:bodyPr>
          <a:lstStyle/>
          <a:p>
            <a:pPr algn="l">
              <a:spcAft>
                <a:spcPts val="0"/>
              </a:spcAft>
            </a:pPr>
            <a:r>
              <a:rPr sz="2200" b="1" i="0">
                <a:solidFill>
                  <a:srgbClr val="1B3A6B"/>
                </a:solidFill>
                <a:latin typeface="Calibri"/>
              </a:rPr>
              <a:t>Analog</a:t>
            </a:r>
            <a:r>
              <a:rPr sz="1500" b="0" i="0">
                <a:solidFill>
                  <a:srgbClr val="6B6B6B"/>
                </a:solidFill>
                <a:latin typeface="Calibri"/>
              </a:rPr>
              <a:t>   Any value in a range, like a dimmer knob</a:t>
            </a:r>
          </a:p>
        </p:txBody>
      </p:sp>
      <p:pic>
        <p:nvPicPr>
          <p:cNvPr id="11" name="Picture 10" descr="analog.png"/>
          <p:cNvPicPr>
            <a:picLocks noChangeAspect="1"/>
          </p:cNvPicPr>
          <p:nvPr/>
        </p:nvPicPr>
        <p:blipFill>
          <a:blip r:embed="rId3"/>
          <a:stretch>
            <a:fillRect/>
          </a:stretch>
        </p:blipFill>
        <p:spPr>
          <a:xfrm>
            <a:off x="7568690" y="2103120"/>
            <a:ext cx="2812291" cy="1371600"/>
          </a:xfrm>
          <a:prstGeom prst="rect">
            <a:avLst/>
          </a:prstGeom>
        </p:spPr>
      </p:pic>
      <p:sp>
        <p:nvSpPr>
          <p:cNvPr id="12" name="Rounded Rectangle 11"/>
          <p:cNvSpPr/>
          <p:nvPr/>
        </p:nvSpPr>
        <p:spPr>
          <a:xfrm>
            <a:off x="6309360" y="3840480"/>
            <a:ext cx="5330952" cy="2240280"/>
          </a:xfrm>
          <a:prstGeom prst="roundRect">
            <a:avLst>
              <a:gd name="adj" fmla="val 6000"/>
            </a:avLst>
          </a:prstGeom>
          <a:solidFill>
            <a:srgbClr val="F8E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83680" y="4005072"/>
            <a:ext cx="4846320" cy="411480"/>
          </a:xfrm>
          <a:prstGeom prst="rect">
            <a:avLst/>
          </a:prstGeom>
          <a:noFill/>
        </p:spPr>
        <p:txBody>
          <a:bodyPr wrap="square" lIns="0" tIns="0" rIns="0" bIns="0" anchor="t">
            <a:spAutoFit/>
          </a:bodyPr>
          <a:lstStyle/>
          <a:p>
            <a:pPr algn="l">
              <a:spcAft>
                <a:spcPts val="0"/>
              </a:spcAft>
            </a:pPr>
            <a:r>
              <a:rPr sz="2200" b="1" i="0">
                <a:solidFill>
                  <a:srgbClr val="8E1B22"/>
                </a:solidFill>
                <a:latin typeface="Calibri"/>
              </a:rPr>
              <a:t>Digital</a:t>
            </a:r>
            <a:r>
              <a:rPr sz="1500" b="0" i="0">
                <a:solidFill>
                  <a:srgbClr val="6B6B6B"/>
                </a:solidFill>
                <a:latin typeface="Calibri"/>
              </a:rPr>
              <a:t>   Only 0 or 1, like a light switch</a:t>
            </a:r>
          </a:p>
        </p:txBody>
      </p:sp>
      <p:pic>
        <p:nvPicPr>
          <p:cNvPr id="14" name="Picture 13" descr="digital.png"/>
          <p:cNvPicPr>
            <a:picLocks noChangeAspect="1"/>
          </p:cNvPicPr>
          <p:nvPr/>
        </p:nvPicPr>
        <p:blipFill>
          <a:blip r:embed="rId4"/>
          <a:stretch>
            <a:fillRect/>
          </a:stretch>
        </p:blipFill>
        <p:spPr>
          <a:xfrm>
            <a:off x="7507275" y="4526280"/>
            <a:ext cx="2935121" cy="13716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91672" cy="713232"/>
          </a:xfrm>
          <a:prstGeom prst="rect">
            <a:avLst/>
          </a:prstGeom>
          <a:noFill/>
        </p:spPr>
        <p:txBody>
          <a:bodyPr wrap="square" lIns="0" tIns="0" rIns="0" bIns="0" anchor="ctr">
            <a:spAutoFit/>
          </a:bodyPr>
          <a:lstStyle/>
          <a:p>
            <a:pPr algn="l">
              <a:spcAft>
                <a:spcPts val="0"/>
              </a:spcAft>
            </a:pPr>
            <a:r>
              <a:rPr sz="3400" b="1" i="0">
                <a:solidFill>
                  <a:srgbClr val="1B3A6B"/>
                </a:solidFill>
                <a:latin typeface="Calibri"/>
              </a:rPr>
              <a:t>Today's Roadmap</a:t>
            </a:r>
          </a:p>
        </p:txBody>
      </p:sp>
      <p:sp>
        <p:nvSpPr>
          <p:cNvPr id="3" name="TextBox 2"/>
          <p:cNvSpPr txBox="1"/>
          <p:nvPr/>
        </p:nvSpPr>
        <p:spPr>
          <a:xfrm>
            <a:off x="548640" y="6428232"/>
            <a:ext cx="5486400" cy="274320"/>
          </a:xfrm>
          <a:prstGeom prst="rect">
            <a:avLst/>
          </a:prstGeom>
          <a:noFill/>
        </p:spPr>
        <p:txBody>
          <a:bodyPr wrap="square" lIns="0" tIns="0" rIns="0" bIns="0" anchor="t">
            <a:spAutoFit/>
          </a:bodyPr>
          <a:lstStyle/>
          <a:p>
            <a:pPr algn="l">
              <a:spcAft>
                <a:spcPts val="0"/>
              </a:spcAft>
            </a:pPr>
            <a:r>
              <a:rPr sz="1100" b="0" i="0">
                <a:solidFill>
                  <a:srgbClr val="6B6B6B"/>
                </a:solidFill>
                <a:latin typeface="Calibri"/>
              </a:rPr>
              <a:t>CSE207  ·  Digital Logic Design  ·  Lecture 01</a:t>
            </a:r>
          </a:p>
        </p:txBody>
      </p:sp>
      <p:sp>
        <p:nvSpPr>
          <p:cNvPr id="4" name="TextBox 3"/>
          <p:cNvSpPr txBox="1"/>
          <p:nvPr/>
        </p:nvSpPr>
        <p:spPr>
          <a:xfrm>
            <a:off x="10725912" y="6428232"/>
            <a:ext cx="914400" cy="274320"/>
          </a:xfrm>
          <a:prstGeom prst="rect">
            <a:avLst/>
          </a:prstGeom>
          <a:noFill/>
        </p:spPr>
        <p:txBody>
          <a:bodyPr wrap="square" lIns="0" tIns="0" rIns="0" bIns="0" anchor="t">
            <a:spAutoFit/>
          </a:bodyPr>
          <a:lstStyle/>
          <a:p>
            <a:pPr algn="r">
              <a:spcAft>
                <a:spcPts val="0"/>
              </a:spcAft>
            </a:pPr>
            <a:r>
              <a:rPr sz="1100" b="0" i="0">
                <a:solidFill>
                  <a:srgbClr val="6B6B6B"/>
                </a:solidFill>
                <a:latin typeface="Calibri"/>
              </a:rPr>
              <a:t>3</a:t>
            </a:r>
          </a:p>
        </p:txBody>
      </p:sp>
      <p:sp>
        <p:nvSpPr>
          <p:cNvPr id="5" name="Rounded Rectangle 4"/>
          <p:cNvSpPr/>
          <p:nvPr/>
        </p:nvSpPr>
        <p:spPr>
          <a:xfrm>
            <a:off x="548640" y="1508760"/>
            <a:ext cx="2057400" cy="3749039"/>
          </a:xfrm>
          <a:prstGeom prst="roundRect">
            <a:avLst>
              <a:gd name="adj" fmla="val 6000"/>
            </a:avLst>
          </a:prstGeom>
          <a:solidFill>
            <a:srgbClr val="F8E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777240" y="1783080"/>
            <a:ext cx="731520" cy="731520"/>
          </a:xfrm>
          <a:prstGeom prst="ellipse">
            <a:avLst/>
          </a:prstGeom>
          <a:solidFill>
            <a:srgbClr val="8E1B2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600" b="1">
                <a:solidFill>
                  <a:srgbClr val="FFFFFF"/>
                </a:solidFill>
                <a:latin typeface="Calibri"/>
              </a:rPr>
              <a:t>1</a:t>
            </a:r>
          </a:p>
        </p:txBody>
      </p:sp>
      <p:sp>
        <p:nvSpPr>
          <p:cNvPr id="7" name="TextBox 6"/>
          <p:cNvSpPr txBox="1"/>
          <p:nvPr/>
        </p:nvSpPr>
        <p:spPr>
          <a:xfrm>
            <a:off x="777240" y="2743200"/>
            <a:ext cx="1645920" cy="868680"/>
          </a:xfrm>
          <a:prstGeom prst="rect">
            <a:avLst/>
          </a:prstGeom>
          <a:noFill/>
        </p:spPr>
        <p:txBody>
          <a:bodyPr wrap="square" lIns="0" tIns="0" rIns="0" bIns="0" anchor="t">
            <a:spAutoFit/>
          </a:bodyPr>
          <a:lstStyle/>
          <a:p>
            <a:pPr algn="l">
              <a:spcAft>
                <a:spcPts val="0"/>
              </a:spcAft>
            </a:pPr>
            <a:r>
              <a:rPr sz="2100" b="1" i="0">
                <a:solidFill>
                  <a:srgbClr val="8E1B22"/>
                </a:solidFill>
                <a:latin typeface="Calibri"/>
              </a:rPr>
              <a:t>Switching Circuits</a:t>
            </a:r>
          </a:p>
        </p:txBody>
      </p:sp>
      <p:sp>
        <p:nvSpPr>
          <p:cNvPr id="8" name="TextBox 7"/>
          <p:cNvSpPr txBox="1"/>
          <p:nvPr/>
        </p:nvSpPr>
        <p:spPr>
          <a:xfrm>
            <a:off x="777240" y="3657600"/>
            <a:ext cx="1645920" cy="1463040"/>
          </a:xfrm>
          <a:prstGeom prst="rect">
            <a:avLst/>
          </a:prstGeom>
          <a:noFill/>
        </p:spPr>
        <p:txBody>
          <a:bodyPr wrap="square" lIns="0" tIns="0" rIns="0" bIns="0" anchor="t">
            <a:spAutoFit/>
          </a:bodyPr>
          <a:lstStyle/>
          <a:p>
            <a:pPr algn="l">
              <a:spcAft>
                <a:spcPts val="0"/>
              </a:spcAft>
            </a:pPr>
            <a:r>
              <a:rPr sz="1600" b="0" i="0">
                <a:solidFill>
                  <a:srgbClr val="222222"/>
                </a:solidFill>
                <a:latin typeface="Calibri"/>
              </a:rPr>
              <a:t>How a simple switch stands for a 0 or a 1</a:t>
            </a:r>
          </a:p>
        </p:txBody>
      </p:sp>
      <p:sp>
        <p:nvSpPr>
          <p:cNvPr id="9" name="Rounded Rectangle 8"/>
          <p:cNvSpPr/>
          <p:nvPr/>
        </p:nvSpPr>
        <p:spPr>
          <a:xfrm>
            <a:off x="2807208" y="1508760"/>
            <a:ext cx="2057400" cy="3749039"/>
          </a:xfrm>
          <a:prstGeom prst="roundRect">
            <a:avLst>
              <a:gd name="adj" fmla="val 6000"/>
            </a:avLst>
          </a:prstGeom>
          <a:solidFill>
            <a:srgbClr val="ED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035808" y="1783080"/>
            <a:ext cx="731520" cy="731520"/>
          </a:xfrm>
          <a:prstGeom prst="ellipse">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600" b="1">
                <a:solidFill>
                  <a:srgbClr val="FFFFFF"/>
                </a:solidFill>
                <a:latin typeface="Calibri"/>
              </a:rPr>
              <a:t>2</a:t>
            </a:r>
          </a:p>
        </p:txBody>
      </p:sp>
      <p:sp>
        <p:nvSpPr>
          <p:cNvPr id="11" name="TextBox 10"/>
          <p:cNvSpPr txBox="1"/>
          <p:nvPr/>
        </p:nvSpPr>
        <p:spPr>
          <a:xfrm>
            <a:off x="3035808" y="2743200"/>
            <a:ext cx="1645920" cy="868680"/>
          </a:xfrm>
          <a:prstGeom prst="rect">
            <a:avLst/>
          </a:prstGeom>
          <a:noFill/>
        </p:spPr>
        <p:txBody>
          <a:bodyPr wrap="square" lIns="0" tIns="0" rIns="0" bIns="0" anchor="t">
            <a:spAutoFit/>
          </a:bodyPr>
          <a:lstStyle/>
          <a:p>
            <a:pPr algn="l">
              <a:spcAft>
                <a:spcPts val="0"/>
              </a:spcAft>
            </a:pPr>
            <a:r>
              <a:rPr sz="2100" b="1" i="0">
                <a:solidFill>
                  <a:srgbClr val="1B3A6B"/>
                </a:solidFill>
                <a:latin typeface="Calibri"/>
              </a:rPr>
              <a:t>Truth Tables</a:t>
            </a:r>
          </a:p>
        </p:txBody>
      </p:sp>
      <p:sp>
        <p:nvSpPr>
          <p:cNvPr id="12" name="TextBox 11"/>
          <p:cNvSpPr txBox="1"/>
          <p:nvPr/>
        </p:nvSpPr>
        <p:spPr>
          <a:xfrm>
            <a:off x="3035808" y="3657600"/>
            <a:ext cx="1645920" cy="1463040"/>
          </a:xfrm>
          <a:prstGeom prst="rect">
            <a:avLst/>
          </a:prstGeom>
          <a:noFill/>
        </p:spPr>
        <p:txBody>
          <a:bodyPr wrap="square" lIns="0" tIns="0" rIns="0" bIns="0" anchor="t">
            <a:spAutoFit/>
          </a:bodyPr>
          <a:lstStyle/>
          <a:p>
            <a:pPr algn="l">
              <a:spcAft>
                <a:spcPts val="0"/>
              </a:spcAft>
            </a:pPr>
            <a:r>
              <a:rPr sz="1600" b="0" i="0">
                <a:solidFill>
                  <a:srgbClr val="222222"/>
                </a:solidFill>
                <a:latin typeface="Calibri"/>
              </a:rPr>
              <a:t>Writing down every possible input and its output</a:t>
            </a:r>
          </a:p>
        </p:txBody>
      </p:sp>
      <p:sp>
        <p:nvSpPr>
          <p:cNvPr id="13" name="Rounded Rectangle 12"/>
          <p:cNvSpPr/>
          <p:nvPr/>
        </p:nvSpPr>
        <p:spPr>
          <a:xfrm>
            <a:off x="5065776" y="1508760"/>
            <a:ext cx="2057400" cy="3749039"/>
          </a:xfrm>
          <a:prstGeom prst="roundRect">
            <a:avLst>
              <a:gd name="adj" fmla="val 6000"/>
            </a:avLst>
          </a:prstGeom>
          <a:solidFill>
            <a:srgbClr val="F8E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5294376" y="1783080"/>
            <a:ext cx="731520" cy="731520"/>
          </a:xfrm>
          <a:prstGeom prst="ellipse">
            <a:avLst/>
          </a:prstGeom>
          <a:solidFill>
            <a:srgbClr val="8E1B2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600" b="1">
                <a:solidFill>
                  <a:srgbClr val="FFFFFF"/>
                </a:solidFill>
                <a:latin typeface="Calibri"/>
              </a:rPr>
              <a:t>3</a:t>
            </a:r>
          </a:p>
        </p:txBody>
      </p:sp>
      <p:sp>
        <p:nvSpPr>
          <p:cNvPr id="15" name="TextBox 14"/>
          <p:cNvSpPr txBox="1"/>
          <p:nvPr/>
        </p:nvSpPr>
        <p:spPr>
          <a:xfrm>
            <a:off x="5294376" y="2743200"/>
            <a:ext cx="1645920" cy="868680"/>
          </a:xfrm>
          <a:prstGeom prst="rect">
            <a:avLst/>
          </a:prstGeom>
          <a:noFill/>
        </p:spPr>
        <p:txBody>
          <a:bodyPr wrap="square" lIns="0" tIns="0" rIns="0" bIns="0" anchor="t">
            <a:spAutoFit/>
          </a:bodyPr>
          <a:lstStyle/>
          <a:p>
            <a:pPr algn="l">
              <a:spcAft>
                <a:spcPts val="0"/>
              </a:spcAft>
            </a:pPr>
            <a:r>
              <a:rPr sz="2100" b="1" i="0">
                <a:solidFill>
                  <a:srgbClr val="8E1B22"/>
                </a:solidFill>
                <a:latin typeface="Calibri"/>
              </a:rPr>
              <a:t>Logic Gates</a:t>
            </a:r>
          </a:p>
        </p:txBody>
      </p:sp>
      <p:sp>
        <p:nvSpPr>
          <p:cNvPr id="16" name="TextBox 15"/>
          <p:cNvSpPr txBox="1"/>
          <p:nvPr/>
        </p:nvSpPr>
        <p:spPr>
          <a:xfrm>
            <a:off x="5294376" y="3657600"/>
            <a:ext cx="1645920" cy="1463040"/>
          </a:xfrm>
          <a:prstGeom prst="rect">
            <a:avLst/>
          </a:prstGeom>
          <a:noFill/>
        </p:spPr>
        <p:txBody>
          <a:bodyPr wrap="square" lIns="0" tIns="0" rIns="0" bIns="0" anchor="t">
            <a:spAutoFit/>
          </a:bodyPr>
          <a:lstStyle/>
          <a:p>
            <a:pPr algn="l">
              <a:spcAft>
                <a:spcPts val="0"/>
              </a:spcAft>
            </a:pPr>
            <a:r>
              <a:rPr sz="1600" b="0" i="0">
                <a:solidFill>
                  <a:srgbClr val="222222"/>
                </a:solidFill>
                <a:latin typeface="Calibri"/>
              </a:rPr>
              <a:t>AND, OR, NOT and their friends</a:t>
            </a:r>
          </a:p>
        </p:txBody>
      </p:sp>
      <p:sp>
        <p:nvSpPr>
          <p:cNvPr id="17" name="Rounded Rectangle 16"/>
          <p:cNvSpPr/>
          <p:nvPr/>
        </p:nvSpPr>
        <p:spPr>
          <a:xfrm>
            <a:off x="7324344" y="1508760"/>
            <a:ext cx="2057400" cy="3749039"/>
          </a:xfrm>
          <a:prstGeom prst="roundRect">
            <a:avLst>
              <a:gd name="adj" fmla="val 6000"/>
            </a:avLst>
          </a:prstGeom>
          <a:solidFill>
            <a:srgbClr val="ED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7552944" y="1783080"/>
            <a:ext cx="731520" cy="731520"/>
          </a:xfrm>
          <a:prstGeom prst="ellipse">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600" b="1">
                <a:solidFill>
                  <a:srgbClr val="FFFFFF"/>
                </a:solidFill>
                <a:latin typeface="Calibri"/>
              </a:rPr>
              <a:t>4</a:t>
            </a:r>
          </a:p>
        </p:txBody>
      </p:sp>
      <p:sp>
        <p:nvSpPr>
          <p:cNvPr id="19" name="TextBox 18"/>
          <p:cNvSpPr txBox="1"/>
          <p:nvPr/>
        </p:nvSpPr>
        <p:spPr>
          <a:xfrm>
            <a:off x="7552944" y="2743200"/>
            <a:ext cx="1645920" cy="868680"/>
          </a:xfrm>
          <a:prstGeom prst="rect">
            <a:avLst/>
          </a:prstGeom>
          <a:noFill/>
        </p:spPr>
        <p:txBody>
          <a:bodyPr wrap="square" lIns="0" tIns="0" rIns="0" bIns="0" anchor="t">
            <a:spAutoFit/>
          </a:bodyPr>
          <a:lstStyle/>
          <a:p>
            <a:pPr algn="l">
              <a:spcAft>
                <a:spcPts val="0"/>
              </a:spcAft>
            </a:pPr>
            <a:r>
              <a:rPr sz="2100" b="1" i="0">
                <a:solidFill>
                  <a:srgbClr val="1B3A6B"/>
                </a:solidFill>
                <a:latin typeface="Calibri"/>
              </a:rPr>
              <a:t>Boolean Algebra</a:t>
            </a:r>
          </a:p>
        </p:txBody>
      </p:sp>
      <p:sp>
        <p:nvSpPr>
          <p:cNvPr id="20" name="TextBox 19"/>
          <p:cNvSpPr txBox="1"/>
          <p:nvPr/>
        </p:nvSpPr>
        <p:spPr>
          <a:xfrm>
            <a:off x="7552944" y="3657600"/>
            <a:ext cx="1645920" cy="1463040"/>
          </a:xfrm>
          <a:prstGeom prst="rect">
            <a:avLst/>
          </a:prstGeom>
          <a:noFill/>
        </p:spPr>
        <p:txBody>
          <a:bodyPr wrap="square" lIns="0" tIns="0" rIns="0" bIns="0" anchor="t">
            <a:spAutoFit/>
          </a:bodyPr>
          <a:lstStyle/>
          <a:p>
            <a:pPr algn="l">
              <a:spcAft>
                <a:spcPts val="0"/>
              </a:spcAft>
            </a:pPr>
            <a:r>
              <a:rPr sz="1600" b="0" i="0">
                <a:solidFill>
                  <a:srgbClr val="222222"/>
                </a:solidFill>
                <a:latin typeface="Calibri"/>
              </a:rPr>
              <a:t>The math rules for 0 and 1</a:t>
            </a:r>
          </a:p>
        </p:txBody>
      </p:sp>
      <p:sp>
        <p:nvSpPr>
          <p:cNvPr id="21" name="Rounded Rectangle 20"/>
          <p:cNvSpPr/>
          <p:nvPr/>
        </p:nvSpPr>
        <p:spPr>
          <a:xfrm>
            <a:off x="9582912" y="1508760"/>
            <a:ext cx="2057400" cy="3749039"/>
          </a:xfrm>
          <a:prstGeom prst="roundRect">
            <a:avLst>
              <a:gd name="adj" fmla="val 6000"/>
            </a:avLst>
          </a:prstGeom>
          <a:solidFill>
            <a:srgbClr val="F8E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9811512" y="1783080"/>
            <a:ext cx="731520" cy="731520"/>
          </a:xfrm>
          <a:prstGeom prst="ellipse">
            <a:avLst/>
          </a:prstGeom>
          <a:solidFill>
            <a:srgbClr val="8E1B2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600" b="1">
                <a:solidFill>
                  <a:srgbClr val="FFFFFF"/>
                </a:solidFill>
                <a:latin typeface="Calibri"/>
              </a:rPr>
              <a:t>5</a:t>
            </a:r>
          </a:p>
        </p:txBody>
      </p:sp>
      <p:sp>
        <p:nvSpPr>
          <p:cNvPr id="23" name="TextBox 22"/>
          <p:cNvSpPr txBox="1"/>
          <p:nvPr/>
        </p:nvSpPr>
        <p:spPr>
          <a:xfrm>
            <a:off x="9811512" y="2743200"/>
            <a:ext cx="1645920" cy="868680"/>
          </a:xfrm>
          <a:prstGeom prst="rect">
            <a:avLst/>
          </a:prstGeom>
          <a:noFill/>
        </p:spPr>
        <p:txBody>
          <a:bodyPr wrap="square" lIns="0" tIns="0" rIns="0" bIns="0" anchor="t">
            <a:spAutoFit/>
          </a:bodyPr>
          <a:lstStyle/>
          <a:p>
            <a:pPr algn="l">
              <a:spcAft>
                <a:spcPts val="0"/>
              </a:spcAft>
            </a:pPr>
            <a:r>
              <a:rPr sz="2100" b="1" i="0">
                <a:solidFill>
                  <a:srgbClr val="8E1B22"/>
                </a:solidFill>
                <a:latin typeface="Calibri"/>
              </a:rPr>
              <a:t>Simplification</a:t>
            </a:r>
          </a:p>
        </p:txBody>
      </p:sp>
      <p:sp>
        <p:nvSpPr>
          <p:cNvPr id="24" name="TextBox 23"/>
          <p:cNvSpPr txBox="1"/>
          <p:nvPr/>
        </p:nvSpPr>
        <p:spPr>
          <a:xfrm>
            <a:off x="9811512" y="3657600"/>
            <a:ext cx="1645920" cy="1463040"/>
          </a:xfrm>
          <a:prstGeom prst="rect">
            <a:avLst/>
          </a:prstGeom>
          <a:noFill/>
        </p:spPr>
        <p:txBody>
          <a:bodyPr wrap="square" lIns="0" tIns="0" rIns="0" bIns="0" anchor="t">
            <a:spAutoFit/>
          </a:bodyPr>
          <a:lstStyle/>
          <a:p>
            <a:pPr algn="l">
              <a:spcAft>
                <a:spcPts val="0"/>
              </a:spcAft>
            </a:pPr>
            <a:r>
              <a:rPr sz="1600" b="0" i="0">
                <a:solidFill>
                  <a:srgbClr val="222222"/>
                </a:solidFill>
                <a:latin typeface="Calibri"/>
              </a:rPr>
              <a:t>Making circuits smaller and cheaper</a:t>
            </a:r>
          </a:p>
        </p:txBody>
      </p:sp>
      <p:sp>
        <p:nvSpPr>
          <p:cNvPr id="25" name="TextBox 24"/>
          <p:cNvSpPr txBox="1"/>
          <p:nvPr/>
        </p:nvSpPr>
        <p:spPr>
          <a:xfrm>
            <a:off x="548640" y="5577840"/>
            <a:ext cx="11091672" cy="457200"/>
          </a:xfrm>
          <a:prstGeom prst="rect">
            <a:avLst/>
          </a:prstGeom>
          <a:noFill/>
        </p:spPr>
        <p:txBody>
          <a:bodyPr wrap="square" lIns="0" tIns="0" rIns="0" bIns="0" anchor="t">
            <a:spAutoFit/>
          </a:bodyPr>
          <a:lstStyle/>
          <a:p>
            <a:pPr algn="ctr">
              <a:spcAft>
                <a:spcPts val="0"/>
              </a:spcAft>
            </a:pPr>
            <a:r>
              <a:rPr sz="1800" b="0" i="0">
                <a:solidFill>
                  <a:srgbClr val="6B6B6B"/>
                </a:solidFill>
                <a:latin typeface="Calibri"/>
              </a:rPr>
              <a:t>Each topic builds on the one before it.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548640" y="429768"/>
            <a:ext cx="566928" cy="566928"/>
          </a:xfrm>
          <a:prstGeom prst="ellipse">
            <a:avLst/>
          </a:prstGeom>
          <a:solidFill>
            <a:srgbClr val="8E1B2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Calibri"/>
              </a:rPr>
              <a:t>1</a:t>
            </a:r>
          </a:p>
        </p:txBody>
      </p:sp>
      <p:sp>
        <p:nvSpPr>
          <p:cNvPr id="3" name="TextBox 2"/>
          <p:cNvSpPr txBox="1"/>
          <p:nvPr/>
        </p:nvSpPr>
        <p:spPr>
          <a:xfrm>
            <a:off x="7068312" y="182880"/>
            <a:ext cx="4572000" cy="274320"/>
          </a:xfrm>
          <a:prstGeom prst="rect">
            <a:avLst/>
          </a:prstGeom>
          <a:noFill/>
        </p:spPr>
        <p:txBody>
          <a:bodyPr wrap="square" lIns="0" tIns="0" rIns="0" bIns="0" anchor="t">
            <a:spAutoFit/>
          </a:bodyPr>
          <a:lstStyle/>
          <a:p>
            <a:pPr algn="r">
              <a:spcAft>
                <a:spcPts val="0"/>
              </a:spcAft>
            </a:pPr>
            <a:r>
              <a:rPr sz="1200" b="0" i="0">
                <a:solidFill>
                  <a:srgbClr val="6B6B6B"/>
                </a:solidFill>
                <a:latin typeface="Calibri"/>
              </a:rPr>
              <a:t>Topic 1 of 5  ·  Switching Circuits</a:t>
            </a:r>
          </a:p>
        </p:txBody>
      </p:sp>
      <p:sp>
        <p:nvSpPr>
          <p:cNvPr id="4" name="TextBox 3"/>
          <p:cNvSpPr txBox="1"/>
          <p:nvPr/>
        </p:nvSpPr>
        <p:spPr>
          <a:xfrm>
            <a:off x="1298448" y="365760"/>
            <a:ext cx="10341864" cy="713232"/>
          </a:xfrm>
          <a:prstGeom prst="rect">
            <a:avLst/>
          </a:prstGeom>
          <a:noFill/>
        </p:spPr>
        <p:txBody>
          <a:bodyPr wrap="square" lIns="0" tIns="0" rIns="0" bIns="0" anchor="ctr">
            <a:spAutoFit/>
          </a:bodyPr>
          <a:lstStyle/>
          <a:p>
            <a:pPr algn="l">
              <a:spcAft>
                <a:spcPts val="0"/>
              </a:spcAft>
            </a:pPr>
            <a:r>
              <a:rPr sz="3400" b="1" i="0">
                <a:solidFill>
                  <a:srgbClr val="1B3A6B"/>
                </a:solidFill>
                <a:latin typeface="Calibri"/>
              </a:rPr>
              <a:t>A Switch Is a Bit</a:t>
            </a:r>
          </a:p>
        </p:txBody>
      </p:sp>
      <p:sp>
        <p:nvSpPr>
          <p:cNvPr id="5" name="TextBox 4"/>
          <p:cNvSpPr txBox="1"/>
          <p:nvPr/>
        </p:nvSpPr>
        <p:spPr>
          <a:xfrm>
            <a:off x="548640" y="6428232"/>
            <a:ext cx="5486400" cy="274320"/>
          </a:xfrm>
          <a:prstGeom prst="rect">
            <a:avLst/>
          </a:prstGeom>
          <a:noFill/>
        </p:spPr>
        <p:txBody>
          <a:bodyPr wrap="square" lIns="0" tIns="0" rIns="0" bIns="0" anchor="t">
            <a:spAutoFit/>
          </a:bodyPr>
          <a:lstStyle/>
          <a:p>
            <a:pPr algn="l">
              <a:spcAft>
                <a:spcPts val="0"/>
              </a:spcAft>
            </a:pPr>
            <a:r>
              <a:rPr sz="1100" b="0" i="0">
                <a:solidFill>
                  <a:srgbClr val="6B6B6B"/>
                </a:solidFill>
                <a:latin typeface="Calibri"/>
              </a:rPr>
              <a:t>CSE207  ·  Digital Logic Design  ·  Lecture 01</a:t>
            </a:r>
          </a:p>
        </p:txBody>
      </p:sp>
      <p:sp>
        <p:nvSpPr>
          <p:cNvPr id="6" name="TextBox 5"/>
          <p:cNvSpPr txBox="1"/>
          <p:nvPr/>
        </p:nvSpPr>
        <p:spPr>
          <a:xfrm>
            <a:off x="10725912" y="6428232"/>
            <a:ext cx="914400" cy="274320"/>
          </a:xfrm>
          <a:prstGeom prst="rect">
            <a:avLst/>
          </a:prstGeom>
          <a:noFill/>
        </p:spPr>
        <p:txBody>
          <a:bodyPr wrap="square" lIns="0" tIns="0" rIns="0" bIns="0" anchor="t">
            <a:spAutoFit/>
          </a:bodyPr>
          <a:lstStyle/>
          <a:p>
            <a:pPr algn="r">
              <a:spcAft>
                <a:spcPts val="0"/>
              </a:spcAft>
            </a:pPr>
            <a:r>
              <a:rPr sz="1100" b="0" i="0">
                <a:solidFill>
                  <a:srgbClr val="6B6B6B"/>
                </a:solidFill>
                <a:latin typeface="Calibri"/>
              </a:rPr>
              <a:t>4</a:t>
            </a:r>
          </a:p>
        </p:txBody>
      </p:sp>
      <p:sp>
        <p:nvSpPr>
          <p:cNvPr id="7" name="TextBox 6"/>
          <p:cNvSpPr txBox="1"/>
          <p:nvPr/>
        </p:nvSpPr>
        <p:spPr>
          <a:xfrm>
            <a:off x="548640" y="1280160"/>
            <a:ext cx="11091672" cy="457200"/>
          </a:xfrm>
          <a:prstGeom prst="rect">
            <a:avLst/>
          </a:prstGeom>
          <a:noFill/>
        </p:spPr>
        <p:txBody>
          <a:bodyPr wrap="square" lIns="0" tIns="0" rIns="0" bIns="0" anchor="t">
            <a:spAutoFit/>
          </a:bodyPr>
          <a:lstStyle/>
          <a:p>
            <a:pPr algn="l">
              <a:spcAft>
                <a:spcPts val="0"/>
              </a:spcAft>
            </a:pPr>
            <a:r>
              <a:rPr sz="1900" b="0" i="0">
                <a:solidFill>
                  <a:srgbClr val="222222"/>
                </a:solidFill>
                <a:latin typeface="Calibri"/>
              </a:rPr>
              <a:t>The simplest digital circuit is a battery, a switch and a lamp.</a:t>
            </a:r>
          </a:p>
        </p:txBody>
      </p:sp>
      <p:sp>
        <p:nvSpPr>
          <p:cNvPr id="8" name="Rounded Rectangle 7"/>
          <p:cNvSpPr/>
          <p:nvPr/>
        </p:nvSpPr>
        <p:spPr>
          <a:xfrm>
            <a:off x="548640" y="1874519"/>
            <a:ext cx="5440680" cy="3291840"/>
          </a:xfrm>
          <a:prstGeom prst="roundRect">
            <a:avLst>
              <a:gd name="adj" fmla="val 6000"/>
            </a:avLst>
          </a:prstGeom>
          <a:solidFill>
            <a:srgbClr val="F8E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witch_off.png"/>
          <p:cNvPicPr>
            <a:picLocks noChangeAspect="1"/>
          </p:cNvPicPr>
          <p:nvPr/>
        </p:nvPicPr>
        <p:blipFill>
          <a:blip r:embed="rId3"/>
          <a:stretch>
            <a:fillRect/>
          </a:stretch>
        </p:blipFill>
        <p:spPr>
          <a:xfrm>
            <a:off x="1838524" y="2057400"/>
            <a:ext cx="2860910" cy="2103120"/>
          </a:xfrm>
          <a:prstGeom prst="rect">
            <a:avLst/>
          </a:prstGeom>
        </p:spPr>
      </p:pic>
      <p:sp>
        <p:nvSpPr>
          <p:cNvPr id="10" name="TextBox 9"/>
          <p:cNvSpPr txBox="1"/>
          <p:nvPr/>
        </p:nvSpPr>
        <p:spPr>
          <a:xfrm>
            <a:off x="548640" y="4297680"/>
            <a:ext cx="5440680" cy="777240"/>
          </a:xfrm>
          <a:prstGeom prst="rect">
            <a:avLst/>
          </a:prstGeom>
          <a:noFill/>
        </p:spPr>
        <p:txBody>
          <a:bodyPr wrap="square" lIns="0" tIns="0" rIns="0" bIns="0" anchor="t">
            <a:spAutoFit/>
          </a:bodyPr>
          <a:lstStyle/>
          <a:p>
            <a:pPr algn="ctr">
              <a:spcAft>
                <a:spcPts val="0"/>
              </a:spcAft>
            </a:pPr>
            <a:r>
              <a:rPr sz="2400" b="1" i="0">
                <a:solidFill>
                  <a:srgbClr val="8E1B22"/>
                </a:solidFill>
                <a:latin typeface="Calibri"/>
              </a:rPr>
              <a:t>Switch OPEN  →  0</a:t>
            </a:r>
          </a:p>
          <a:p>
            <a:pPr algn="ctr">
              <a:spcAft>
                <a:spcPts val="0"/>
              </a:spcAft>
            </a:pPr>
            <a:r>
              <a:rPr sz="1500" b="0" i="0">
                <a:solidFill>
                  <a:srgbClr val="6B6B6B"/>
                </a:solidFill>
                <a:latin typeface="Calibri"/>
              </a:rPr>
              <a:t>No current flows  ·  Lamp OFF</a:t>
            </a:r>
          </a:p>
        </p:txBody>
      </p:sp>
      <p:sp>
        <p:nvSpPr>
          <p:cNvPr id="11" name="Rounded Rectangle 10"/>
          <p:cNvSpPr/>
          <p:nvPr/>
        </p:nvSpPr>
        <p:spPr>
          <a:xfrm>
            <a:off x="6199631" y="1874519"/>
            <a:ext cx="5440680" cy="3291840"/>
          </a:xfrm>
          <a:prstGeom prst="roundRect">
            <a:avLst>
              <a:gd name="adj" fmla="val 6000"/>
            </a:avLst>
          </a:prstGeom>
          <a:solidFill>
            <a:srgbClr val="ED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switch_on.png"/>
          <p:cNvPicPr>
            <a:picLocks noChangeAspect="1"/>
          </p:cNvPicPr>
          <p:nvPr/>
        </p:nvPicPr>
        <p:blipFill>
          <a:blip r:embed="rId4"/>
          <a:stretch>
            <a:fillRect/>
          </a:stretch>
        </p:blipFill>
        <p:spPr>
          <a:xfrm>
            <a:off x="7489516" y="2057400"/>
            <a:ext cx="2860910" cy="2103120"/>
          </a:xfrm>
          <a:prstGeom prst="rect">
            <a:avLst/>
          </a:prstGeom>
        </p:spPr>
      </p:pic>
      <p:sp>
        <p:nvSpPr>
          <p:cNvPr id="13" name="TextBox 12"/>
          <p:cNvSpPr txBox="1"/>
          <p:nvPr/>
        </p:nvSpPr>
        <p:spPr>
          <a:xfrm>
            <a:off x="6199631" y="4297680"/>
            <a:ext cx="5440680" cy="777240"/>
          </a:xfrm>
          <a:prstGeom prst="rect">
            <a:avLst/>
          </a:prstGeom>
          <a:noFill/>
        </p:spPr>
        <p:txBody>
          <a:bodyPr wrap="square" lIns="0" tIns="0" rIns="0" bIns="0" anchor="t">
            <a:spAutoFit/>
          </a:bodyPr>
          <a:lstStyle/>
          <a:p>
            <a:pPr algn="ctr">
              <a:spcAft>
                <a:spcPts val="0"/>
              </a:spcAft>
            </a:pPr>
            <a:r>
              <a:rPr sz="2400" b="1" i="0">
                <a:solidFill>
                  <a:srgbClr val="1B3A6B"/>
                </a:solidFill>
                <a:latin typeface="Calibri"/>
              </a:rPr>
              <a:t>Switch CLOSED  →  1</a:t>
            </a:r>
          </a:p>
          <a:p>
            <a:pPr algn="ctr">
              <a:spcAft>
                <a:spcPts val="0"/>
              </a:spcAft>
            </a:pPr>
            <a:r>
              <a:rPr sz="1500" b="0" i="0">
                <a:solidFill>
                  <a:srgbClr val="6B6B6B"/>
                </a:solidFill>
                <a:latin typeface="Calibri"/>
              </a:rPr>
              <a:t>Current flows  ·  Lamp ON</a:t>
            </a:r>
          </a:p>
        </p:txBody>
      </p:sp>
      <p:sp>
        <p:nvSpPr>
          <p:cNvPr id="14" name="Rounded Rectangle 13"/>
          <p:cNvSpPr/>
          <p:nvPr/>
        </p:nvSpPr>
        <p:spPr>
          <a:xfrm>
            <a:off x="548640" y="5394960"/>
            <a:ext cx="11091672" cy="822960"/>
          </a:xfrm>
          <a:prstGeom prst="roundRect">
            <a:avLst>
              <a:gd name="adj" fmla="val 600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960" y="5394960"/>
            <a:ext cx="10607040" cy="822960"/>
          </a:xfrm>
          <a:prstGeom prst="rect">
            <a:avLst/>
          </a:prstGeom>
          <a:noFill/>
        </p:spPr>
        <p:txBody>
          <a:bodyPr wrap="square" lIns="0" tIns="0" rIns="0" bIns="0" anchor="ctr">
            <a:spAutoFit/>
          </a:bodyPr>
          <a:lstStyle/>
          <a:p>
            <a:pPr algn="l">
              <a:spcAft>
                <a:spcPts val="0"/>
              </a:spcAft>
            </a:pPr>
            <a:r>
              <a:rPr sz="1900" b="0" i="0">
                <a:solidFill>
                  <a:srgbClr val="FFFFFF"/>
                </a:solidFill>
                <a:latin typeface="Calibri"/>
              </a:rPr>
              <a:t>Inside every chip are billions of tiny switches called </a:t>
            </a:r>
            <a:r>
              <a:rPr sz="1900" b="1" i="0">
                <a:solidFill>
                  <a:srgbClr val="FFFFFF"/>
                </a:solidFill>
                <a:latin typeface="Calibri"/>
              </a:rPr>
              <a:t>transistors</a:t>
            </a:r>
            <a:r>
              <a:rPr sz="1900" b="0" i="0">
                <a:solidFill>
                  <a:srgbClr val="FFFFFF"/>
                </a:solidFill>
                <a:latin typeface="Calibri"/>
              </a:rPr>
              <a:t>, each one ON (1) or OFF (0).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548640" y="429768"/>
            <a:ext cx="566928" cy="566928"/>
          </a:xfrm>
          <a:prstGeom prst="ellipse">
            <a:avLst/>
          </a:prstGeom>
          <a:solidFill>
            <a:srgbClr val="8E1B2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Calibri"/>
              </a:rPr>
              <a:t>1</a:t>
            </a:r>
          </a:p>
        </p:txBody>
      </p:sp>
      <p:sp>
        <p:nvSpPr>
          <p:cNvPr id="3" name="TextBox 2"/>
          <p:cNvSpPr txBox="1"/>
          <p:nvPr/>
        </p:nvSpPr>
        <p:spPr>
          <a:xfrm>
            <a:off x="7068312" y="182880"/>
            <a:ext cx="4572000" cy="274320"/>
          </a:xfrm>
          <a:prstGeom prst="rect">
            <a:avLst/>
          </a:prstGeom>
          <a:noFill/>
        </p:spPr>
        <p:txBody>
          <a:bodyPr wrap="square" lIns="0" tIns="0" rIns="0" bIns="0" anchor="t">
            <a:spAutoFit/>
          </a:bodyPr>
          <a:lstStyle/>
          <a:p>
            <a:pPr algn="r">
              <a:spcAft>
                <a:spcPts val="0"/>
              </a:spcAft>
            </a:pPr>
            <a:r>
              <a:rPr sz="1200" b="0" i="0">
                <a:solidFill>
                  <a:srgbClr val="6B6B6B"/>
                </a:solidFill>
                <a:latin typeface="Calibri"/>
              </a:rPr>
              <a:t>Topic 1 of 5  ·  Switching Circuits</a:t>
            </a:r>
          </a:p>
        </p:txBody>
      </p:sp>
      <p:sp>
        <p:nvSpPr>
          <p:cNvPr id="4" name="TextBox 3"/>
          <p:cNvSpPr txBox="1"/>
          <p:nvPr/>
        </p:nvSpPr>
        <p:spPr>
          <a:xfrm>
            <a:off x="1298448" y="365760"/>
            <a:ext cx="10341864" cy="713232"/>
          </a:xfrm>
          <a:prstGeom prst="rect">
            <a:avLst/>
          </a:prstGeom>
          <a:noFill/>
        </p:spPr>
        <p:txBody>
          <a:bodyPr wrap="square" lIns="0" tIns="0" rIns="0" bIns="0" anchor="ctr">
            <a:spAutoFit/>
          </a:bodyPr>
          <a:lstStyle/>
          <a:p>
            <a:pPr algn="l">
              <a:spcAft>
                <a:spcPts val="0"/>
              </a:spcAft>
            </a:pPr>
            <a:r>
              <a:rPr sz="3400" b="1" i="0">
                <a:solidFill>
                  <a:srgbClr val="1B3A6B"/>
                </a:solidFill>
                <a:latin typeface="Calibri"/>
              </a:rPr>
              <a:t>Series = AND,  Parallel = OR</a:t>
            </a:r>
          </a:p>
        </p:txBody>
      </p:sp>
      <p:sp>
        <p:nvSpPr>
          <p:cNvPr id="5" name="TextBox 4"/>
          <p:cNvSpPr txBox="1"/>
          <p:nvPr/>
        </p:nvSpPr>
        <p:spPr>
          <a:xfrm>
            <a:off x="548640" y="6428232"/>
            <a:ext cx="5486400" cy="274320"/>
          </a:xfrm>
          <a:prstGeom prst="rect">
            <a:avLst/>
          </a:prstGeom>
          <a:noFill/>
        </p:spPr>
        <p:txBody>
          <a:bodyPr wrap="square" lIns="0" tIns="0" rIns="0" bIns="0" anchor="t">
            <a:spAutoFit/>
          </a:bodyPr>
          <a:lstStyle/>
          <a:p>
            <a:pPr algn="l">
              <a:spcAft>
                <a:spcPts val="0"/>
              </a:spcAft>
            </a:pPr>
            <a:r>
              <a:rPr sz="1100" b="0" i="0">
                <a:solidFill>
                  <a:srgbClr val="6B6B6B"/>
                </a:solidFill>
                <a:latin typeface="Calibri"/>
              </a:rPr>
              <a:t>CSE207  ·  Digital Logic Design  ·  Lecture 01</a:t>
            </a:r>
          </a:p>
        </p:txBody>
      </p:sp>
      <p:sp>
        <p:nvSpPr>
          <p:cNvPr id="6" name="TextBox 5"/>
          <p:cNvSpPr txBox="1"/>
          <p:nvPr/>
        </p:nvSpPr>
        <p:spPr>
          <a:xfrm>
            <a:off x="10725912" y="6428232"/>
            <a:ext cx="914400" cy="274320"/>
          </a:xfrm>
          <a:prstGeom prst="rect">
            <a:avLst/>
          </a:prstGeom>
          <a:noFill/>
        </p:spPr>
        <p:txBody>
          <a:bodyPr wrap="square" lIns="0" tIns="0" rIns="0" bIns="0" anchor="t">
            <a:spAutoFit/>
          </a:bodyPr>
          <a:lstStyle/>
          <a:p>
            <a:pPr algn="r">
              <a:spcAft>
                <a:spcPts val="0"/>
              </a:spcAft>
            </a:pPr>
            <a:r>
              <a:rPr sz="1100" b="0" i="0">
                <a:solidFill>
                  <a:srgbClr val="6B6B6B"/>
                </a:solidFill>
                <a:latin typeface="Calibri"/>
              </a:rPr>
              <a:t>5</a:t>
            </a:r>
          </a:p>
        </p:txBody>
      </p:sp>
      <p:sp>
        <p:nvSpPr>
          <p:cNvPr id="7" name="Rounded Rectangle 6"/>
          <p:cNvSpPr/>
          <p:nvPr/>
        </p:nvSpPr>
        <p:spPr>
          <a:xfrm>
            <a:off x="548640" y="1325880"/>
            <a:ext cx="5440680" cy="4892040"/>
          </a:xfrm>
          <a:prstGeom prst="roundRect">
            <a:avLst>
              <a:gd name="adj" fmla="val 6000"/>
            </a:avLst>
          </a:prstGeom>
          <a:solidFill>
            <a:srgbClr val="F8E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59" y="1481328"/>
            <a:ext cx="4892040" cy="457200"/>
          </a:xfrm>
          <a:prstGeom prst="rect">
            <a:avLst/>
          </a:prstGeom>
          <a:noFill/>
        </p:spPr>
        <p:txBody>
          <a:bodyPr wrap="square" lIns="0" tIns="0" rIns="0" bIns="0" anchor="t">
            <a:spAutoFit/>
          </a:bodyPr>
          <a:lstStyle/>
          <a:p>
            <a:pPr algn="l">
              <a:spcAft>
                <a:spcPts val="0"/>
              </a:spcAft>
            </a:pPr>
            <a:r>
              <a:rPr sz="2200" b="1" i="0">
                <a:solidFill>
                  <a:srgbClr val="8E1B22"/>
                </a:solidFill>
                <a:latin typeface="Calibri"/>
              </a:rPr>
              <a:t>Series connection</a:t>
            </a:r>
          </a:p>
        </p:txBody>
      </p:sp>
      <p:pic>
        <p:nvPicPr>
          <p:cNvPr id="9" name="Picture 8" descr="series.png"/>
          <p:cNvPicPr>
            <a:picLocks noChangeAspect="1"/>
          </p:cNvPicPr>
          <p:nvPr/>
        </p:nvPicPr>
        <p:blipFill>
          <a:blip r:embed="rId3"/>
          <a:stretch>
            <a:fillRect/>
          </a:stretch>
        </p:blipFill>
        <p:spPr>
          <a:xfrm>
            <a:off x="1393444" y="2011680"/>
            <a:ext cx="3751072" cy="2377440"/>
          </a:xfrm>
          <a:prstGeom prst="rect">
            <a:avLst/>
          </a:prstGeom>
        </p:spPr>
      </p:pic>
      <p:sp>
        <p:nvSpPr>
          <p:cNvPr id="10" name="TextBox 9"/>
          <p:cNvSpPr txBox="1"/>
          <p:nvPr/>
        </p:nvSpPr>
        <p:spPr>
          <a:xfrm>
            <a:off x="822959" y="4572000"/>
            <a:ext cx="4892040" cy="457200"/>
          </a:xfrm>
          <a:prstGeom prst="rect">
            <a:avLst/>
          </a:prstGeom>
          <a:noFill/>
        </p:spPr>
        <p:txBody>
          <a:bodyPr wrap="square" lIns="0" tIns="0" rIns="0" bIns="0" anchor="t">
            <a:spAutoFit/>
          </a:bodyPr>
          <a:lstStyle/>
          <a:p>
            <a:pPr algn="ctr">
              <a:spcAft>
                <a:spcPts val="0"/>
              </a:spcAft>
            </a:pPr>
            <a:r>
              <a:rPr sz="1800" b="0" i="0">
                <a:solidFill>
                  <a:srgbClr val="222222"/>
                </a:solidFill>
                <a:latin typeface="Calibri"/>
              </a:rPr>
              <a:t>Lamp is ON only if </a:t>
            </a:r>
            <a:r>
              <a:rPr sz="1800" b="1" i="0">
                <a:solidFill>
                  <a:srgbClr val="8E1B22"/>
                </a:solidFill>
                <a:latin typeface="Calibri"/>
              </a:rPr>
              <a:t>A AND B</a:t>
            </a:r>
            <a:r>
              <a:rPr sz="1800" b="0" i="0">
                <a:solidFill>
                  <a:srgbClr val="222222"/>
                </a:solidFill>
                <a:latin typeface="Calibri"/>
              </a:rPr>
              <a:t> are both closed</a:t>
            </a:r>
          </a:p>
        </p:txBody>
      </p:sp>
      <p:sp>
        <p:nvSpPr>
          <p:cNvPr id="11" name="Rounded Rectangle 10"/>
          <p:cNvSpPr/>
          <p:nvPr/>
        </p:nvSpPr>
        <p:spPr>
          <a:xfrm>
            <a:off x="2121408" y="5212080"/>
            <a:ext cx="2286000" cy="6858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121408" y="5212080"/>
            <a:ext cx="2286000" cy="685800"/>
          </a:xfrm>
          <a:prstGeom prst="rect">
            <a:avLst/>
          </a:prstGeom>
          <a:noFill/>
        </p:spPr>
        <p:txBody>
          <a:bodyPr wrap="square" lIns="0" tIns="0" rIns="0" bIns="0" anchor="ctr">
            <a:spAutoFit/>
          </a:bodyPr>
          <a:lstStyle/>
          <a:p>
            <a:pPr algn="ctr">
              <a:spcAft>
                <a:spcPts val="0"/>
              </a:spcAft>
            </a:pPr>
            <a:r>
              <a:rPr sz="2400" b="1" i="0">
                <a:solidFill>
                  <a:srgbClr val="8E1B22"/>
                </a:solidFill>
                <a:latin typeface="Calibri"/>
              </a:rPr>
              <a:t>Y = A · B</a:t>
            </a:r>
          </a:p>
        </p:txBody>
      </p:sp>
      <p:sp>
        <p:nvSpPr>
          <p:cNvPr id="13" name="Rounded Rectangle 12"/>
          <p:cNvSpPr/>
          <p:nvPr/>
        </p:nvSpPr>
        <p:spPr>
          <a:xfrm>
            <a:off x="6199631" y="1325880"/>
            <a:ext cx="5440680" cy="4892040"/>
          </a:xfrm>
          <a:prstGeom prst="roundRect">
            <a:avLst>
              <a:gd name="adj" fmla="val 6000"/>
            </a:avLst>
          </a:prstGeom>
          <a:solidFill>
            <a:srgbClr val="ED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73951" y="1481328"/>
            <a:ext cx="4892040" cy="457200"/>
          </a:xfrm>
          <a:prstGeom prst="rect">
            <a:avLst/>
          </a:prstGeom>
          <a:noFill/>
        </p:spPr>
        <p:txBody>
          <a:bodyPr wrap="square" lIns="0" tIns="0" rIns="0" bIns="0" anchor="t">
            <a:spAutoFit/>
          </a:bodyPr>
          <a:lstStyle/>
          <a:p>
            <a:pPr algn="l">
              <a:spcAft>
                <a:spcPts val="0"/>
              </a:spcAft>
            </a:pPr>
            <a:r>
              <a:rPr sz="2200" b="1" i="0">
                <a:solidFill>
                  <a:srgbClr val="1B3A6B"/>
                </a:solidFill>
                <a:latin typeface="Calibri"/>
              </a:rPr>
              <a:t>Parallel connection</a:t>
            </a:r>
          </a:p>
        </p:txBody>
      </p:sp>
      <p:pic>
        <p:nvPicPr>
          <p:cNvPr id="15" name="Picture 14" descr="parallel.png"/>
          <p:cNvPicPr>
            <a:picLocks noChangeAspect="1"/>
          </p:cNvPicPr>
          <p:nvPr/>
        </p:nvPicPr>
        <p:blipFill>
          <a:blip r:embed="rId4"/>
          <a:stretch>
            <a:fillRect/>
          </a:stretch>
        </p:blipFill>
        <p:spPr>
          <a:xfrm>
            <a:off x="7420507" y="2011680"/>
            <a:ext cx="2998928" cy="2377440"/>
          </a:xfrm>
          <a:prstGeom prst="rect">
            <a:avLst/>
          </a:prstGeom>
        </p:spPr>
      </p:pic>
      <p:sp>
        <p:nvSpPr>
          <p:cNvPr id="16" name="TextBox 15"/>
          <p:cNvSpPr txBox="1"/>
          <p:nvPr/>
        </p:nvSpPr>
        <p:spPr>
          <a:xfrm>
            <a:off x="6473951" y="4572000"/>
            <a:ext cx="4892040" cy="457200"/>
          </a:xfrm>
          <a:prstGeom prst="rect">
            <a:avLst/>
          </a:prstGeom>
          <a:noFill/>
        </p:spPr>
        <p:txBody>
          <a:bodyPr wrap="square" lIns="0" tIns="0" rIns="0" bIns="0" anchor="t">
            <a:spAutoFit/>
          </a:bodyPr>
          <a:lstStyle/>
          <a:p>
            <a:pPr algn="ctr">
              <a:spcAft>
                <a:spcPts val="0"/>
              </a:spcAft>
            </a:pPr>
            <a:r>
              <a:rPr sz="1800" b="0" i="0">
                <a:solidFill>
                  <a:srgbClr val="222222"/>
                </a:solidFill>
                <a:latin typeface="Calibri"/>
              </a:rPr>
              <a:t>Lamp is ON if </a:t>
            </a:r>
            <a:r>
              <a:rPr sz="1800" b="1" i="0">
                <a:solidFill>
                  <a:srgbClr val="1B3A6B"/>
                </a:solidFill>
                <a:latin typeface="Calibri"/>
              </a:rPr>
              <a:t>A OR B</a:t>
            </a:r>
            <a:r>
              <a:rPr sz="1800" b="0" i="0">
                <a:solidFill>
                  <a:srgbClr val="222222"/>
                </a:solidFill>
                <a:latin typeface="Calibri"/>
              </a:rPr>
              <a:t> (or both) is closed</a:t>
            </a:r>
          </a:p>
        </p:txBody>
      </p:sp>
      <p:sp>
        <p:nvSpPr>
          <p:cNvPr id="17" name="Rounded Rectangle 16"/>
          <p:cNvSpPr/>
          <p:nvPr/>
        </p:nvSpPr>
        <p:spPr>
          <a:xfrm>
            <a:off x="7772400" y="5212080"/>
            <a:ext cx="2286000" cy="6858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0" y="5212080"/>
            <a:ext cx="2286000" cy="685800"/>
          </a:xfrm>
          <a:prstGeom prst="rect">
            <a:avLst/>
          </a:prstGeom>
          <a:noFill/>
        </p:spPr>
        <p:txBody>
          <a:bodyPr wrap="square" lIns="0" tIns="0" rIns="0" bIns="0" anchor="ctr">
            <a:spAutoFit/>
          </a:bodyPr>
          <a:lstStyle/>
          <a:p>
            <a:pPr algn="ctr">
              <a:spcAft>
                <a:spcPts val="0"/>
              </a:spcAft>
            </a:pPr>
            <a:r>
              <a:rPr sz="2400" b="1" i="0">
                <a:solidFill>
                  <a:srgbClr val="1B3A6B"/>
                </a:solidFill>
                <a:latin typeface="Calibri"/>
              </a:rPr>
              <a:t>Y = A + B</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548640" y="429768"/>
            <a:ext cx="566928" cy="566928"/>
          </a:xfrm>
          <a:prstGeom prst="ellipse">
            <a:avLst/>
          </a:prstGeom>
          <a:solidFill>
            <a:srgbClr val="8E1B2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Calibri"/>
              </a:rPr>
              <a:t>2</a:t>
            </a:r>
          </a:p>
        </p:txBody>
      </p:sp>
      <p:sp>
        <p:nvSpPr>
          <p:cNvPr id="3" name="TextBox 2"/>
          <p:cNvSpPr txBox="1"/>
          <p:nvPr/>
        </p:nvSpPr>
        <p:spPr>
          <a:xfrm>
            <a:off x="7068312" y="182880"/>
            <a:ext cx="4572000" cy="274320"/>
          </a:xfrm>
          <a:prstGeom prst="rect">
            <a:avLst/>
          </a:prstGeom>
          <a:noFill/>
        </p:spPr>
        <p:txBody>
          <a:bodyPr wrap="square" lIns="0" tIns="0" rIns="0" bIns="0" anchor="t">
            <a:spAutoFit/>
          </a:bodyPr>
          <a:lstStyle/>
          <a:p>
            <a:pPr algn="r">
              <a:spcAft>
                <a:spcPts val="0"/>
              </a:spcAft>
            </a:pPr>
            <a:r>
              <a:rPr sz="1200" b="0" i="0">
                <a:solidFill>
                  <a:srgbClr val="6B6B6B"/>
                </a:solidFill>
                <a:latin typeface="Calibri"/>
              </a:rPr>
              <a:t>Topic 2 of 5  ·  Truth Tables</a:t>
            </a:r>
          </a:p>
        </p:txBody>
      </p:sp>
      <p:sp>
        <p:nvSpPr>
          <p:cNvPr id="4" name="TextBox 3"/>
          <p:cNvSpPr txBox="1"/>
          <p:nvPr/>
        </p:nvSpPr>
        <p:spPr>
          <a:xfrm>
            <a:off x="1298448" y="365760"/>
            <a:ext cx="10341864" cy="713232"/>
          </a:xfrm>
          <a:prstGeom prst="rect">
            <a:avLst/>
          </a:prstGeom>
          <a:noFill/>
        </p:spPr>
        <p:txBody>
          <a:bodyPr wrap="square" lIns="0" tIns="0" rIns="0" bIns="0" anchor="ctr">
            <a:spAutoFit/>
          </a:bodyPr>
          <a:lstStyle/>
          <a:p>
            <a:pPr algn="l">
              <a:spcAft>
                <a:spcPts val="0"/>
              </a:spcAft>
            </a:pPr>
            <a:r>
              <a:rPr sz="3400" b="1" i="0">
                <a:solidFill>
                  <a:srgbClr val="1B3A6B"/>
                </a:solidFill>
                <a:latin typeface="Calibri"/>
              </a:rPr>
              <a:t>Truth Table: List Every Possible Case</a:t>
            </a:r>
          </a:p>
        </p:txBody>
      </p:sp>
      <p:sp>
        <p:nvSpPr>
          <p:cNvPr id="5" name="TextBox 4"/>
          <p:cNvSpPr txBox="1"/>
          <p:nvPr/>
        </p:nvSpPr>
        <p:spPr>
          <a:xfrm>
            <a:off x="548640" y="6428232"/>
            <a:ext cx="5486400" cy="274320"/>
          </a:xfrm>
          <a:prstGeom prst="rect">
            <a:avLst/>
          </a:prstGeom>
          <a:noFill/>
        </p:spPr>
        <p:txBody>
          <a:bodyPr wrap="square" lIns="0" tIns="0" rIns="0" bIns="0" anchor="t">
            <a:spAutoFit/>
          </a:bodyPr>
          <a:lstStyle/>
          <a:p>
            <a:pPr algn="l">
              <a:spcAft>
                <a:spcPts val="0"/>
              </a:spcAft>
            </a:pPr>
            <a:r>
              <a:rPr sz="1100" b="0" i="0">
                <a:solidFill>
                  <a:srgbClr val="6B6B6B"/>
                </a:solidFill>
                <a:latin typeface="Calibri"/>
              </a:rPr>
              <a:t>CSE207  ·  Digital Logic Design  ·  Lecture 01</a:t>
            </a:r>
          </a:p>
        </p:txBody>
      </p:sp>
      <p:sp>
        <p:nvSpPr>
          <p:cNvPr id="6" name="TextBox 5"/>
          <p:cNvSpPr txBox="1"/>
          <p:nvPr/>
        </p:nvSpPr>
        <p:spPr>
          <a:xfrm>
            <a:off x="10725912" y="6428232"/>
            <a:ext cx="914400" cy="274320"/>
          </a:xfrm>
          <a:prstGeom prst="rect">
            <a:avLst/>
          </a:prstGeom>
          <a:noFill/>
        </p:spPr>
        <p:txBody>
          <a:bodyPr wrap="square" lIns="0" tIns="0" rIns="0" bIns="0" anchor="t">
            <a:spAutoFit/>
          </a:bodyPr>
          <a:lstStyle/>
          <a:p>
            <a:pPr algn="r">
              <a:spcAft>
                <a:spcPts val="0"/>
              </a:spcAft>
            </a:pPr>
            <a:r>
              <a:rPr sz="1100" b="0" i="0">
                <a:solidFill>
                  <a:srgbClr val="6B6B6B"/>
                </a:solidFill>
                <a:latin typeface="Calibri"/>
              </a:rPr>
              <a:t>6</a:t>
            </a:r>
          </a:p>
        </p:txBody>
      </p:sp>
      <p:sp>
        <p:nvSpPr>
          <p:cNvPr id="7" name="TextBox 6"/>
          <p:cNvSpPr txBox="1"/>
          <p:nvPr/>
        </p:nvSpPr>
        <p:spPr>
          <a:xfrm>
            <a:off x="548640" y="1325880"/>
            <a:ext cx="5852160" cy="914400"/>
          </a:xfrm>
          <a:prstGeom prst="rect">
            <a:avLst/>
          </a:prstGeom>
          <a:noFill/>
        </p:spPr>
        <p:txBody>
          <a:bodyPr wrap="square" lIns="0" tIns="0" rIns="0" bIns="0" anchor="t">
            <a:spAutoFit/>
          </a:bodyPr>
          <a:lstStyle/>
          <a:p>
            <a:pPr algn="l">
              <a:spcAft>
                <a:spcPts val="0"/>
              </a:spcAft>
            </a:pPr>
            <a:r>
              <a:rPr sz="1900" b="0" i="0">
                <a:solidFill>
                  <a:srgbClr val="222222"/>
                </a:solidFill>
                <a:latin typeface="Calibri"/>
              </a:rPr>
              <a:t>A truth table shows the output for every combination of inputs. Nothing is left out.</a:t>
            </a:r>
          </a:p>
        </p:txBody>
      </p:sp>
      <p:sp>
        <p:nvSpPr>
          <p:cNvPr id="8" name="Rounded Rectangle 7"/>
          <p:cNvSpPr/>
          <p:nvPr/>
        </p:nvSpPr>
        <p:spPr>
          <a:xfrm>
            <a:off x="548640" y="2423160"/>
            <a:ext cx="1810512" cy="1783080"/>
          </a:xfrm>
          <a:prstGeom prst="roundRect">
            <a:avLst>
              <a:gd name="adj" fmla="val 6000"/>
            </a:avLst>
          </a:prstGeom>
          <a:solidFill>
            <a:srgbClr val="ED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2514600"/>
            <a:ext cx="1810512" cy="1645920"/>
          </a:xfrm>
          <a:prstGeom prst="rect">
            <a:avLst/>
          </a:prstGeom>
          <a:noFill/>
        </p:spPr>
        <p:txBody>
          <a:bodyPr wrap="square" lIns="0" tIns="0" rIns="0" bIns="0" anchor="t">
            <a:spAutoFit/>
          </a:bodyPr>
          <a:lstStyle/>
          <a:p>
            <a:pPr algn="ctr">
              <a:spcAft>
                <a:spcPts val="0"/>
              </a:spcAft>
            </a:pPr>
            <a:r>
              <a:rPr sz="5000" b="1" i="0">
                <a:solidFill>
                  <a:srgbClr val="8E1B22"/>
                </a:solidFill>
                <a:latin typeface="Calibri"/>
              </a:rPr>
              <a:t>2</a:t>
            </a:r>
          </a:p>
          <a:p>
            <a:pPr algn="ctr">
              <a:spcAft>
                <a:spcPts val="0"/>
              </a:spcAft>
            </a:pPr>
            <a:r>
              <a:rPr sz="1500" b="1" i="0">
                <a:solidFill>
                  <a:srgbClr val="1B3A6B"/>
                </a:solidFill>
                <a:latin typeface="Calibri"/>
              </a:rPr>
              <a:t>rows</a:t>
            </a:r>
          </a:p>
          <a:p>
            <a:pPr algn="ctr">
              <a:spcAft>
                <a:spcPts val="0"/>
              </a:spcAft>
            </a:pPr>
            <a:r>
              <a:rPr sz="1500" b="0" i="0">
                <a:solidFill>
                  <a:srgbClr val="6B6B6B"/>
                </a:solidFill>
                <a:latin typeface="Calibri"/>
              </a:rPr>
              <a:t>1 input</a:t>
            </a:r>
          </a:p>
        </p:txBody>
      </p:sp>
      <p:sp>
        <p:nvSpPr>
          <p:cNvPr id="10" name="Rounded Rectangle 9"/>
          <p:cNvSpPr/>
          <p:nvPr/>
        </p:nvSpPr>
        <p:spPr>
          <a:xfrm>
            <a:off x="2560320" y="2423160"/>
            <a:ext cx="1810512" cy="1783080"/>
          </a:xfrm>
          <a:prstGeom prst="roundRect">
            <a:avLst>
              <a:gd name="adj" fmla="val 6000"/>
            </a:avLst>
          </a:prstGeom>
          <a:solidFill>
            <a:srgbClr val="ED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560320" y="2514600"/>
            <a:ext cx="1810512" cy="1645920"/>
          </a:xfrm>
          <a:prstGeom prst="rect">
            <a:avLst/>
          </a:prstGeom>
          <a:noFill/>
        </p:spPr>
        <p:txBody>
          <a:bodyPr wrap="square" lIns="0" tIns="0" rIns="0" bIns="0" anchor="t">
            <a:spAutoFit/>
          </a:bodyPr>
          <a:lstStyle/>
          <a:p>
            <a:pPr algn="ctr">
              <a:spcAft>
                <a:spcPts val="0"/>
              </a:spcAft>
            </a:pPr>
            <a:r>
              <a:rPr sz="5000" b="1" i="0">
                <a:solidFill>
                  <a:srgbClr val="8E1B22"/>
                </a:solidFill>
                <a:latin typeface="Calibri"/>
              </a:rPr>
              <a:t>4</a:t>
            </a:r>
          </a:p>
          <a:p>
            <a:pPr algn="ctr">
              <a:spcAft>
                <a:spcPts val="0"/>
              </a:spcAft>
            </a:pPr>
            <a:r>
              <a:rPr sz="1500" b="1" i="0">
                <a:solidFill>
                  <a:srgbClr val="1B3A6B"/>
                </a:solidFill>
                <a:latin typeface="Calibri"/>
              </a:rPr>
              <a:t>rows</a:t>
            </a:r>
          </a:p>
          <a:p>
            <a:pPr algn="ctr">
              <a:spcAft>
                <a:spcPts val="0"/>
              </a:spcAft>
            </a:pPr>
            <a:r>
              <a:rPr sz="1500" b="0" i="0">
                <a:solidFill>
                  <a:srgbClr val="6B6B6B"/>
                </a:solidFill>
                <a:latin typeface="Calibri"/>
              </a:rPr>
              <a:t>2 inputs</a:t>
            </a:r>
          </a:p>
        </p:txBody>
      </p:sp>
      <p:sp>
        <p:nvSpPr>
          <p:cNvPr id="12" name="Rounded Rectangle 11"/>
          <p:cNvSpPr/>
          <p:nvPr/>
        </p:nvSpPr>
        <p:spPr>
          <a:xfrm>
            <a:off x="4572000" y="2423160"/>
            <a:ext cx="1810512" cy="1783080"/>
          </a:xfrm>
          <a:prstGeom prst="roundRect">
            <a:avLst>
              <a:gd name="adj" fmla="val 6000"/>
            </a:avLst>
          </a:prstGeom>
          <a:solidFill>
            <a:srgbClr val="ED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0" y="2514600"/>
            <a:ext cx="1810512" cy="1645920"/>
          </a:xfrm>
          <a:prstGeom prst="rect">
            <a:avLst/>
          </a:prstGeom>
          <a:noFill/>
        </p:spPr>
        <p:txBody>
          <a:bodyPr wrap="square" lIns="0" tIns="0" rIns="0" bIns="0" anchor="t">
            <a:spAutoFit/>
          </a:bodyPr>
          <a:lstStyle/>
          <a:p>
            <a:pPr algn="ctr">
              <a:spcAft>
                <a:spcPts val="0"/>
              </a:spcAft>
            </a:pPr>
            <a:r>
              <a:rPr sz="5000" b="1" i="0">
                <a:solidFill>
                  <a:srgbClr val="8E1B22"/>
                </a:solidFill>
                <a:latin typeface="Calibri"/>
              </a:rPr>
              <a:t>8</a:t>
            </a:r>
          </a:p>
          <a:p>
            <a:pPr algn="ctr">
              <a:spcAft>
                <a:spcPts val="0"/>
              </a:spcAft>
            </a:pPr>
            <a:r>
              <a:rPr sz="1500" b="1" i="0">
                <a:solidFill>
                  <a:srgbClr val="1B3A6B"/>
                </a:solidFill>
                <a:latin typeface="Calibri"/>
              </a:rPr>
              <a:t>rows</a:t>
            </a:r>
          </a:p>
          <a:p>
            <a:pPr algn="ctr">
              <a:spcAft>
                <a:spcPts val="0"/>
              </a:spcAft>
            </a:pPr>
            <a:r>
              <a:rPr sz="1500" b="0" i="0">
                <a:solidFill>
                  <a:srgbClr val="6B6B6B"/>
                </a:solidFill>
                <a:latin typeface="Calibri"/>
              </a:rPr>
              <a:t>3 inputs</a:t>
            </a:r>
          </a:p>
        </p:txBody>
      </p:sp>
      <p:sp>
        <p:nvSpPr>
          <p:cNvPr id="14" name="Rounded Rectangle 13"/>
          <p:cNvSpPr/>
          <p:nvPr/>
        </p:nvSpPr>
        <p:spPr>
          <a:xfrm>
            <a:off x="548640" y="4480560"/>
            <a:ext cx="5833872" cy="1005840"/>
          </a:xfrm>
          <a:prstGeom prst="roundRect">
            <a:avLst>
              <a:gd name="adj" fmla="val 600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48640" y="4480560"/>
            <a:ext cx="5833872" cy="1005840"/>
          </a:xfrm>
          <a:prstGeom prst="rect">
            <a:avLst/>
          </a:prstGeom>
          <a:noFill/>
        </p:spPr>
        <p:txBody>
          <a:bodyPr wrap="square" lIns="0" tIns="0" rIns="0" bIns="0" anchor="ctr">
            <a:spAutoFit/>
          </a:bodyPr>
          <a:lstStyle/>
          <a:p>
            <a:pPr algn="ctr">
              <a:spcAft>
                <a:spcPts val="0"/>
              </a:spcAft>
            </a:pPr>
            <a:r>
              <a:rPr sz="2600" b="1" i="0">
                <a:solidFill>
                  <a:srgbClr val="FFFFFF"/>
                </a:solidFill>
                <a:latin typeface="Calibri"/>
              </a:rPr>
              <a:t>Rule:   n inputs  →  2</a:t>
            </a:r>
            <a:r>
              <a:rPr sz="2600" b="1" i="0" baseline="30000">
                <a:solidFill>
                  <a:srgbClr val="FFFFFF"/>
                </a:solidFill>
                <a:latin typeface="Calibri"/>
              </a:rPr>
              <a:t>n</a:t>
            </a:r>
            <a:r>
              <a:rPr sz="2600" b="1" i="0">
                <a:solidFill>
                  <a:srgbClr val="FFFFFF"/>
                </a:solidFill>
                <a:latin typeface="Calibri"/>
              </a:rPr>
              <a:t>  rows</a:t>
            </a:r>
          </a:p>
        </p:txBody>
      </p:sp>
      <p:sp>
        <p:nvSpPr>
          <p:cNvPr id="16" name="TextBox 15"/>
          <p:cNvSpPr txBox="1"/>
          <p:nvPr/>
        </p:nvSpPr>
        <p:spPr>
          <a:xfrm>
            <a:off x="6812280" y="1325880"/>
            <a:ext cx="4828032" cy="457200"/>
          </a:xfrm>
          <a:prstGeom prst="rect">
            <a:avLst/>
          </a:prstGeom>
          <a:noFill/>
        </p:spPr>
        <p:txBody>
          <a:bodyPr wrap="square" lIns="0" tIns="0" rIns="0" bIns="0" anchor="t">
            <a:spAutoFit/>
          </a:bodyPr>
          <a:lstStyle/>
          <a:p>
            <a:pPr algn="l">
              <a:spcAft>
                <a:spcPts val="0"/>
              </a:spcAft>
            </a:pPr>
            <a:r>
              <a:rPr sz="1900" b="1" i="0">
                <a:solidFill>
                  <a:srgbClr val="1B3A6B"/>
                </a:solidFill>
                <a:latin typeface="Calibri"/>
              </a:rPr>
              <a:t>Example: the series (AND) circuit</a:t>
            </a:r>
          </a:p>
        </p:txBody>
      </p:sp>
      <p:graphicFrame>
        <p:nvGraphicFramePr>
          <p:cNvPr id="17" name="Table 16"/>
          <p:cNvGraphicFramePr>
            <a:graphicFrameLocks noGrp="1"/>
          </p:cNvGraphicFramePr>
          <p:nvPr/>
        </p:nvGraphicFramePr>
        <p:xfrm>
          <a:off x="6812280" y="1874519"/>
          <a:ext cx="4828032" cy="2743200"/>
        </p:xfrm>
        <a:graphic>
          <a:graphicData uri="http://schemas.openxmlformats.org/drawingml/2006/table">
            <a:tbl>
              <a:tblPr firstRow="1">
                <a:tableStyleId>{5C22544A-7EE6-4342-B048-85BDC9FD1C3A}</a:tableStyleId>
              </a:tblPr>
              <a:tblGrid>
                <a:gridCol w="1609344">
                  <a:extLst>
                    <a:ext uri="{9D8B030D-6E8A-4147-A177-3AD203B41FA5}">
                      <a16:colId xmlns:a16="http://schemas.microsoft.com/office/drawing/2014/main" val="20000"/>
                    </a:ext>
                  </a:extLst>
                </a:gridCol>
                <a:gridCol w="1609344">
                  <a:extLst>
                    <a:ext uri="{9D8B030D-6E8A-4147-A177-3AD203B41FA5}">
                      <a16:colId xmlns:a16="http://schemas.microsoft.com/office/drawing/2014/main" val="20001"/>
                    </a:ext>
                  </a:extLst>
                </a:gridCol>
                <a:gridCol w="1609344">
                  <a:extLst>
                    <a:ext uri="{9D8B030D-6E8A-4147-A177-3AD203B41FA5}">
                      <a16:colId xmlns:a16="http://schemas.microsoft.com/office/drawing/2014/main" val="20002"/>
                    </a:ext>
                  </a:extLst>
                </a:gridCol>
              </a:tblGrid>
              <a:tr h="548640">
                <a:tc>
                  <a:txBody>
                    <a:bodyPr/>
                    <a:lstStyle/>
                    <a:p>
                      <a:pPr algn="ctr"/>
                      <a:r>
                        <a:rPr sz="2000" b="1">
                          <a:solidFill>
                            <a:srgbClr val="FFFFFF"/>
                          </a:solidFill>
                          <a:latin typeface="Calibri"/>
                        </a:rPr>
                        <a:t>A</a:t>
                      </a:r>
                    </a:p>
                  </a:txBody>
                  <a:tcPr marL="54864" marR="54864" marT="0" marB="0" anchor="ctr">
                    <a:solidFill>
                      <a:srgbClr val="1B3A6B"/>
                    </a:solidFill>
                  </a:tcPr>
                </a:tc>
                <a:tc>
                  <a:txBody>
                    <a:bodyPr/>
                    <a:lstStyle/>
                    <a:p>
                      <a:pPr algn="ctr"/>
                      <a:r>
                        <a:rPr sz="2000" b="1">
                          <a:solidFill>
                            <a:srgbClr val="FFFFFF"/>
                          </a:solidFill>
                          <a:latin typeface="Calibri"/>
                        </a:rPr>
                        <a:t>B</a:t>
                      </a:r>
                    </a:p>
                  </a:txBody>
                  <a:tcPr marL="54864" marR="54864" marT="0" marB="0" anchor="ctr">
                    <a:solidFill>
                      <a:srgbClr val="1B3A6B"/>
                    </a:solidFill>
                  </a:tcPr>
                </a:tc>
                <a:tc>
                  <a:txBody>
                    <a:bodyPr/>
                    <a:lstStyle/>
                    <a:p>
                      <a:pPr algn="ctr"/>
                      <a:r>
                        <a:rPr sz="2000" b="1">
                          <a:solidFill>
                            <a:srgbClr val="FFFFFF"/>
                          </a:solidFill>
                          <a:latin typeface="Calibri"/>
                        </a:rPr>
                        <a:t>Lamp Y</a:t>
                      </a:r>
                    </a:p>
                  </a:txBody>
                  <a:tcPr marL="54864" marR="54864" marT="0" marB="0" anchor="ctr">
                    <a:solidFill>
                      <a:srgbClr val="1B3A6B"/>
                    </a:solidFill>
                  </a:tcPr>
                </a:tc>
                <a:extLst>
                  <a:ext uri="{0D108BD9-81ED-4DB2-BD59-A6C34878D82A}">
                    <a16:rowId xmlns:a16="http://schemas.microsoft.com/office/drawing/2014/main" val="10000"/>
                  </a:ext>
                </a:extLst>
              </a:tr>
              <a:tr h="548640">
                <a:tc>
                  <a:txBody>
                    <a:bodyPr/>
                    <a:lstStyle/>
                    <a:p>
                      <a:pPr algn="ctr"/>
                      <a:r>
                        <a:rPr sz="2000" b="0">
                          <a:solidFill>
                            <a:srgbClr val="222222"/>
                          </a:solidFill>
                          <a:latin typeface="Calibri"/>
                        </a:rPr>
                        <a:t>0</a:t>
                      </a:r>
                    </a:p>
                  </a:txBody>
                  <a:tcPr marL="54864" marR="54864" marT="0" marB="0" anchor="ctr">
                    <a:solidFill>
                      <a:srgbClr val="FFFFFF"/>
                    </a:solidFill>
                  </a:tcPr>
                </a:tc>
                <a:tc>
                  <a:txBody>
                    <a:bodyPr/>
                    <a:lstStyle/>
                    <a:p>
                      <a:pPr algn="ctr"/>
                      <a:r>
                        <a:rPr sz="2000" b="0">
                          <a:solidFill>
                            <a:srgbClr val="222222"/>
                          </a:solidFill>
                          <a:latin typeface="Calibri"/>
                        </a:rPr>
                        <a:t>0</a:t>
                      </a:r>
                    </a:p>
                  </a:txBody>
                  <a:tcPr marL="54864" marR="54864" marT="0" marB="0" anchor="ctr">
                    <a:solidFill>
                      <a:srgbClr val="FFFFFF"/>
                    </a:solidFill>
                  </a:tcPr>
                </a:tc>
                <a:tc>
                  <a:txBody>
                    <a:bodyPr/>
                    <a:lstStyle/>
                    <a:p>
                      <a:pPr algn="ctr"/>
                      <a:r>
                        <a:rPr sz="2000" b="0">
                          <a:solidFill>
                            <a:srgbClr val="222222"/>
                          </a:solidFill>
                          <a:latin typeface="Calibri"/>
                        </a:rPr>
                        <a:t>0</a:t>
                      </a:r>
                    </a:p>
                  </a:txBody>
                  <a:tcPr marL="54864" marR="54864" marT="0" marB="0" anchor="ctr">
                    <a:solidFill>
                      <a:srgbClr val="FFFFFF"/>
                    </a:solidFill>
                  </a:tcPr>
                </a:tc>
                <a:extLst>
                  <a:ext uri="{0D108BD9-81ED-4DB2-BD59-A6C34878D82A}">
                    <a16:rowId xmlns:a16="http://schemas.microsoft.com/office/drawing/2014/main" val="10001"/>
                  </a:ext>
                </a:extLst>
              </a:tr>
              <a:tr h="548640">
                <a:tc>
                  <a:txBody>
                    <a:bodyPr/>
                    <a:lstStyle/>
                    <a:p>
                      <a:pPr algn="ctr"/>
                      <a:r>
                        <a:rPr sz="2000" b="0">
                          <a:solidFill>
                            <a:srgbClr val="222222"/>
                          </a:solidFill>
                          <a:latin typeface="Calibri"/>
                        </a:rPr>
                        <a:t>0</a:t>
                      </a:r>
                    </a:p>
                  </a:txBody>
                  <a:tcPr marL="54864" marR="54864" marT="0" marB="0" anchor="ctr">
                    <a:solidFill>
                      <a:srgbClr val="EDF2F8"/>
                    </a:solidFill>
                  </a:tcPr>
                </a:tc>
                <a:tc>
                  <a:txBody>
                    <a:bodyPr/>
                    <a:lstStyle/>
                    <a:p>
                      <a:pPr algn="ctr"/>
                      <a:r>
                        <a:rPr sz="2000" b="0">
                          <a:solidFill>
                            <a:srgbClr val="222222"/>
                          </a:solidFill>
                          <a:latin typeface="Calibri"/>
                        </a:rPr>
                        <a:t>1</a:t>
                      </a:r>
                    </a:p>
                  </a:txBody>
                  <a:tcPr marL="54864" marR="54864" marT="0" marB="0" anchor="ctr">
                    <a:solidFill>
                      <a:srgbClr val="EDF2F8"/>
                    </a:solidFill>
                  </a:tcPr>
                </a:tc>
                <a:tc>
                  <a:txBody>
                    <a:bodyPr/>
                    <a:lstStyle/>
                    <a:p>
                      <a:pPr algn="ctr"/>
                      <a:r>
                        <a:rPr sz="2000" b="0">
                          <a:solidFill>
                            <a:srgbClr val="222222"/>
                          </a:solidFill>
                          <a:latin typeface="Calibri"/>
                        </a:rPr>
                        <a:t>0</a:t>
                      </a:r>
                    </a:p>
                  </a:txBody>
                  <a:tcPr marL="54864" marR="54864" marT="0" marB="0" anchor="ctr">
                    <a:solidFill>
                      <a:srgbClr val="EDF2F8"/>
                    </a:solidFill>
                  </a:tcPr>
                </a:tc>
                <a:extLst>
                  <a:ext uri="{0D108BD9-81ED-4DB2-BD59-A6C34878D82A}">
                    <a16:rowId xmlns:a16="http://schemas.microsoft.com/office/drawing/2014/main" val="10002"/>
                  </a:ext>
                </a:extLst>
              </a:tr>
              <a:tr h="548640">
                <a:tc>
                  <a:txBody>
                    <a:bodyPr/>
                    <a:lstStyle/>
                    <a:p>
                      <a:pPr algn="ctr"/>
                      <a:r>
                        <a:rPr sz="2000" b="0">
                          <a:solidFill>
                            <a:srgbClr val="222222"/>
                          </a:solidFill>
                          <a:latin typeface="Calibri"/>
                        </a:rPr>
                        <a:t>1</a:t>
                      </a:r>
                    </a:p>
                  </a:txBody>
                  <a:tcPr marL="54864" marR="54864" marT="0" marB="0" anchor="ctr">
                    <a:solidFill>
                      <a:srgbClr val="FFFFFF"/>
                    </a:solidFill>
                  </a:tcPr>
                </a:tc>
                <a:tc>
                  <a:txBody>
                    <a:bodyPr/>
                    <a:lstStyle/>
                    <a:p>
                      <a:pPr algn="ctr"/>
                      <a:r>
                        <a:rPr sz="2000" b="0">
                          <a:solidFill>
                            <a:srgbClr val="222222"/>
                          </a:solidFill>
                          <a:latin typeface="Calibri"/>
                        </a:rPr>
                        <a:t>0</a:t>
                      </a:r>
                    </a:p>
                  </a:txBody>
                  <a:tcPr marL="54864" marR="54864" marT="0" marB="0" anchor="ctr">
                    <a:solidFill>
                      <a:srgbClr val="FFFFFF"/>
                    </a:solidFill>
                  </a:tcPr>
                </a:tc>
                <a:tc>
                  <a:txBody>
                    <a:bodyPr/>
                    <a:lstStyle/>
                    <a:p>
                      <a:pPr algn="ctr"/>
                      <a:r>
                        <a:rPr sz="2000" b="0">
                          <a:solidFill>
                            <a:srgbClr val="222222"/>
                          </a:solidFill>
                          <a:latin typeface="Calibri"/>
                        </a:rPr>
                        <a:t>0</a:t>
                      </a:r>
                    </a:p>
                  </a:txBody>
                  <a:tcPr marL="54864" marR="54864" marT="0" marB="0" anchor="ctr">
                    <a:solidFill>
                      <a:srgbClr val="FFFFFF"/>
                    </a:solidFill>
                  </a:tcPr>
                </a:tc>
                <a:extLst>
                  <a:ext uri="{0D108BD9-81ED-4DB2-BD59-A6C34878D82A}">
                    <a16:rowId xmlns:a16="http://schemas.microsoft.com/office/drawing/2014/main" val="10003"/>
                  </a:ext>
                </a:extLst>
              </a:tr>
              <a:tr h="548640">
                <a:tc>
                  <a:txBody>
                    <a:bodyPr/>
                    <a:lstStyle/>
                    <a:p>
                      <a:pPr algn="ctr"/>
                      <a:r>
                        <a:rPr sz="2000" b="0">
                          <a:solidFill>
                            <a:srgbClr val="222222"/>
                          </a:solidFill>
                          <a:latin typeface="Calibri"/>
                        </a:rPr>
                        <a:t>1</a:t>
                      </a:r>
                    </a:p>
                  </a:txBody>
                  <a:tcPr marL="54864" marR="54864" marT="0" marB="0" anchor="ctr">
                    <a:solidFill>
                      <a:srgbClr val="EDF2F8"/>
                    </a:solidFill>
                  </a:tcPr>
                </a:tc>
                <a:tc>
                  <a:txBody>
                    <a:bodyPr/>
                    <a:lstStyle/>
                    <a:p>
                      <a:pPr algn="ctr"/>
                      <a:r>
                        <a:rPr sz="2000" b="0">
                          <a:solidFill>
                            <a:srgbClr val="222222"/>
                          </a:solidFill>
                          <a:latin typeface="Calibri"/>
                        </a:rPr>
                        <a:t>1</a:t>
                      </a:r>
                    </a:p>
                  </a:txBody>
                  <a:tcPr marL="54864" marR="54864" marT="0" marB="0" anchor="ctr">
                    <a:solidFill>
                      <a:srgbClr val="EDF2F8"/>
                    </a:solidFill>
                  </a:tcPr>
                </a:tc>
                <a:tc>
                  <a:txBody>
                    <a:bodyPr/>
                    <a:lstStyle/>
                    <a:p>
                      <a:pPr algn="ctr"/>
                      <a:r>
                        <a:rPr sz="2000" b="1">
                          <a:solidFill>
                            <a:srgbClr val="8E1B22"/>
                          </a:solidFill>
                          <a:latin typeface="Calibri"/>
                        </a:rPr>
                        <a:t>1</a:t>
                      </a:r>
                    </a:p>
                  </a:txBody>
                  <a:tcPr marL="54864" marR="54864" marT="0" marB="0" anchor="ctr">
                    <a:solidFill>
                      <a:srgbClr val="F8EEEF"/>
                    </a:solidFill>
                  </a:tcPr>
                </a:tc>
                <a:extLst>
                  <a:ext uri="{0D108BD9-81ED-4DB2-BD59-A6C34878D82A}">
                    <a16:rowId xmlns:a16="http://schemas.microsoft.com/office/drawing/2014/main" val="10004"/>
                  </a:ext>
                </a:extLst>
              </a:tr>
            </a:tbl>
          </a:graphicData>
        </a:graphic>
      </p:graphicFrame>
      <p:sp>
        <p:nvSpPr>
          <p:cNvPr id="18" name="TextBox 17"/>
          <p:cNvSpPr txBox="1"/>
          <p:nvPr/>
        </p:nvSpPr>
        <p:spPr>
          <a:xfrm>
            <a:off x="6812280" y="4800600"/>
            <a:ext cx="4828032" cy="731520"/>
          </a:xfrm>
          <a:prstGeom prst="rect">
            <a:avLst/>
          </a:prstGeom>
          <a:noFill/>
        </p:spPr>
        <p:txBody>
          <a:bodyPr wrap="square" lIns="0" tIns="0" rIns="0" bIns="0" anchor="t">
            <a:spAutoFit/>
          </a:bodyPr>
          <a:lstStyle/>
          <a:p>
            <a:pPr algn="l">
              <a:spcAft>
                <a:spcPts val="0"/>
              </a:spcAft>
            </a:pPr>
            <a:r>
              <a:rPr sz="1600" b="0" i="0">
                <a:solidFill>
                  <a:srgbClr val="6B6B6B"/>
                </a:solidFill>
                <a:latin typeface="Calibri"/>
              </a:rPr>
              <a:t>The lamp is ON (1) only in the last row, when both switches are closed.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548640" y="429768"/>
            <a:ext cx="566928" cy="566928"/>
          </a:xfrm>
          <a:prstGeom prst="ellipse">
            <a:avLst/>
          </a:prstGeom>
          <a:solidFill>
            <a:srgbClr val="8E1B2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Calibri"/>
              </a:rPr>
              <a:t>2</a:t>
            </a:r>
          </a:p>
        </p:txBody>
      </p:sp>
      <p:sp>
        <p:nvSpPr>
          <p:cNvPr id="3" name="TextBox 2"/>
          <p:cNvSpPr txBox="1"/>
          <p:nvPr/>
        </p:nvSpPr>
        <p:spPr>
          <a:xfrm>
            <a:off x="7068312" y="182880"/>
            <a:ext cx="4572000" cy="274320"/>
          </a:xfrm>
          <a:prstGeom prst="rect">
            <a:avLst/>
          </a:prstGeom>
          <a:noFill/>
        </p:spPr>
        <p:txBody>
          <a:bodyPr wrap="square" lIns="0" tIns="0" rIns="0" bIns="0" anchor="t">
            <a:spAutoFit/>
          </a:bodyPr>
          <a:lstStyle/>
          <a:p>
            <a:pPr algn="r">
              <a:spcAft>
                <a:spcPts val="0"/>
              </a:spcAft>
            </a:pPr>
            <a:r>
              <a:rPr sz="1200" b="0" i="0">
                <a:solidFill>
                  <a:srgbClr val="6B6B6B"/>
                </a:solidFill>
                <a:latin typeface="Calibri"/>
              </a:rPr>
              <a:t>Topic 2 of 5  ·  Truth Tables</a:t>
            </a:r>
          </a:p>
        </p:txBody>
      </p:sp>
      <p:sp>
        <p:nvSpPr>
          <p:cNvPr id="4" name="TextBox 3"/>
          <p:cNvSpPr txBox="1"/>
          <p:nvPr/>
        </p:nvSpPr>
        <p:spPr>
          <a:xfrm>
            <a:off x="1298448" y="365760"/>
            <a:ext cx="10341864" cy="713232"/>
          </a:xfrm>
          <a:prstGeom prst="rect">
            <a:avLst/>
          </a:prstGeom>
          <a:noFill/>
        </p:spPr>
        <p:txBody>
          <a:bodyPr wrap="square" lIns="0" tIns="0" rIns="0" bIns="0" anchor="ctr">
            <a:spAutoFit/>
          </a:bodyPr>
          <a:lstStyle/>
          <a:p>
            <a:pPr algn="l">
              <a:spcAft>
                <a:spcPts val="0"/>
              </a:spcAft>
            </a:pPr>
            <a:r>
              <a:rPr sz="3400" b="1" i="0">
                <a:solidFill>
                  <a:srgbClr val="1B3A6B"/>
                </a:solidFill>
                <a:latin typeface="Calibri"/>
              </a:rPr>
              <a:t>Writing a Truth Table Without Missing a Row</a:t>
            </a:r>
          </a:p>
        </p:txBody>
      </p:sp>
      <p:sp>
        <p:nvSpPr>
          <p:cNvPr id="5" name="TextBox 4"/>
          <p:cNvSpPr txBox="1"/>
          <p:nvPr/>
        </p:nvSpPr>
        <p:spPr>
          <a:xfrm>
            <a:off x="548640" y="6428232"/>
            <a:ext cx="5486400" cy="274320"/>
          </a:xfrm>
          <a:prstGeom prst="rect">
            <a:avLst/>
          </a:prstGeom>
          <a:noFill/>
        </p:spPr>
        <p:txBody>
          <a:bodyPr wrap="square" lIns="0" tIns="0" rIns="0" bIns="0" anchor="t">
            <a:spAutoFit/>
          </a:bodyPr>
          <a:lstStyle/>
          <a:p>
            <a:pPr algn="l">
              <a:spcAft>
                <a:spcPts val="0"/>
              </a:spcAft>
            </a:pPr>
            <a:r>
              <a:rPr sz="1100" b="0" i="0">
                <a:solidFill>
                  <a:srgbClr val="6B6B6B"/>
                </a:solidFill>
                <a:latin typeface="Calibri"/>
              </a:rPr>
              <a:t>CSE207  ·  Digital Logic Design  ·  Lecture 01</a:t>
            </a:r>
          </a:p>
        </p:txBody>
      </p:sp>
      <p:sp>
        <p:nvSpPr>
          <p:cNvPr id="6" name="TextBox 5"/>
          <p:cNvSpPr txBox="1"/>
          <p:nvPr/>
        </p:nvSpPr>
        <p:spPr>
          <a:xfrm>
            <a:off x="10725912" y="6428232"/>
            <a:ext cx="914400" cy="274320"/>
          </a:xfrm>
          <a:prstGeom prst="rect">
            <a:avLst/>
          </a:prstGeom>
          <a:noFill/>
        </p:spPr>
        <p:txBody>
          <a:bodyPr wrap="square" lIns="0" tIns="0" rIns="0" bIns="0" anchor="t">
            <a:spAutoFit/>
          </a:bodyPr>
          <a:lstStyle/>
          <a:p>
            <a:pPr algn="r">
              <a:spcAft>
                <a:spcPts val="0"/>
              </a:spcAft>
            </a:pPr>
            <a:r>
              <a:rPr sz="1100" b="0" i="0">
                <a:solidFill>
                  <a:srgbClr val="6B6B6B"/>
                </a:solidFill>
                <a:latin typeface="Calibri"/>
              </a:rPr>
              <a:t>7</a:t>
            </a:r>
          </a:p>
        </p:txBody>
      </p:sp>
      <p:graphicFrame>
        <p:nvGraphicFramePr>
          <p:cNvPr id="7" name="Table 6"/>
          <p:cNvGraphicFramePr>
            <a:graphicFrameLocks noGrp="1"/>
          </p:cNvGraphicFramePr>
          <p:nvPr/>
        </p:nvGraphicFramePr>
        <p:xfrm>
          <a:off x="548640" y="1325880"/>
          <a:ext cx="4709160" cy="4361688"/>
        </p:xfrm>
        <a:graphic>
          <a:graphicData uri="http://schemas.openxmlformats.org/drawingml/2006/table">
            <a:tbl>
              <a:tblPr firstRow="1">
                <a:tableStyleId>{5C22544A-7EE6-4342-B048-85BDC9FD1C3A}</a:tableStyleId>
              </a:tblPr>
              <a:tblGrid>
                <a:gridCol w="100584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tblGrid>
              <a:tr h="484632">
                <a:tc>
                  <a:txBody>
                    <a:bodyPr/>
                    <a:lstStyle/>
                    <a:p>
                      <a:pPr algn="ctr"/>
                      <a:r>
                        <a:rPr sz="1800" b="1">
                          <a:solidFill>
                            <a:srgbClr val="FFFFFF"/>
                          </a:solidFill>
                          <a:latin typeface="Calibri"/>
                        </a:rPr>
                        <a:t>Row</a:t>
                      </a:r>
                    </a:p>
                  </a:txBody>
                  <a:tcPr marL="54864" marR="54864" marT="0" marB="0" anchor="ctr">
                    <a:solidFill>
                      <a:srgbClr val="1B3A6B"/>
                    </a:solidFill>
                  </a:tcPr>
                </a:tc>
                <a:tc>
                  <a:txBody>
                    <a:bodyPr/>
                    <a:lstStyle/>
                    <a:p>
                      <a:pPr algn="ctr"/>
                      <a:r>
                        <a:rPr sz="1800" b="1">
                          <a:solidFill>
                            <a:srgbClr val="FFFFFF"/>
                          </a:solidFill>
                          <a:latin typeface="Calibri"/>
                        </a:rPr>
                        <a:t>A</a:t>
                      </a:r>
                    </a:p>
                  </a:txBody>
                  <a:tcPr marL="54864" marR="54864" marT="0" marB="0" anchor="ctr">
                    <a:solidFill>
                      <a:srgbClr val="1B3A6B"/>
                    </a:solidFill>
                  </a:tcPr>
                </a:tc>
                <a:tc>
                  <a:txBody>
                    <a:bodyPr/>
                    <a:lstStyle/>
                    <a:p>
                      <a:pPr algn="ctr"/>
                      <a:r>
                        <a:rPr sz="1800" b="1">
                          <a:solidFill>
                            <a:srgbClr val="FFFFFF"/>
                          </a:solidFill>
                          <a:latin typeface="Calibri"/>
                        </a:rPr>
                        <a:t>B</a:t>
                      </a:r>
                    </a:p>
                  </a:txBody>
                  <a:tcPr marL="54864" marR="54864" marT="0" marB="0" anchor="ctr">
                    <a:solidFill>
                      <a:srgbClr val="1B3A6B"/>
                    </a:solidFill>
                  </a:tcPr>
                </a:tc>
                <a:tc>
                  <a:txBody>
                    <a:bodyPr/>
                    <a:lstStyle/>
                    <a:p>
                      <a:pPr algn="ctr"/>
                      <a:r>
                        <a:rPr sz="1800" b="1">
                          <a:solidFill>
                            <a:srgbClr val="FFFFFF"/>
                          </a:solidFill>
                          <a:latin typeface="Calibri"/>
                        </a:rPr>
                        <a:t>C</a:t>
                      </a:r>
                    </a:p>
                  </a:txBody>
                  <a:tcPr marL="54864" marR="54864" marT="0" marB="0" anchor="ctr">
                    <a:solidFill>
                      <a:srgbClr val="1B3A6B"/>
                    </a:solidFill>
                  </a:tcPr>
                </a:tc>
                <a:extLst>
                  <a:ext uri="{0D108BD9-81ED-4DB2-BD59-A6C34878D82A}">
                    <a16:rowId xmlns:a16="http://schemas.microsoft.com/office/drawing/2014/main" val="10000"/>
                  </a:ext>
                </a:extLst>
              </a:tr>
              <a:tr h="484632">
                <a:tc>
                  <a:txBody>
                    <a:bodyPr/>
                    <a:lstStyle/>
                    <a:p>
                      <a:pPr algn="ctr"/>
                      <a:r>
                        <a:rPr sz="1800" b="0">
                          <a:solidFill>
                            <a:srgbClr val="222222"/>
                          </a:solidFill>
                          <a:latin typeface="Calibri"/>
                        </a:rPr>
                        <a:t>0</a:t>
                      </a:r>
                    </a:p>
                  </a:txBody>
                  <a:tcPr marL="54864" marR="54864" marT="0" marB="0" anchor="ctr">
                    <a:solidFill>
                      <a:srgbClr val="FFFFFF"/>
                    </a:solidFill>
                  </a:tcPr>
                </a:tc>
                <a:tc>
                  <a:txBody>
                    <a:bodyPr/>
                    <a:lstStyle/>
                    <a:p>
                      <a:pPr algn="ctr"/>
                      <a:r>
                        <a:rPr sz="1800" b="0">
                          <a:solidFill>
                            <a:srgbClr val="222222"/>
                          </a:solidFill>
                          <a:latin typeface="Calibri"/>
                        </a:rPr>
                        <a:t>0</a:t>
                      </a:r>
                    </a:p>
                  </a:txBody>
                  <a:tcPr marL="54864" marR="54864" marT="0" marB="0" anchor="ctr">
                    <a:solidFill>
                      <a:srgbClr val="FFFFFF"/>
                    </a:solidFill>
                  </a:tcPr>
                </a:tc>
                <a:tc>
                  <a:txBody>
                    <a:bodyPr/>
                    <a:lstStyle/>
                    <a:p>
                      <a:pPr algn="ctr"/>
                      <a:r>
                        <a:rPr sz="1800" b="0">
                          <a:solidFill>
                            <a:srgbClr val="222222"/>
                          </a:solidFill>
                          <a:latin typeface="Calibri"/>
                        </a:rPr>
                        <a:t>0</a:t>
                      </a:r>
                    </a:p>
                  </a:txBody>
                  <a:tcPr marL="54864" marR="54864" marT="0" marB="0" anchor="ctr">
                    <a:solidFill>
                      <a:srgbClr val="FFFFFF"/>
                    </a:solidFill>
                  </a:tcPr>
                </a:tc>
                <a:tc>
                  <a:txBody>
                    <a:bodyPr/>
                    <a:lstStyle/>
                    <a:p>
                      <a:pPr algn="ctr"/>
                      <a:r>
                        <a:rPr sz="1800" b="0">
                          <a:solidFill>
                            <a:srgbClr val="222222"/>
                          </a:solidFill>
                          <a:latin typeface="Calibri"/>
                        </a:rPr>
                        <a:t>0</a:t>
                      </a:r>
                    </a:p>
                  </a:txBody>
                  <a:tcPr marL="54864" marR="54864" marT="0" marB="0" anchor="ctr">
                    <a:solidFill>
                      <a:srgbClr val="FFFFFF"/>
                    </a:solidFill>
                  </a:tcPr>
                </a:tc>
                <a:extLst>
                  <a:ext uri="{0D108BD9-81ED-4DB2-BD59-A6C34878D82A}">
                    <a16:rowId xmlns:a16="http://schemas.microsoft.com/office/drawing/2014/main" val="10001"/>
                  </a:ext>
                </a:extLst>
              </a:tr>
              <a:tr h="484632">
                <a:tc>
                  <a:txBody>
                    <a:bodyPr/>
                    <a:lstStyle/>
                    <a:p>
                      <a:pPr algn="ctr"/>
                      <a:r>
                        <a:rPr sz="1800" b="0">
                          <a:solidFill>
                            <a:srgbClr val="222222"/>
                          </a:solidFill>
                          <a:latin typeface="Calibri"/>
                        </a:rPr>
                        <a:t>1</a:t>
                      </a:r>
                    </a:p>
                  </a:txBody>
                  <a:tcPr marL="54864" marR="54864" marT="0" marB="0" anchor="ctr">
                    <a:solidFill>
                      <a:srgbClr val="EDF2F8"/>
                    </a:solidFill>
                  </a:tcPr>
                </a:tc>
                <a:tc>
                  <a:txBody>
                    <a:bodyPr/>
                    <a:lstStyle/>
                    <a:p>
                      <a:pPr algn="ctr"/>
                      <a:r>
                        <a:rPr sz="1800" b="0">
                          <a:solidFill>
                            <a:srgbClr val="222222"/>
                          </a:solidFill>
                          <a:latin typeface="Calibri"/>
                        </a:rPr>
                        <a:t>0</a:t>
                      </a:r>
                    </a:p>
                  </a:txBody>
                  <a:tcPr marL="54864" marR="54864" marT="0" marB="0" anchor="ctr">
                    <a:solidFill>
                      <a:srgbClr val="EDF2F8"/>
                    </a:solidFill>
                  </a:tcPr>
                </a:tc>
                <a:tc>
                  <a:txBody>
                    <a:bodyPr/>
                    <a:lstStyle/>
                    <a:p>
                      <a:pPr algn="ctr"/>
                      <a:r>
                        <a:rPr sz="1800" b="0">
                          <a:solidFill>
                            <a:srgbClr val="222222"/>
                          </a:solidFill>
                          <a:latin typeface="Calibri"/>
                        </a:rPr>
                        <a:t>0</a:t>
                      </a:r>
                    </a:p>
                  </a:txBody>
                  <a:tcPr marL="54864" marR="54864" marT="0" marB="0" anchor="ctr">
                    <a:solidFill>
                      <a:srgbClr val="EDF2F8"/>
                    </a:solidFill>
                  </a:tcPr>
                </a:tc>
                <a:tc>
                  <a:txBody>
                    <a:bodyPr/>
                    <a:lstStyle/>
                    <a:p>
                      <a:pPr algn="ctr"/>
                      <a:r>
                        <a:rPr sz="1800" b="0">
                          <a:solidFill>
                            <a:srgbClr val="222222"/>
                          </a:solidFill>
                          <a:latin typeface="Calibri"/>
                        </a:rPr>
                        <a:t>1</a:t>
                      </a:r>
                    </a:p>
                  </a:txBody>
                  <a:tcPr marL="54864" marR="54864" marT="0" marB="0" anchor="ctr">
                    <a:solidFill>
                      <a:srgbClr val="EDF2F8"/>
                    </a:solidFill>
                  </a:tcPr>
                </a:tc>
                <a:extLst>
                  <a:ext uri="{0D108BD9-81ED-4DB2-BD59-A6C34878D82A}">
                    <a16:rowId xmlns:a16="http://schemas.microsoft.com/office/drawing/2014/main" val="10002"/>
                  </a:ext>
                </a:extLst>
              </a:tr>
              <a:tr h="484632">
                <a:tc>
                  <a:txBody>
                    <a:bodyPr/>
                    <a:lstStyle/>
                    <a:p>
                      <a:pPr algn="ctr"/>
                      <a:r>
                        <a:rPr sz="1800" b="0">
                          <a:solidFill>
                            <a:srgbClr val="222222"/>
                          </a:solidFill>
                          <a:latin typeface="Calibri"/>
                        </a:rPr>
                        <a:t>2</a:t>
                      </a:r>
                    </a:p>
                  </a:txBody>
                  <a:tcPr marL="54864" marR="54864" marT="0" marB="0" anchor="ctr">
                    <a:solidFill>
                      <a:srgbClr val="FFFFFF"/>
                    </a:solidFill>
                  </a:tcPr>
                </a:tc>
                <a:tc>
                  <a:txBody>
                    <a:bodyPr/>
                    <a:lstStyle/>
                    <a:p>
                      <a:pPr algn="ctr"/>
                      <a:r>
                        <a:rPr sz="1800" b="0">
                          <a:solidFill>
                            <a:srgbClr val="222222"/>
                          </a:solidFill>
                          <a:latin typeface="Calibri"/>
                        </a:rPr>
                        <a:t>0</a:t>
                      </a:r>
                    </a:p>
                  </a:txBody>
                  <a:tcPr marL="54864" marR="54864" marT="0" marB="0" anchor="ctr">
                    <a:solidFill>
                      <a:srgbClr val="FFFFFF"/>
                    </a:solidFill>
                  </a:tcPr>
                </a:tc>
                <a:tc>
                  <a:txBody>
                    <a:bodyPr/>
                    <a:lstStyle/>
                    <a:p>
                      <a:pPr algn="ctr"/>
                      <a:r>
                        <a:rPr sz="1800" b="0">
                          <a:solidFill>
                            <a:srgbClr val="222222"/>
                          </a:solidFill>
                          <a:latin typeface="Calibri"/>
                        </a:rPr>
                        <a:t>1</a:t>
                      </a:r>
                    </a:p>
                  </a:txBody>
                  <a:tcPr marL="54864" marR="54864" marT="0" marB="0" anchor="ctr">
                    <a:solidFill>
                      <a:srgbClr val="FFFFFF"/>
                    </a:solidFill>
                  </a:tcPr>
                </a:tc>
                <a:tc>
                  <a:txBody>
                    <a:bodyPr/>
                    <a:lstStyle/>
                    <a:p>
                      <a:pPr algn="ctr"/>
                      <a:r>
                        <a:rPr sz="1800" b="0">
                          <a:solidFill>
                            <a:srgbClr val="222222"/>
                          </a:solidFill>
                          <a:latin typeface="Calibri"/>
                        </a:rPr>
                        <a:t>0</a:t>
                      </a:r>
                    </a:p>
                  </a:txBody>
                  <a:tcPr marL="54864" marR="54864" marT="0" marB="0" anchor="ctr">
                    <a:solidFill>
                      <a:srgbClr val="FFFFFF"/>
                    </a:solidFill>
                  </a:tcPr>
                </a:tc>
                <a:extLst>
                  <a:ext uri="{0D108BD9-81ED-4DB2-BD59-A6C34878D82A}">
                    <a16:rowId xmlns:a16="http://schemas.microsoft.com/office/drawing/2014/main" val="10003"/>
                  </a:ext>
                </a:extLst>
              </a:tr>
              <a:tr h="484632">
                <a:tc>
                  <a:txBody>
                    <a:bodyPr/>
                    <a:lstStyle/>
                    <a:p>
                      <a:pPr algn="ctr"/>
                      <a:r>
                        <a:rPr sz="1800" b="0">
                          <a:solidFill>
                            <a:srgbClr val="222222"/>
                          </a:solidFill>
                          <a:latin typeface="Calibri"/>
                        </a:rPr>
                        <a:t>3</a:t>
                      </a:r>
                    </a:p>
                  </a:txBody>
                  <a:tcPr marL="54864" marR="54864" marT="0" marB="0" anchor="ctr">
                    <a:solidFill>
                      <a:srgbClr val="EDF2F8"/>
                    </a:solidFill>
                  </a:tcPr>
                </a:tc>
                <a:tc>
                  <a:txBody>
                    <a:bodyPr/>
                    <a:lstStyle/>
                    <a:p>
                      <a:pPr algn="ctr"/>
                      <a:r>
                        <a:rPr sz="1800" b="0">
                          <a:solidFill>
                            <a:srgbClr val="222222"/>
                          </a:solidFill>
                          <a:latin typeface="Calibri"/>
                        </a:rPr>
                        <a:t>0</a:t>
                      </a:r>
                    </a:p>
                  </a:txBody>
                  <a:tcPr marL="54864" marR="54864" marT="0" marB="0" anchor="ctr">
                    <a:solidFill>
                      <a:srgbClr val="EDF2F8"/>
                    </a:solidFill>
                  </a:tcPr>
                </a:tc>
                <a:tc>
                  <a:txBody>
                    <a:bodyPr/>
                    <a:lstStyle/>
                    <a:p>
                      <a:pPr algn="ctr"/>
                      <a:r>
                        <a:rPr sz="1800" b="0">
                          <a:solidFill>
                            <a:srgbClr val="222222"/>
                          </a:solidFill>
                          <a:latin typeface="Calibri"/>
                        </a:rPr>
                        <a:t>1</a:t>
                      </a:r>
                    </a:p>
                  </a:txBody>
                  <a:tcPr marL="54864" marR="54864" marT="0" marB="0" anchor="ctr">
                    <a:solidFill>
                      <a:srgbClr val="EDF2F8"/>
                    </a:solidFill>
                  </a:tcPr>
                </a:tc>
                <a:tc>
                  <a:txBody>
                    <a:bodyPr/>
                    <a:lstStyle/>
                    <a:p>
                      <a:pPr algn="ctr"/>
                      <a:r>
                        <a:rPr sz="1800" b="0">
                          <a:solidFill>
                            <a:srgbClr val="222222"/>
                          </a:solidFill>
                          <a:latin typeface="Calibri"/>
                        </a:rPr>
                        <a:t>1</a:t>
                      </a:r>
                    </a:p>
                  </a:txBody>
                  <a:tcPr marL="54864" marR="54864" marT="0" marB="0" anchor="ctr">
                    <a:solidFill>
                      <a:srgbClr val="EDF2F8"/>
                    </a:solidFill>
                  </a:tcPr>
                </a:tc>
                <a:extLst>
                  <a:ext uri="{0D108BD9-81ED-4DB2-BD59-A6C34878D82A}">
                    <a16:rowId xmlns:a16="http://schemas.microsoft.com/office/drawing/2014/main" val="10004"/>
                  </a:ext>
                </a:extLst>
              </a:tr>
              <a:tr h="484632">
                <a:tc>
                  <a:txBody>
                    <a:bodyPr/>
                    <a:lstStyle/>
                    <a:p>
                      <a:pPr algn="ctr"/>
                      <a:r>
                        <a:rPr sz="1800" b="0">
                          <a:solidFill>
                            <a:srgbClr val="222222"/>
                          </a:solidFill>
                          <a:latin typeface="Calibri"/>
                        </a:rPr>
                        <a:t>4</a:t>
                      </a:r>
                    </a:p>
                  </a:txBody>
                  <a:tcPr marL="54864" marR="54864" marT="0" marB="0" anchor="ctr">
                    <a:solidFill>
                      <a:srgbClr val="FFFFFF"/>
                    </a:solidFill>
                  </a:tcPr>
                </a:tc>
                <a:tc>
                  <a:txBody>
                    <a:bodyPr/>
                    <a:lstStyle/>
                    <a:p>
                      <a:pPr algn="ctr"/>
                      <a:r>
                        <a:rPr sz="1800" b="0">
                          <a:solidFill>
                            <a:srgbClr val="222222"/>
                          </a:solidFill>
                          <a:latin typeface="Calibri"/>
                        </a:rPr>
                        <a:t>1</a:t>
                      </a:r>
                    </a:p>
                  </a:txBody>
                  <a:tcPr marL="54864" marR="54864" marT="0" marB="0" anchor="ctr">
                    <a:solidFill>
                      <a:srgbClr val="FFFFFF"/>
                    </a:solidFill>
                  </a:tcPr>
                </a:tc>
                <a:tc>
                  <a:txBody>
                    <a:bodyPr/>
                    <a:lstStyle/>
                    <a:p>
                      <a:pPr algn="ctr"/>
                      <a:r>
                        <a:rPr sz="1800" b="0">
                          <a:solidFill>
                            <a:srgbClr val="222222"/>
                          </a:solidFill>
                          <a:latin typeface="Calibri"/>
                        </a:rPr>
                        <a:t>0</a:t>
                      </a:r>
                    </a:p>
                  </a:txBody>
                  <a:tcPr marL="54864" marR="54864" marT="0" marB="0" anchor="ctr">
                    <a:solidFill>
                      <a:srgbClr val="FFFFFF"/>
                    </a:solidFill>
                  </a:tcPr>
                </a:tc>
                <a:tc>
                  <a:txBody>
                    <a:bodyPr/>
                    <a:lstStyle/>
                    <a:p>
                      <a:pPr algn="ctr"/>
                      <a:r>
                        <a:rPr sz="1800" b="0">
                          <a:solidFill>
                            <a:srgbClr val="222222"/>
                          </a:solidFill>
                          <a:latin typeface="Calibri"/>
                        </a:rPr>
                        <a:t>0</a:t>
                      </a:r>
                    </a:p>
                  </a:txBody>
                  <a:tcPr marL="54864" marR="54864" marT="0" marB="0" anchor="ctr">
                    <a:solidFill>
                      <a:srgbClr val="FFFFFF"/>
                    </a:solidFill>
                  </a:tcPr>
                </a:tc>
                <a:extLst>
                  <a:ext uri="{0D108BD9-81ED-4DB2-BD59-A6C34878D82A}">
                    <a16:rowId xmlns:a16="http://schemas.microsoft.com/office/drawing/2014/main" val="10005"/>
                  </a:ext>
                </a:extLst>
              </a:tr>
              <a:tr h="484632">
                <a:tc>
                  <a:txBody>
                    <a:bodyPr/>
                    <a:lstStyle/>
                    <a:p>
                      <a:pPr algn="ctr"/>
                      <a:r>
                        <a:rPr sz="1800" b="0">
                          <a:solidFill>
                            <a:srgbClr val="222222"/>
                          </a:solidFill>
                          <a:latin typeface="Calibri"/>
                        </a:rPr>
                        <a:t>5</a:t>
                      </a:r>
                    </a:p>
                  </a:txBody>
                  <a:tcPr marL="54864" marR="54864" marT="0" marB="0" anchor="ctr">
                    <a:solidFill>
                      <a:srgbClr val="EDF2F8"/>
                    </a:solidFill>
                  </a:tcPr>
                </a:tc>
                <a:tc>
                  <a:txBody>
                    <a:bodyPr/>
                    <a:lstStyle/>
                    <a:p>
                      <a:pPr algn="ctr"/>
                      <a:r>
                        <a:rPr sz="1800" b="0">
                          <a:solidFill>
                            <a:srgbClr val="222222"/>
                          </a:solidFill>
                          <a:latin typeface="Calibri"/>
                        </a:rPr>
                        <a:t>1</a:t>
                      </a:r>
                    </a:p>
                  </a:txBody>
                  <a:tcPr marL="54864" marR="54864" marT="0" marB="0" anchor="ctr">
                    <a:solidFill>
                      <a:srgbClr val="EDF2F8"/>
                    </a:solidFill>
                  </a:tcPr>
                </a:tc>
                <a:tc>
                  <a:txBody>
                    <a:bodyPr/>
                    <a:lstStyle/>
                    <a:p>
                      <a:pPr algn="ctr"/>
                      <a:r>
                        <a:rPr sz="1800" b="0">
                          <a:solidFill>
                            <a:srgbClr val="222222"/>
                          </a:solidFill>
                          <a:latin typeface="Calibri"/>
                        </a:rPr>
                        <a:t>0</a:t>
                      </a:r>
                    </a:p>
                  </a:txBody>
                  <a:tcPr marL="54864" marR="54864" marT="0" marB="0" anchor="ctr">
                    <a:solidFill>
                      <a:srgbClr val="EDF2F8"/>
                    </a:solidFill>
                  </a:tcPr>
                </a:tc>
                <a:tc>
                  <a:txBody>
                    <a:bodyPr/>
                    <a:lstStyle/>
                    <a:p>
                      <a:pPr algn="ctr"/>
                      <a:r>
                        <a:rPr sz="1800" b="0">
                          <a:solidFill>
                            <a:srgbClr val="222222"/>
                          </a:solidFill>
                          <a:latin typeface="Calibri"/>
                        </a:rPr>
                        <a:t>1</a:t>
                      </a:r>
                    </a:p>
                  </a:txBody>
                  <a:tcPr marL="54864" marR="54864" marT="0" marB="0" anchor="ctr">
                    <a:solidFill>
                      <a:srgbClr val="EDF2F8"/>
                    </a:solidFill>
                  </a:tcPr>
                </a:tc>
                <a:extLst>
                  <a:ext uri="{0D108BD9-81ED-4DB2-BD59-A6C34878D82A}">
                    <a16:rowId xmlns:a16="http://schemas.microsoft.com/office/drawing/2014/main" val="10006"/>
                  </a:ext>
                </a:extLst>
              </a:tr>
              <a:tr h="484632">
                <a:tc>
                  <a:txBody>
                    <a:bodyPr/>
                    <a:lstStyle/>
                    <a:p>
                      <a:pPr algn="ctr"/>
                      <a:r>
                        <a:rPr sz="1800" b="0">
                          <a:solidFill>
                            <a:srgbClr val="222222"/>
                          </a:solidFill>
                          <a:latin typeface="Calibri"/>
                        </a:rPr>
                        <a:t>6</a:t>
                      </a:r>
                    </a:p>
                  </a:txBody>
                  <a:tcPr marL="54864" marR="54864" marT="0" marB="0" anchor="ctr">
                    <a:solidFill>
                      <a:srgbClr val="FFFFFF"/>
                    </a:solidFill>
                  </a:tcPr>
                </a:tc>
                <a:tc>
                  <a:txBody>
                    <a:bodyPr/>
                    <a:lstStyle/>
                    <a:p>
                      <a:pPr algn="ctr"/>
                      <a:r>
                        <a:rPr sz="1800" b="0">
                          <a:solidFill>
                            <a:srgbClr val="222222"/>
                          </a:solidFill>
                          <a:latin typeface="Calibri"/>
                        </a:rPr>
                        <a:t>1</a:t>
                      </a:r>
                    </a:p>
                  </a:txBody>
                  <a:tcPr marL="54864" marR="54864" marT="0" marB="0" anchor="ctr">
                    <a:solidFill>
                      <a:srgbClr val="FFFFFF"/>
                    </a:solidFill>
                  </a:tcPr>
                </a:tc>
                <a:tc>
                  <a:txBody>
                    <a:bodyPr/>
                    <a:lstStyle/>
                    <a:p>
                      <a:pPr algn="ctr"/>
                      <a:r>
                        <a:rPr sz="1800" b="0">
                          <a:solidFill>
                            <a:srgbClr val="222222"/>
                          </a:solidFill>
                          <a:latin typeface="Calibri"/>
                        </a:rPr>
                        <a:t>1</a:t>
                      </a:r>
                    </a:p>
                  </a:txBody>
                  <a:tcPr marL="54864" marR="54864" marT="0" marB="0" anchor="ctr">
                    <a:solidFill>
                      <a:srgbClr val="FFFFFF"/>
                    </a:solidFill>
                  </a:tcPr>
                </a:tc>
                <a:tc>
                  <a:txBody>
                    <a:bodyPr/>
                    <a:lstStyle/>
                    <a:p>
                      <a:pPr algn="ctr"/>
                      <a:r>
                        <a:rPr sz="1800" b="0">
                          <a:solidFill>
                            <a:srgbClr val="222222"/>
                          </a:solidFill>
                          <a:latin typeface="Calibri"/>
                        </a:rPr>
                        <a:t>0</a:t>
                      </a:r>
                    </a:p>
                  </a:txBody>
                  <a:tcPr marL="54864" marR="54864" marT="0" marB="0" anchor="ctr">
                    <a:solidFill>
                      <a:srgbClr val="FFFFFF"/>
                    </a:solidFill>
                  </a:tcPr>
                </a:tc>
                <a:extLst>
                  <a:ext uri="{0D108BD9-81ED-4DB2-BD59-A6C34878D82A}">
                    <a16:rowId xmlns:a16="http://schemas.microsoft.com/office/drawing/2014/main" val="10007"/>
                  </a:ext>
                </a:extLst>
              </a:tr>
              <a:tr h="484632">
                <a:tc>
                  <a:txBody>
                    <a:bodyPr/>
                    <a:lstStyle/>
                    <a:p>
                      <a:pPr algn="ctr"/>
                      <a:r>
                        <a:rPr sz="1800" b="0">
                          <a:solidFill>
                            <a:srgbClr val="222222"/>
                          </a:solidFill>
                          <a:latin typeface="Calibri"/>
                        </a:rPr>
                        <a:t>7</a:t>
                      </a:r>
                    </a:p>
                  </a:txBody>
                  <a:tcPr marL="54864" marR="54864" marT="0" marB="0" anchor="ctr">
                    <a:solidFill>
                      <a:srgbClr val="EDF2F8"/>
                    </a:solidFill>
                  </a:tcPr>
                </a:tc>
                <a:tc>
                  <a:txBody>
                    <a:bodyPr/>
                    <a:lstStyle/>
                    <a:p>
                      <a:pPr algn="ctr"/>
                      <a:r>
                        <a:rPr sz="1800" b="0">
                          <a:solidFill>
                            <a:srgbClr val="222222"/>
                          </a:solidFill>
                          <a:latin typeface="Calibri"/>
                        </a:rPr>
                        <a:t>1</a:t>
                      </a:r>
                    </a:p>
                  </a:txBody>
                  <a:tcPr marL="54864" marR="54864" marT="0" marB="0" anchor="ctr">
                    <a:solidFill>
                      <a:srgbClr val="EDF2F8"/>
                    </a:solidFill>
                  </a:tcPr>
                </a:tc>
                <a:tc>
                  <a:txBody>
                    <a:bodyPr/>
                    <a:lstStyle/>
                    <a:p>
                      <a:pPr algn="ctr"/>
                      <a:r>
                        <a:rPr sz="1800" b="0">
                          <a:solidFill>
                            <a:srgbClr val="222222"/>
                          </a:solidFill>
                          <a:latin typeface="Calibri"/>
                        </a:rPr>
                        <a:t>1</a:t>
                      </a:r>
                    </a:p>
                  </a:txBody>
                  <a:tcPr marL="54864" marR="54864" marT="0" marB="0" anchor="ctr">
                    <a:solidFill>
                      <a:srgbClr val="EDF2F8"/>
                    </a:solidFill>
                  </a:tcPr>
                </a:tc>
                <a:tc>
                  <a:txBody>
                    <a:bodyPr/>
                    <a:lstStyle/>
                    <a:p>
                      <a:pPr algn="ctr"/>
                      <a:r>
                        <a:rPr sz="1800" b="0">
                          <a:solidFill>
                            <a:srgbClr val="222222"/>
                          </a:solidFill>
                          <a:latin typeface="Calibri"/>
                        </a:rPr>
                        <a:t>1</a:t>
                      </a:r>
                    </a:p>
                  </a:txBody>
                  <a:tcPr marL="54864" marR="54864" marT="0" marB="0" anchor="ctr">
                    <a:solidFill>
                      <a:srgbClr val="EDF2F8"/>
                    </a:solidFill>
                  </a:tcPr>
                </a:tc>
                <a:extLst>
                  <a:ext uri="{0D108BD9-81ED-4DB2-BD59-A6C34878D82A}">
                    <a16:rowId xmlns:a16="http://schemas.microsoft.com/office/drawing/2014/main" val="10008"/>
                  </a:ext>
                </a:extLst>
              </a:tr>
            </a:tbl>
          </a:graphicData>
        </a:graphic>
      </p:graphicFrame>
      <p:sp>
        <p:nvSpPr>
          <p:cNvPr id="8" name="Oval 7"/>
          <p:cNvSpPr/>
          <p:nvPr/>
        </p:nvSpPr>
        <p:spPr>
          <a:xfrm>
            <a:off x="5989320" y="1417320"/>
            <a:ext cx="502920" cy="502920"/>
          </a:xfrm>
          <a:prstGeom prst="ellipse">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1</a:t>
            </a:r>
          </a:p>
        </p:txBody>
      </p:sp>
      <p:sp>
        <p:nvSpPr>
          <p:cNvPr id="9" name="TextBox 8"/>
          <p:cNvSpPr txBox="1"/>
          <p:nvPr/>
        </p:nvSpPr>
        <p:spPr>
          <a:xfrm>
            <a:off x="6720840" y="1371600"/>
            <a:ext cx="4937760" cy="640080"/>
          </a:xfrm>
          <a:prstGeom prst="rect">
            <a:avLst/>
          </a:prstGeom>
          <a:noFill/>
        </p:spPr>
        <p:txBody>
          <a:bodyPr wrap="square" lIns="0" tIns="0" rIns="0" bIns="0" anchor="ctr">
            <a:spAutoFit/>
          </a:bodyPr>
          <a:lstStyle/>
          <a:p>
            <a:pPr algn="l">
              <a:spcAft>
                <a:spcPts val="0"/>
              </a:spcAft>
            </a:pPr>
            <a:r>
              <a:rPr sz="1900" b="0" i="0">
                <a:solidFill>
                  <a:srgbClr val="222222"/>
                </a:solidFill>
                <a:latin typeface="Calibri"/>
              </a:rPr>
              <a:t>Count the rows:  3 inputs  →  2</a:t>
            </a:r>
            <a:r>
              <a:rPr sz="1900" b="0" i="0" baseline="30000">
                <a:solidFill>
                  <a:srgbClr val="222222"/>
                </a:solidFill>
                <a:latin typeface="Calibri"/>
              </a:rPr>
              <a:t>3</a:t>
            </a:r>
            <a:r>
              <a:rPr sz="1900" b="0" i="0">
                <a:solidFill>
                  <a:srgbClr val="222222"/>
                </a:solidFill>
                <a:latin typeface="Calibri"/>
              </a:rPr>
              <a:t>  =  8 rows</a:t>
            </a:r>
          </a:p>
        </p:txBody>
      </p:sp>
      <p:sp>
        <p:nvSpPr>
          <p:cNvPr id="10" name="Oval 9"/>
          <p:cNvSpPr/>
          <p:nvPr/>
        </p:nvSpPr>
        <p:spPr>
          <a:xfrm>
            <a:off x="5989320" y="2286000"/>
            <a:ext cx="502920" cy="502920"/>
          </a:xfrm>
          <a:prstGeom prst="ellipse">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2</a:t>
            </a:r>
          </a:p>
        </p:txBody>
      </p:sp>
      <p:sp>
        <p:nvSpPr>
          <p:cNvPr id="11" name="TextBox 10"/>
          <p:cNvSpPr txBox="1"/>
          <p:nvPr/>
        </p:nvSpPr>
        <p:spPr>
          <a:xfrm>
            <a:off x="6720840" y="2240280"/>
            <a:ext cx="4937760" cy="640080"/>
          </a:xfrm>
          <a:prstGeom prst="rect">
            <a:avLst/>
          </a:prstGeom>
          <a:noFill/>
        </p:spPr>
        <p:txBody>
          <a:bodyPr wrap="square" lIns="0" tIns="0" rIns="0" bIns="0" anchor="ctr">
            <a:spAutoFit/>
          </a:bodyPr>
          <a:lstStyle/>
          <a:p>
            <a:pPr algn="l">
              <a:spcAft>
                <a:spcPts val="0"/>
              </a:spcAft>
            </a:pPr>
            <a:r>
              <a:rPr sz="1900" b="1" i="0">
                <a:solidFill>
                  <a:srgbClr val="222222"/>
                </a:solidFill>
                <a:latin typeface="Calibri"/>
              </a:rPr>
              <a:t>Column C (last): </a:t>
            </a:r>
            <a:r>
              <a:rPr sz="1900" b="0" i="0">
                <a:solidFill>
                  <a:srgbClr val="222222"/>
                </a:solidFill>
                <a:latin typeface="Calibri"/>
              </a:rPr>
              <a:t>flip every row  →  0 1 0 1 …</a:t>
            </a:r>
          </a:p>
        </p:txBody>
      </p:sp>
      <p:sp>
        <p:nvSpPr>
          <p:cNvPr id="12" name="Oval 11"/>
          <p:cNvSpPr/>
          <p:nvPr/>
        </p:nvSpPr>
        <p:spPr>
          <a:xfrm>
            <a:off x="5989320" y="3154680"/>
            <a:ext cx="502920" cy="502920"/>
          </a:xfrm>
          <a:prstGeom prst="ellipse">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3</a:t>
            </a:r>
          </a:p>
        </p:txBody>
      </p:sp>
      <p:sp>
        <p:nvSpPr>
          <p:cNvPr id="13" name="TextBox 12"/>
          <p:cNvSpPr txBox="1"/>
          <p:nvPr/>
        </p:nvSpPr>
        <p:spPr>
          <a:xfrm>
            <a:off x="6720840" y="3108960"/>
            <a:ext cx="4937760" cy="640080"/>
          </a:xfrm>
          <a:prstGeom prst="rect">
            <a:avLst/>
          </a:prstGeom>
          <a:noFill/>
        </p:spPr>
        <p:txBody>
          <a:bodyPr wrap="square" lIns="0" tIns="0" rIns="0" bIns="0" anchor="ctr">
            <a:spAutoFit/>
          </a:bodyPr>
          <a:lstStyle/>
          <a:p>
            <a:pPr algn="l">
              <a:spcAft>
                <a:spcPts val="0"/>
              </a:spcAft>
            </a:pPr>
            <a:r>
              <a:rPr sz="1900" b="1" i="0">
                <a:solidFill>
                  <a:srgbClr val="222222"/>
                </a:solidFill>
                <a:latin typeface="Calibri"/>
              </a:rPr>
              <a:t>Column B: </a:t>
            </a:r>
            <a:r>
              <a:rPr sz="1900" b="0" i="0">
                <a:solidFill>
                  <a:srgbClr val="222222"/>
                </a:solidFill>
                <a:latin typeface="Calibri"/>
              </a:rPr>
              <a:t>flip every 2 rows  →  0 0 1 1 …</a:t>
            </a:r>
          </a:p>
        </p:txBody>
      </p:sp>
      <p:sp>
        <p:nvSpPr>
          <p:cNvPr id="14" name="Oval 13"/>
          <p:cNvSpPr/>
          <p:nvPr/>
        </p:nvSpPr>
        <p:spPr>
          <a:xfrm>
            <a:off x="5989320" y="4023359"/>
            <a:ext cx="502920" cy="502920"/>
          </a:xfrm>
          <a:prstGeom prst="ellipse">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4</a:t>
            </a:r>
          </a:p>
        </p:txBody>
      </p:sp>
      <p:sp>
        <p:nvSpPr>
          <p:cNvPr id="15" name="TextBox 14"/>
          <p:cNvSpPr txBox="1"/>
          <p:nvPr/>
        </p:nvSpPr>
        <p:spPr>
          <a:xfrm>
            <a:off x="6720840" y="3977639"/>
            <a:ext cx="4937760" cy="640080"/>
          </a:xfrm>
          <a:prstGeom prst="rect">
            <a:avLst/>
          </a:prstGeom>
          <a:noFill/>
        </p:spPr>
        <p:txBody>
          <a:bodyPr wrap="square" lIns="0" tIns="0" rIns="0" bIns="0" anchor="ctr">
            <a:spAutoFit/>
          </a:bodyPr>
          <a:lstStyle/>
          <a:p>
            <a:pPr algn="l">
              <a:spcAft>
                <a:spcPts val="0"/>
              </a:spcAft>
            </a:pPr>
            <a:r>
              <a:rPr sz="1900" b="1" i="0">
                <a:solidFill>
                  <a:srgbClr val="222222"/>
                </a:solidFill>
                <a:latin typeface="Calibri"/>
              </a:rPr>
              <a:t>Column A (first): </a:t>
            </a:r>
            <a:r>
              <a:rPr sz="1900" b="0" i="0">
                <a:solidFill>
                  <a:srgbClr val="222222"/>
                </a:solidFill>
                <a:latin typeface="Calibri"/>
              </a:rPr>
              <a:t>flip every 4 rows  →  0000 1111</a:t>
            </a:r>
          </a:p>
        </p:txBody>
      </p:sp>
      <p:sp>
        <p:nvSpPr>
          <p:cNvPr id="16" name="Rounded Rectangle 15"/>
          <p:cNvSpPr/>
          <p:nvPr/>
        </p:nvSpPr>
        <p:spPr>
          <a:xfrm>
            <a:off x="5989320" y="5029200"/>
            <a:ext cx="5650992" cy="822960"/>
          </a:xfrm>
          <a:prstGeom prst="roundRect">
            <a:avLst>
              <a:gd name="adj" fmla="val 6000"/>
            </a:avLst>
          </a:prstGeom>
          <a:solidFill>
            <a:srgbClr val="F8E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263640" y="5029200"/>
            <a:ext cx="5212080" cy="822960"/>
          </a:xfrm>
          <a:prstGeom prst="rect">
            <a:avLst/>
          </a:prstGeom>
          <a:noFill/>
        </p:spPr>
        <p:txBody>
          <a:bodyPr wrap="square" lIns="0" tIns="0" rIns="0" bIns="0" anchor="ctr">
            <a:spAutoFit/>
          </a:bodyPr>
          <a:lstStyle/>
          <a:p>
            <a:pPr algn="l">
              <a:spcAft>
                <a:spcPts val="0"/>
              </a:spcAft>
            </a:pPr>
            <a:r>
              <a:rPr sz="1900" b="1" i="0">
                <a:solidFill>
                  <a:srgbClr val="8E1B22"/>
                </a:solidFill>
                <a:latin typeface="Calibri"/>
              </a:rPr>
              <a:t>Shortcut: </a:t>
            </a:r>
            <a:r>
              <a:rPr sz="1900" b="0" i="0">
                <a:solidFill>
                  <a:srgbClr val="222222"/>
                </a:solidFill>
                <a:latin typeface="Calibri"/>
              </a:rPr>
              <a:t>the rows are just 0 to 7 counted in binary!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548640" y="429768"/>
            <a:ext cx="566928" cy="566928"/>
          </a:xfrm>
          <a:prstGeom prst="ellipse">
            <a:avLst/>
          </a:prstGeom>
          <a:solidFill>
            <a:srgbClr val="8E1B2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Calibri"/>
              </a:rPr>
              <a:t>3</a:t>
            </a:r>
          </a:p>
        </p:txBody>
      </p:sp>
      <p:sp>
        <p:nvSpPr>
          <p:cNvPr id="3" name="TextBox 2"/>
          <p:cNvSpPr txBox="1"/>
          <p:nvPr/>
        </p:nvSpPr>
        <p:spPr>
          <a:xfrm>
            <a:off x="7068312" y="182880"/>
            <a:ext cx="4572000" cy="274320"/>
          </a:xfrm>
          <a:prstGeom prst="rect">
            <a:avLst/>
          </a:prstGeom>
          <a:noFill/>
        </p:spPr>
        <p:txBody>
          <a:bodyPr wrap="square" lIns="0" tIns="0" rIns="0" bIns="0" anchor="t">
            <a:spAutoFit/>
          </a:bodyPr>
          <a:lstStyle/>
          <a:p>
            <a:pPr algn="r">
              <a:spcAft>
                <a:spcPts val="0"/>
              </a:spcAft>
            </a:pPr>
            <a:r>
              <a:rPr sz="1200" b="0" i="0">
                <a:solidFill>
                  <a:srgbClr val="6B6B6B"/>
                </a:solidFill>
                <a:latin typeface="Calibri"/>
              </a:rPr>
              <a:t>Topic 3 of 5  ·  Logic Gates</a:t>
            </a:r>
          </a:p>
        </p:txBody>
      </p:sp>
      <p:sp>
        <p:nvSpPr>
          <p:cNvPr id="4" name="TextBox 3"/>
          <p:cNvSpPr txBox="1"/>
          <p:nvPr/>
        </p:nvSpPr>
        <p:spPr>
          <a:xfrm>
            <a:off x="1298448" y="365760"/>
            <a:ext cx="10341864" cy="713232"/>
          </a:xfrm>
          <a:prstGeom prst="rect">
            <a:avLst/>
          </a:prstGeom>
          <a:noFill/>
        </p:spPr>
        <p:txBody>
          <a:bodyPr wrap="square" lIns="0" tIns="0" rIns="0" bIns="0" anchor="ctr">
            <a:spAutoFit/>
          </a:bodyPr>
          <a:lstStyle/>
          <a:p>
            <a:pPr algn="l">
              <a:spcAft>
                <a:spcPts val="0"/>
              </a:spcAft>
            </a:pPr>
            <a:r>
              <a:rPr sz="3400" b="1" i="0">
                <a:solidFill>
                  <a:srgbClr val="1B3A6B"/>
                </a:solidFill>
                <a:latin typeface="Calibri"/>
              </a:rPr>
              <a:t>Logic Gates: The Basic Three</a:t>
            </a:r>
          </a:p>
        </p:txBody>
      </p:sp>
      <p:sp>
        <p:nvSpPr>
          <p:cNvPr id="5" name="TextBox 4"/>
          <p:cNvSpPr txBox="1"/>
          <p:nvPr/>
        </p:nvSpPr>
        <p:spPr>
          <a:xfrm>
            <a:off x="548640" y="6428232"/>
            <a:ext cx="5486400" cy="274320"/>
          </a:xfrm>
          <a:prstGeom prst="rect">
            <a:avLst/>
          </a:prstGeom>
          <a:noFill/>
        </p:spPr>
        <p:txBody>
          <a:bodyPr wrap="square" lIns="0" tIns="0" rIns="0" bIns="0" anchor="t">
            <a:spAutoFit/>
          </a:bodyPr>
          <a:lstStyle/>
          <a:p>
            <a:pPr algn="l">
              <a:spcAft>
                <a:spcPts val="0"/>
              </a:spcAft>
            </a:pPr>
            <a:r>
              <a:rPr sz="1100" b="0" i="0">
                <a:solidFill>
                  <a:srgbClr val="6B6B6B"/>
                </a:solidFill>
                <a:latin typeface="Calibri"/>
              </a:rPr>
              <a:t>CSE207  ·  Digital Logic Design  ·  Lecture 01</a:t>
            </a:r>
          </a:p>
        </p:txBody>
      </p:sp>
      <p:sp>
        <p:nvSpPr>
          <p:cNvPr id="6" name="TextBox 5"/>
          <p:cNvSpPr txBox="1"/>
          <p:nvPr/>
        </p:nvSpPr>
        <p:spPr>
          <a:xfrm>
            <a:off x="10725912" y="6428232"/>
            <a:ext cx="914400" cy="274320"/>
          </a:xfrm>
          <a:prstGeom prst="rect">
            <a:avLst/>
          </a:prstGeom>
          <a:noFill/>
        </p:spPr>
        <p:txBody>
          <a:bodyPr wrap="square" lIns="0" tIns="0" rIns="0" bIns="0" anchor="t">
            <a:spAutoFit/>
          </a:bodyPr>
          <a:lstStyle/>
          <a:p>
            <a:pPr algn="r">
              <a:spcAft>
                <a:spcPts val="0"/>
              </a:spcAft>
            </a:pPr>
            <a:r>
              <a:rPr sz="1100" b="0" i="0">
                <a:solidFill>
                  <a:srgbClr val="6B6B6B"/>
                </a:solidFill>
                <a:latin typeface="Calibri"/>
              </a:rPr>
              <a:t>8</a:t>
            </a:r>
          </a:p>
        </p:txBody>
      </p:sp>
      <p:sp>
        <p:nvSpPr>
          <p:cNvPr id="7" name="TextBox 6"/>
          <p:cNvSpPr txBox="1"/>
          <p:nvPr/>
        </p:nvSpPr>
        <p:spPr>
          <a:xfrm>
            <a:off x="548640" y="1280160"/>
            <a:ext cx="11091672" cy="457200"/>
          </a:xfrm>
          <a:prstGeom prst="rect">
            <a:avLst/>
          </a:prstGeom>
          <a:noFill/>
        </p:spPr>
        <p:txBody>
          <a:bodyPr wrap="square" lIns="0" tIns="0" rIns="0" bIns="0" anchor="t">
            <a:spAutoFit/>
          </a:bodyPr>
          <a:lstStyle/>
          <a:p>
            <a:pPr algn="l">
              <a:spcAft>
                <a:spcPts val="0"/>
              </a:spcAft>
            </a:pPr>
            <a:r>
              <a:rPr sz="1900" b="0" i="0">
                <a:solidFill>
                  <a:srgbClr val="222222"/>
                </a:solidFill>
                <a:latin typeface="Calibri"/>
              </a:rPr>
              <a:t>A logic gate is a tiny circuit: it takes 0/1 inputs and gives one 0/1 output.</a:t>
            </a:r>
          </a:p>
        </p:txBody>
      </p:sp>
      <p:sp>
        <p:nvSpPr>
          <p:cNvPr id="8" name="Rounded Rectangle 7"/>
          <p:cNvSpPr/>
          <p:nvPr/>
        </p:nvSpPr>
        <p:spPr>
          <a:xfrm>
            <a:off x="548640" y="1828800"/>
            <a:ext cx="3520440" cy="4389120"/>
          </a:xfrm>
          <a:prstGeom prst="roundRect">
            <a:avLst>
              <a:gd name="adj" fmla="val 6000"/>
            </a:avLst>
          </a:prstGeom>
          <a:solidFill>
            <a:srgbClr val="F8E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not.png"/>
          <p:cNvPicPr>
            <a:picLocks noChangeAspect="1"/>
          </p:cNvPicPr>
          <p:nvPr/>
        </p:nvPicPr>
        <p:blipFill>
          <a:blip r:embed="rId3"/>
          <a:stretch>
            <a:fillRect/>
          </a:stretch>
        </p:blipFill>
        <p:spPr>
          <a:xfrm>
            <a:off x="1102475" y="1965960"/>
            <a:ext cx="2412769" cy="1097280"/>
          </a:xfrm>
          <a:prstGeom prst="rect">
            <a:avLst/>
          </a:prstGeom>
        </p:spPr>
      </p:pic>
      <p:sp>
        <p:nvSpPr>
          <p:cNvPr id="10" name="TextBox 9"/>
          <p:cNvSpPr txBox="1"/>
          <p:nvPr/>
        </p:nvSpPr>
        <p:spPr>
          <a:xfrm>
            <a:off x="548640" y="3127248"/>
            <a:ext cx="3520440" cy="960120"/>
          </a:xfrm>
          <a:prstGeom prst="rect">
            <a:avLst/>
          </a:prstGeom>
          <a:noFill/>
        </p:spPr>
        <p:txBody>
          <a:bodyPr wrap="square" lIns="0" tIns="0" rIns="0" bIns="0" anchor="t">
            <a:spAutoFit/>
          </a:bodyPr>
          <a:lstStyle/>
          <a:p>
            <a:pPr algn="ctr">
              <a:spcAft>
                <a:spcPts val="0"/>
              </a:spcAft>
            </a:pPr>
            <a:r>
              <a:rPr sz="2400" b="1" i="0">
                <a:solidFill>
                  <a:srgbClr val="8E1B22"/>
                </a:solidFill>
                <a:latin typeface="Calibri"/>
              </a:rPr>
              <a:t>NOT</a:t>
            </a:r>
            <a:r>
              <a:rPr sz="1900" b="1" i="0">
                <a:solidFill>
                  <a:srgbClr val="1B3A6B"/>
                </a:solidFill>
                <a:latin typeface="Calibri"/>
              </a:rPr>
              <a:t>    Y = A'</a:t>
            </a:r>
          </a:p>
          <a:p>
            <a:pPr algn="ctr">
              <a:spcAft>
                <a:spcPts val="0"/>
              </a:spcAft>
            </a:pPr>
            <a:r>
              <a:rPr sz="1500" b="0" i="0">
                <a:solidFill>
                  <a:srgbClr val="222222"/>
                </a:solidFill>
                <a:latin typeface="Calibri"/>
              </a:rPr>
              <a:t>Flips the input</a:t>
            </a:r>
          </a:p>
        </p:txBody>
      </p:sp>
      <p:graphicFrame>
        <p:nvGraphicFramePr>
          <p:cNvPr id="11" name="Table 10"/>
          <p:cNvGraphicFramePr>
            <a:graphicFrameLocks noGrp="1"/>
          </p:cNvGraphicFramePr>
          <p:nvPr/>
        </p:nvGraphicFramePr>
        <p:xfrm>
          <a:off x="1577340" y="4206240"/>
          <a:ext cx="1463040" cy="1097280"/>
        </p:xfrm>
        <a:graphic>
          <a:graphicData uri="http://schemas.openxmlformats.org/drawingml/2006/table">
            <a:tbl>
              <a:tblPr firstRow="1">
                <a:tableStyleId>{5C22544A-7EE6-4342-B048-85BDC9FD1C3A}</a:tableStyleId>
              </a:tblPr>
              <a:tblGrid>
                <a:gridCol w="73152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tblGrid>
              <a:tr h="365760">
                <a:tc>
                  <a:txBody>
                    <a:bodyPr/>
                    <a:lstStyle/>
                    <a:p>
                      <a:pPr algn="ctr"/>
                      <a:r>
                        <a:rPr sz="1500" b="1">
                          <a:solidFill>
                            <a:srgbClr val="FFFFFF"/>
                          </a:solidFill>
                          <a:latin typeface="Calibri"/>
                        </a:rPr>
                        <a:t>A</a:t>
                      </a:r>
                    </a:p>
                  </a:txBody>
                  <a:tcPr marL="54864" marR="54864" marT="0" marB="0" anchor="ctr">
                    <a:solidFill>
                      <a:srgbClr val="1B3A6B"/>
                    </a:solidFill>
                  </a:tcPr>
                </a:tc>
                <a:tc>
                  <a:txBody>
                    <a:bodyPr/>
                    <a:lstStyle/>
                    <a:p>
                      <a:pPr algn="ctr"/>
                      <a:r>
                        <a:rPr sz="1500" b="1">
                          <a:solidFill>
                            <a:srgbClr val="FFFFFF"/>
                          </a:solidFill>
                          <a:latin typeface="Calibri"/>
                        </a:rPr>
                        <a:t>Y</a:t>
                      </a:r>
                    </a:p>
                  </a:txBody>
                  <a:tcPr marL="54864" marR="54864" marT="0" marB="0" anchor="ctr">
                    <a:solidFill>
                      <a:srgbClr val="1B3A6B"/>
                    </a:solidFill>
                  </a:tcPr>
                </a:tc>
                <a:extLst>
                  <a:ext uri="{0D108BD9-81ED-4DB2-BD59-A6C34878D82A}">
                    <a16:rowId xmlns:a16="http://schemas.microsoft.com/office/drawing/2014/main" val="10000"/>
                  </a:ext>
                </a:extLst>
              </a:tr>
              <a:tr h="365760">
                <a:tc>
                  <a:txBody>
                    <a:bodyPr/>
                    <a:lstStyle/>
                    <a:p>
                      <a:pPr algn="ctr"/>
                      <a:r>
                        <a:rPr sz="1500" b="0">
                          <a:solidFill>
                            <a:srgbClr val="222222"/>
                          </a:solidFill>
                          <a:latin typeface="Calibri"/>
                        </a:rPr>
                        <a:t>0</a:t>
                      </a:r>
                    </a:p>
                  </a:txBody>
                  <a:tcPr marL="54864" marR="54864" marT="0" marB="0" anchor="ctr">
                    <a:solidFill>
                      <a:srgbClr val="FFFFFF"/>
                    </a:solidFill>
                  </a:tcPr>
                </a:tc>
                <a:tc>
                  <a:txBody>
                    <a:bodyPr/>
                    <a:lstStyle/>
                    <a:p>
                      <a:pPr algn="ctr"/>
                      <a:r>
                        <a:rPr sz="1500" b="1">
                          <a:solidFill>
                            <a:srgbClr val="8E1B22"/>
                          </a:solidFill>
                          <a:latin typeface="Calibri"/>
                        </a:rPr>
                        <a:t>1</a:t>
                      </a:r>
                    </a:p>
                  </a:txBody>
                  <a:tcPr marL="54864" marR="54864" marT="0" marB="0" anchor="ctr">
                    <a:solidFill>
                      <a:srgbClr val="F8EEEF"/>
                    </a:solidFill>
                  </a:tcPr>
                </a:tc>
                <a:extLst>
                  <a:ext uri="{0D108BD9-81ED-4DB2-BD59-A6C34878D82A}">
                    <a16:rowId xmlns:a16="http://schemas.microsoft.com/office/drawing/2014/main" val="10001"/>
                  </a:ext>
                </a:extLst>
              </a:tr>
              <a:tr h="365760">
                <a:tc>
                  <a:txBody>
                    <a:bodyPr/>
                    <a:lstStyle/>
                    <a:p>
                      <a:pPr algn="ctr"/>
                      <a:r>
                        <a:rPr sz="1500" b="0">
                          <a:solidFill>
                            <a:srgbClr val="222222"/>
                          </a:solidFill>
                          <a:latin typeface="Calibri"/>
                        </a:rPr>
                        <a:t>1</a:t>
                      </a:r>
                    </a:p>
                  </a:txBody>
                  <a:tcPr marL="54864" marR="54864" marT="0" marB="0" anchor="ctr">
                    <a:solidFill>
                      <a:srgbClr val="EDF2F8"/>
                    </a:solidFill>
                  </a:tcPr>
                </a:tc>
                <a:tc>
                  <a:txBody>
                    <a:bodyPr/>
                    <a:lstStyle/>
                    <a:p>
                      <a:pPr algn="ctr"/>
                      <a:r>
                        <a:rPr sz="1500" b="1">
                          <a:solidFill>
                            <a:srgbClr val="8E1B22"/>
                          </a:solidFill>
                          <a:latin typeface="Calibri"/>
                        </a:rPr>
                        <a:t>0</a:t>
                      </a:r>
                    </a:p>
                  </a:txBody>
                  <a:tcPr marL="54864" marR="54864" marT="0" marB="0" anchor="ctr">
                    <a:solidFill>
                      <a:srgbClr val="F8EEEF"/>
                    </a:solidFill>
                  </a:tcPr>
                </a:tc>
                <a:extLst>
                  <a:ext uri="{0D108BD9-81ED-4DB2-BD59-A6C34878D82A}">
                    <a16:rowId xmlns:a16="http://schemas.microsoft.com/office/drawing/2014/main" val="10002"/>
                  </a:ext>
                </a:extLst>
              </a:tr>
            </a:tbl>
          </a:graphicData>
        </a:graphic>
      </p:graphicFrame>
      <p:sp>
        <p:nvSpPr>
          <p:cNvPr id="12" name="Rounded Rectangle 11"/>
          <p:cNvSpPr/>
          <p:nvPr/>
        </p:nvSpPr>
        <p:spPr>
          <a:xfrm>
            <a:off x="4334255" y="1828800"/>
            <a:ext cx="3520440" cy="4389120"/>
          </a:xfrm>
          <a:prstGeom prst="roundRect">
            <a:avLst>
              <a:gd name="adj" fmla="val 6000"/>
            </a:avLst>
          </a:prstGeom>
          <a:solidFill>
            <a:srgbClr val="ED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and.png"/>
          <p:cNvPicPr>
            <a:picLocks noChangeAspect="1"/>
          </p:cNvPicPr>
          <p:nvPr/>
        </p:nvPicPr>
        <p:blipFill>
          <a:blip r:embed="rId4"/>
          <a:stretch>
            <a:fillRect/>
          </a:stretch>
        </p:blipFill>
        <p:spPr>
          <a:xfrm>
            <a:off x="4888091" y="1965960"/>
            <a:ext cx="2412769" cy="1097280"/>
          </a:xfrm>
          <a:prstGeom prst="rect">
            <a:avLst/>
          </a:prstGeom>
        </p:spPr>
      </p:pic>
      <p:sp>
        <p:nvSpPr>
          <p:cNvPr id="14" name="TextBox 13"/>
          <p:cNvSpPr txBox="1"/>
          <p:nvPr/>
        </p:nvSpPr>
        <p:spPr>
          <a:xfrm>
            <a:off x="4334255" y="3127248"/>
            <a:ext cx="3520440" cy="960120"/>
          </a:xfrm>
          <a:prstGeom prst="rect">
            <a:avLst/>
          </a:prstGeom>
          <a:noFill/>
        </p:spPr>
        <p:txBody>
          <a:bodyPr wrap="square" lIns="0" tIns="0" rIns="0" bIns="0" anchor="t">
            <a:spAutoFit/>
          </a:bodyPr>
          <a:lstStyle/>
          <a:p>
            <a:pPr algn="ctr">
              <a:spcAft>
                <a:spcPts val="0"/>
              </a:spcAft>
            </a:pPr>
            <a:r>
              <a:rPr sz="2400" b="1" i="0">
                <a:solidFill>
                  <a:srgbClr val="8E1B22"/>
                </a:solidFill>
                <a:latin typeface="Calibri"/>
              </a:rPr>
              <a:t>AND</a:t>
            </a:r>
            <a:r>
              <a:rPr sz="1900" b="1" i="0">
                <a:solidFill>
                  <a:srgbClr val="1B3A6B"/>
                </a:solidFill>
                <a:latin typeface="Calibri"/>
              </a:rPr>
              <a:t>    Y = A · B</a:t>
            </a:r>
          </a:p>
          <a:p>
            <a:pPr algn="ctr">
              <a:spcAft>
                <a:spcPts val="0"/>
              </a:spcAft>
            </a:pPr>
            <a:r>
              <a:rPr sz="1500" b="0" i="0">
                <a:solidFill>
                  <a:srgbClr val="222222"/>
                </a:solidFill>
                <a:latin typeface="Calibri"/>
              </a:rPr>
              <a:t>1 only when ALL inputs are 1</a:t>
            </a:r>
          </a:p>
        </p:txBody>
      </p:sp>
      <p:graphicFrame>
        <p:nvGraphicFramePr>
          <p:cNvPr id="15" name="Table 14"/>
          <p:cNvGraphicFramePr>
            <a:graphicFrameLocks noGrp="1"/>
          </p:cNvGraphicFramePr>
          <p:nvPr/>
        </p:nvGraphicFramePr>
        <p:xfrm>
          <a:off x="4997195" y="4206240"/>
          <a:ext cx="2194560" cy="1828800"/>
        </p:xfrm>
        <a:graphic>
          <a:graphicData uri="http://schemas.openxmlformats.org/drawingml/2006/table">
            <a:tbl>
              <a:tblPr firstRow="1">
                <a:tableStyleId>{5C22544A-7EE6-4342-B048-85BDC9FD1C3A}</a:tableStyleId>
              </a:tblPr>
              <a:tblGrid>
                <a:gridCol w="73152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tblGrid>
              <a:tr h="365760">
                <a:tc>
                  <a:txBody>
                    <a:bodyPr/>
                    <a:lstStyle/>
                    <a:p>
                      <a:pPr algn="ctr"/>
                      <a:r>
                        <a:rPr sz="1500" b="1">
                          <a:solidFill>
                            <a:srgbClr val="FFFFFF"/>
                          </a:solidFill>
                          <a:latin typeface="Calibri"/>
                        </a:rPr>
                        <a:t>A</a:t>
                      </a:r>
                    </a:p>
                  </a:txBody>
                  <a:tcPr marL="54864" marR="54864" marT="0" marB="0" anchor="ctr">
                    <a:solidFill>
                      <a:srgbClr val="1B3A6B"/>
                    </a:solidFill>
                  </a:tcPr>
                </a:tc>
                <a:tc>
                  <a:txBody>
                    <a:bodyPr/>
                    <a:lstStyle/>
                    <a:p>
                      <a:pPr algn="ctr"/>
                      <a:r>
                        <a:rPr sz="1500" b="1">
                          <a:solidFill>
                            <a:srgbClr val="FFFFFF"/>
                          </a:solidFill>
                          <a:latin typeface="Calibri"/>
                        </a:rPr>
                        <a:t>B</a:t>
                      </a:r>
                    </a:p>
                  </a:txBody>
                  <a:tcPr marL="54864" marR="54864" marT="0" marB="0" anchor="ctr">
                    <a:solidFill>
                      <a:srgbClr val="1B3A6B"/>
                    </a:solidFill>
                  </a:tcPr>
                </a:tc>
                <a:tc>
                  <a:txBody>
                    <a:bodyPr/>
                    <a:lstStyle/>
                    <a:p>
                      <a:pPr algn="ctr"/>
                      <a:r>
                        <a:rPr sz="1500" b="1">
                          <a:solidFill>
                            <a:srgbClr val="FFFFFF"/>
                          </a:solidFill>
                          <a:latin typeface="Calibri"/>
                        </a:rPr>
                        <a:t>Y</a:t>
                      </a:r>
                    </a:p>
                  </a:txBody>
                  <a:tcPr marL="54864" marR="54864" marT="0" marB="0" anchor="ctr">
                    <a:solidFill>
                      <a:srgbClr val="1B3A6B"/>
                    </a:solidFill>
                  </a:tcPr>
                </a:tc>
                <a:extLst>
                  <a:ext uri="{0D108BD9-81ED-4DB2-BD59-A6C34878D82A}">
                    <a16:rowId xmlns:a16="http://schemas.microsoft.com/office/drawing/2014/main" val="10000"/>
                  </a:ext>
                </a:extLst>
              </a:tr>
              <a:tr h="365760">
                <a:tc>
                  <a:txBody>
                    <a:bodyPr/>
                    <a:lstStyle/>
                    <a:p>
                      <a:pPr algn="ctr"/>
                      <a:r>
                        <a:rPr sz="1500" b="0">
                          <a:solidFill>
                            <a:srgbClr val="222222"/>
                          </a:solidFill>
                          <a:latin typeface="Calibri"/>
                        </a:rPr>
                        <a:t>0</a:t>
                      </a:r>
                    </a:p>
                  </a:txBody>
                  <a:tcPr marL="54864" marR="54864" marT="0" marB="0" anchor="ctr">
                    <a:solidFill>
                      <a:srgbClr val="FFFFFF"/>
                    </a:solidFill>
                  </a:tcPr>
                </a:tc>
                <a:tc>
                  <a:txBody>
                    <a:bodyPr/>
                    <a:lstStyle/>
                    <a:p>
                      <a:pPr algn="ctr"/>
                      <a:r>
                        <a:rPr sz="1500" b="0">
                          <a:solidFill>
                            <a:srgbClr val="222222"/>
                          </a:solidFill>
                          <a:latin typeface="Calibri"/>
                        </a:rPr>
                        <a:t>0</a:t>
                      </a:r>
                    </a:p>
                  </a:txBody>
                  <a:tcPr marL="54864" marR="54864" marT="0" marB="0" anchor="ctr">
                    <a:solidFill>
                      <a:srgbClr val="FFFFFF"/>
                    </a:solidFill>
                  </a:tcPr>
                </a:tc>
                <a:tc>
                  <a:txBody>
                    <a:bodyPr/>
                    <a:lstStyle/>
                    <a:p>
                      <a:pPr algn="ctr"/>
                      <a:r>
                        <a:rPr sz="1500" b="1">
                          <a:solidFill>
                            <a:srgbClr val="8E1B22"/>
                          </a:solidFill>
                          <a:latin typeface="Calibri"/>
                        </a:rPr>
                        <a:t>0</a:t>
                      </a:r>
                    </a:p>
                  </a:txBody>
                  <a:tcPr marL="54864" marR="54864" marT="0" marB="0" anchor="ctr">
                    <a:solidFill>
                      <a:srgbClr val="F8EEEF"/>
                    </a:solidFill>
                  </a:tcPr>
                </a:tc>
                <a:extLst>
                  <a:ext uri="{0D108BD9-81ED-4DB2-BD59-A6C34878D82A}">
                    <a16:rowId xmlns:a16="http://schemas.microsoft.com/office/drawing/2014/main" val="10001"/>
                  </a:ext>
                </a:extLst>
              </a:tr>
              <a:tr h="365760">
                <a:tc>
                  <a:txBody>
                    <a:bodyPr/>
                    <a:lstStyle/>
                    <a:p>
                      <a:pPr algn="ctr"/>
                      <a:r>
                        <a:rPr sz="1500" b="0">
                          <a:solidFill>
                            <a:srgbClr val="222222"/>
                          </a:solidFill>
                          <a:latin typeface="Calibri"/>
                        </a:rPr>
                        <a:t>0</a:t>
                      </a:r>
                    </a:p>
                  </a:txBody>
                  <a:tcPr marL="54864" marR="54864" marT="0" marB="0" anchor="ctr">
                    <a:solidFill>
                      <a:srgbClr val="EDF2F8"/>
                    </a:solidFill>
                  </a:tcPr>
                </a:tc>
                <a:tc>
                  <a:txBody>
                    <a:bodyPr/>
                    <a:lstStyle/>
                    <a:p>
                      <a:pPr algn="ctr"/>
                      <a:r>
                        <a:rPr sz="1500" b="0">
                          <a:solidFill>
                            <a:srgbClr val="222222"/>
                          </a:solidFill>
                          <a:latin typeface="Calibri"/>
                        </a:rPr>
                        <a:t>1</a:t>
                      </a:r>
                    </a:p>
                  </a:txBody>
                  <a:tcPr marL="54864" marR="54864" marT="0" marB="0" anchor="ctr">
                    <a:solidFill>
                      <a:srgbClr val="EDF2F8"/>
                    </a:solidFill>
                  </a:tcPr>
                </a:tc>
                <a:tc>
                  <a:txBody>
                    <a:bodyPr/>
                    <a:lstStyle/>
                    <a:p>
                      <a:pPr algn="ctr"/>
                      <a:r>
                        <a:rPr sz="1500" b="1">
                          <a:solidFill>
                            <a:srgbClr val="8E1B22"/>
                          </a:solidFill>
                          <a:latin typeface="Calibri"/>
                        </a:rPr>
                        <a:t>0</a:t>
                      </a:r>
                    </a:p>
                  </a:txBody>
                  <a:tcPr marL="54864" marR="54864" marT="0" marB="0" anchor="ctr">
                    <a:solidFill>
                      <a:srgbClr val="F8EEEF"/>
                    </a:solidFill>
                  </a:tcPr>
                </a:tc>
                <a:extLst>
                  <a:ext uri="{0D108BD9-81ED-4DB2-BD59-A6C34878D82A}">
                    <a16:rowId xmlns:a16="http://schemas.microsoft.com/office/drawing/2014/main" val="10002"/>
                  </a:ext>
                </a:extLst>
              </a:tr>
              <a:tr h="365760">
                <a:tc>
                  <a:txBody>
                    <a:bodyPr/>
                    <a:lstStyle/>
                    <a:p>
                      <a:pPr algn="ctr"/>
                      <a:r>
                        <a:rPr sz="1500" b="0">
                          <a:solidFill>
                            <a:srgbClr val="222222"/>
                          </a:solidFill>
                          <a:latin typeface="Calibri"/>
                        </a:rPr>
                        <a:t>1</a:t>
                      </a:r>
                    </a:p>
                  </a:txBody>
                  <a:tcPr marL="54864" marR="54864" marT="0" marB="0" anchor="ctr">
                    <a:solidFill>
                      <a:srgbClr val="FFFFFF"/>
                    </a:solidFill>
                  </a:tcPr>
                </a:tc>
                <a:tc>
                  <a:txBody>
                    <a:bodyPr/>
                    <a:lstStyle/>
                    <a:p>
                      <a:pPr algn="ctr"/>
                      <a:r>
                        <a:rPr sz="1500" b="0">
                          <a:solidFill>
                            <a:srgbClr val="222222"/>
                          </a:solidFill>
                          <a:latin typeface="Calibri"/>
                        </a:rPr>
                        <a:t>0</a:t>
                      </a:r>
                    </a:p>
                  </a:txBody>
                  <a:tcPr marL="54864" marR="54864" marT="0" marB="0" anchor="ctr">
                    <a:solidFill>
                      <a:srgbClr val="FFFFFF"/>
                    </a:solidFill>
                  </a:tcPr>
                </a:tc>
                <a:tc>
                  <a:txBody>
                    <a:bodyPr/>
                    <a:lstStyle/>
                    <a:p>
                      <a:pPr algn="ctr"/>
                      <a:r>
                        <a:rPr sz="1500" b="1">
                          <a:solidFill>
                            <a:srgbClr val="8E1B22"/>
                          </a:solidFill>
                          <a:latin typeface="Calibri"/>
                        </a:rPr>
                        <a:t>0</a:t>
                      </a:r>
                    </a:p>
                  </a:txBody>
                  <a:tcPr marL="54864" marR="54864" marT="0" marB="0" anchor="ctr">
                    <a:solidFill>
                      <a:srgbClr val="F8EEEF"/>
                    </a:solidFill>
                  </a:tcPr>
                </a:tc>
                <a:extLst>
                  <a:ext uri="{0D108BD9-81ED-4DB2-BD59-A6C34878D82A}">
                    <a16:rowId xmlns:a16="http://schemas.microsoft.com/office/drawing/2014/main" val="10003"/>
                  </a:ext>
                </a:extLst>
              </a:tr>
              <a:tr h="365760">
                <a:tc>
                  <a:txBody>
                    <a:bodyPr/>
                    <a:lstStyle/>
                    <a:p>
                      <a:pPr algn="ctr"/>
                      <a:r>
                        <a:rPr sz="1500" b="0">
                          <a:solidFill>
                            <a:srgbClr val="222222"/>
                          </a:solidFill>
                          <a:latin typeface="Calibri"/>
                        </a:rPr>
                        <a:t>1</a:t>
                      </a:r>
                    </a:p>
                  </a:txBody>
                  <a:tcPr marL="54864" marR="54864" marT="0" marB="0" anchor="ctr">
                    <a:solidFill>
                      <a:srgbClr val="EDF2F8"/>
                    </a:solidFill>
                  </a:tcPr>
                </a:tc>
                <a:tc>
                  <a:txBody>
                    <a:bodyPr/>
                    <a:lstStyle/>
                    <a:p>
                      <a:pPr algn="ctr"/>
                      <a:r>
                        <a:rPr sz="1500" b="0">
                          <a:solidFill>
                            <a:srgbClr val="222222"/>
                          </a:solidFill>
                          <a:latin typeface="Calibri"/>
                        </a:rPr>
                        <a:t>1</a:t>
                      </a:r>
                    </a:p>
                  </a:txBody>
                  <a:tcPr marL="54864" marR="54864" marT="0" marB="0" anchor="ctr">
                    <a:solidFill>
                      <a:srgbClr val="EDF2F8"/>
                    </a:solidFill>
                  </a:tcPr>
                </a:tc>
                <a:tc>
                  <a:txBody>
                    <a:bodyPr/>
                    <a:lstStyle/>
                    <a:p>
                      <a:pPr algn="ctr"/>
                      <a:r>
                        <a:rPr sz="1500" b="1">
                          <a:solidFill>
                            <a:srgbClr val="8E1B22"/>
                          </a:solidFill>
                          <a:latin typeface="Calibri"/>
                        </a:rPr>
                        <a:t>1</a:t>
                      </a:r>
                    </a:p>
                  </a:txBody>
                  <a:tcPr marL="54864" marR="54864" marT="0" marB="0" anchor="ctr">
                    <a:solidFill>
                      <a:srgbClr val="F8EEEF"/>
                    </a:solidFill>
                  </a:tcPr>
                </a:tc>
                <a:extLst>
                  <a:ext uri="{0D108BD9-81ED-4DB2-BD59-A6C34878D82A}">
                    <a16:rowId xmlns:a16="http://schemas.microsoft.com/office/drawing/2014/main" val="10004"/>
                  </a:ext>
                </a:extLst>
              </a:tr>
            </a:tbl>
          </a:graphicData>
        </a:graphic>
      </p:graphicFrame>
      <p:sp>
        <p:nvSpPr>
          <p:cNvPr id="16" name="Rounded Rectangle 15"/>
          <p:cNvSpPr/>
          <p:nvPr/>
        </p:nvSpPr>
        <p:spPr>
          <a:xfrm>
            <a:off x="8119871" y="1828800"/>
            <a:ext cx="3520440" cy="4389120"/>
          </a:xfrm>
          <a:prstGeom prst="roundRect">
            <a:avLst>
              <a:gd name="adj" fmla="val 6000"/>
            </a:avLst>
          </a:prstGeom>
          <a:solidFill>
            <a:srgbClr val="F8E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or.png"/>
          <p:cNvPicPr>
            <a:picLocks noChangeAspect="1"/>
          </p:cNvPicPr>
          <p:nvPr/>
        </p:nvPicPr>
        <p:blipFill>
          <a:blip r:embed="rId5"/>
          <a:stretch>
            <a:fillRect/>
          </a:stretch>
        </p:blipFill>
        <p:spPr>
          <a:xfrm>
            <a:off x="8673707" y="1965960"/>
            <a:ext cx="2412769" cy="1097280"/>
          </a:xfrm>
          <a:prstGeom prst="rect">
            <a:avLst/>
          </a:prstGeom>
        </p:spPr>
      </p:pic>
      <p:sp>
        <p:nvSpPr>
          <p:cNvPr id="18" name="TextBox 17"/>
          <p:cNvSpPr txBox="1"/>
          <p:nvPr/>
        </p:nvSpPr>
        <p:spPr>
          <a:xfrm>
            <a:off x="8119871" y="3127248"/>
            <a:ext cx="3520440" cy="960120"/>
          </a:xfrm>
          <a:prstGeom prst="rect">
            <a:avLst/>
          </a:prstGeom>
          <a:noFill/>
        </p:spPr>
        <p:txBody>
          <a:bodyPr wrap="square" lIns="0" tIns="0" rIns="0" bIns="0" anchor="t">
            <a:spAutoFit/>
          </a:bodyPr>
          <a:lstStyle/>
          <a:p>
            <a:pPr algn="ctr">
              <a:spcAft>
                <a:spcPts val="0"/>
              </a:spcAft>
            </a:pPr>
            <a:r>
              <a:rPr sz="2400" b="1" i="0">
                <a:solidFill>
                  <a:srgbClr val="8E1B22"/>
                </a:solidFill>
                <a:latin typeface="Calibri"/>
              </a:rPr>
              <a:t>OR</a:t>
            </a:r>
            <a:r>
              <a:rPr sz="1900" b="1" i="0">
                <a:solidFill>
                  <a:srgbClr val="1B3A6B"/>
                </a:solidFill>
                <a:latin typeface="Calibri"/>
              </a:rPr>
              <a:t>    Y = A + B</a:t>
            </a:r>
          </a:p>
          <a:p>
            <a:pPr algn="ctr">
              <a:spcAft>
                <a:spcPts val="0"/>
              </a:spcAft>
            </a:pPr>
            <a:r>
              <a:rPr sz="1500" b="0" i="0">
                <a:solidFill>
                  <a:srgbClr val="222222"/>
                </a:solidFill>
                <a:latin typeface="Calibri"/>
              </a:rPr>
              <a:t>1 when ANY input is 1</a:t>
            </a:r>
          </a:p>
        </p:txBody>
      </p:sp>
      <p:graphicFrame>
        <p:nvGraphicFramePr>
          <p:cNvPr id="19" name="Table 18"/>
          <p:cNvGraphicFramePr>
            <a:graphicFrameLocks noGrp="1"/>
          </p:cNvGraphicFramePr>
          <p:nvPr/>
        </p:nvGraphicFramePr>
        <p:xfrm>
          <a:off x="8782811" y="4206240"/>
          <a:ext cx="2194560" cy="1828800"/>
        </p:xfrm>
        <a:graphic>
          <a:graphicData uri="http://schemas.openxmlformats.org/drawingml/2006/table">
            <a:tbl>
              <a:tblPr firstRow="1">
                <a:tableStyleId>{5C22544A-7EE6-4342-B048-85BDC9FD1C3A}</a:tableStyleId>
              </a:tblPr>
              <a:tblGrid>
                <a:gridCol w="73152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tblGrid>
              <a:tr h="365760">
                <a:tc>
                  <a:txBody>
                    <a:bodyPr/>
                    <a:lstStyle/>
                    <a:p>
                      <a:pPr algn="ctr"/>
                      <a:r>
                        <a:rPr sz="1500" b="1">
                          <a:solidFill>
                            <a:srgbClr val="FFFFFF"/>
                          </a:solidFill>
                          <a:latin typeface="Calibri"/>
                        </a:rPr>
                        <a:t>A</a:t>
                      </a:r>
                    </a:p>
                  </a:txBody>
                  <a:tcPr marL="54864" marR="54864" marT="0" marB="0" anchor="ctr">
                    <a:solidFill>
                      <a:srgbClr val="1B3A6B"/>
                    </a:solidFill>
                  </a:tcPr>
                </a:tc>
                <a:tc>
                  <a:txBody>
                    <a:bodyPr/>
                    <a:lstStyle/>
                    <a:p>
                      <a:pPr algn="ctr"/>
                      <a:r>
                        <a:rPr sz="1500" b="1">
                          <a:solidFill>
                            <a:srgbClr val="FFFFFF"/>
                          </a:solidFill>
                          <a:latin typeface="Calibri"/>
                        </a:rPr>
                        <a:t>B</a:t>
                      </a:r>
                    </a:p>
                  </a:txBody>
                  <a:tcPr marL="54864" marR="54864" marT="0" marB="0" anchor="ctr">
                    <a:solidFill>
                      <a:srgbClr val="1B3A6B"/>
                    </a:solidFill>
                  </a:tcPr>
                </a:tc>
                <a:tc>
                  <a:txBody>
                    <a:bodyPr/>
                    <a:lstStyle/>
                    <a:p>
                      <a:pPr algn="ctr"/>
                      <a:r>
                        <a:rPr sz="1500" b="1">
                          <a:solidFill>
                            <a:srgbClr val="FFFFFF"/>
                          </a:solidFill>
                          <a:latin typeface="Calibri"/>
                        </a:rPr>
                        <a:t>Y</a:t>
                      </a:r>
                    </a:p>
                  </a:txBody>
                  <a:tcPr marL="54864" marR="54864" marT="0" marB="0" anchor="ctr">
                    <a:solidFill>
                      <a:srgbClr val="1B3A6B"/>
                    </a:solidFill>
                  </a:tcPr>
                </a:tc>
                <a:extLst>
                  <a:ext uri="{0D108BD9-81ED-4DB2-BD59-A6C34878D82A}">
                    <a16:rowId xmlns:a16="http://schemas.microsoft.com/office/drawing/2014/main" val="10000"/>
                  </a:ext>
                </a:extLst>
              </a:tr>
              <a:tr h="365760">
                <a:tc>
                  <a:txBody>
                    <a:bodyPr/>
                    <a:lstStyle/>
                    <a:p>
                      <a:pPr algn="ctr"/>
                      <a:r>
                        <a:rPr sz="1500" b="0">
                          <a:solidFill>
                            <a:srgbClr val="222222"/>
                          </a:solidFill>
                          <a:latin typeface="Calibri"/>
                        </a:rPr>
                        <a:t>0</a:t>
                      </a:r>
                    </a:p>
                  </a:txBody>
                  <a:tcPr marL="54864" marR="54864" marT="0" marB="0" anchor="ctr">
                    <a:solidFill>
                      <a:srgbClr val="FFFFFF"/>
                    </a:solidFill>
                  </a:tcPr>
                </a:tc>
                <a:tc>
                  <a:txBody>
                    <a:bodyPr/>
                    <a:lstStyle/>
                    <a:p>
                      <a:pPr algn="ctr"/>
                      <a:r>
                        <a:rPr sz="1500" b="0">
                          <a:solidFill>
                            <a:srgbClr val="222222"/>
                          </a:solidFill>
                          <a:latin typeface="Calibri"/>
                        </a:rPr>
                        <a:t>0</a:t>
                      </a:r>
                    </a:p>
                  </a:txBody>
                  <a:tcPr marL="54864" marR="54864" marT="0" marB="0" anchor="ctr">
                    <a:solidFill>
                      <a:srgbClr val="FFFFFF"/>
                    </a:solidFill>
                  </a:tcPr>
                </a:tc>
                <a:tc>
                  <a:txBody>
                    <a:bodyPr/>
                    <a:lstStyle/>
                    <a:p>
                      <a:pPr algn="ctr"/>
                      <a:r>
                        <a:rPr sz="1500" b="1">
                          <a:solidFill>
                            <a:srgbClr val="8E1B22"/>
                          </a:solidFill>
                          <a:latin typeface="Calibri"/>
                        </a:rPr>
                        <a:t>0</a:t>
                      </a:r>
                    </a:p>
                  </a:txBody>
                  <a:tcPr marL="54864" marR="54864" marT="0" marB="0" anchor="ctr">
                    <a:solidFill>
                      <a:srgbClr val="F8EEEF"/>
                    </a:solidFill>
                  </a:tcPr>
                </a:tc>
                <a:extLst>
                  <a:ext uri="{0D108BD9-81ED-4DB2-BD59-A6C34878D82A}">
                    <a16:rowId xmlns:a16="http://schemas.microsoft.com/office/drawing/2014/main" val="10001"/>
                  </a:ext>
                </a:extLst>
              </a:tr>
              <a:tr h="365760">
                <a:tc>
                  <a:txBody>
                    <a:bodyPr/>
                    <a:lstStyle/>
                    <a:p>
                      <a:pPr algn="ctr"/>
                      <a:r>
                        <a:rPr sz="1500" b="0">
                          <a:solidFill>
                            <a:srgbClr val="222222"/>
                          </a:solidFill>
                          <a:latin typeface="Calibri"/>
                        </a:rPr>
                        <a:t>0</a:t>
                      </a:r>
                    </a:p>
                  </a:txBody>
                  <a:tcPr marL="54864" marR="54864" marT="0" marB="0" anchor="ctr">
                    <a:solidFill>
                      <a:srgbClr val="EDF2F8"/>
                    </a:solidFill>
                  </a:tcPr>
                </a:tc>
                <a:tc>
                  <a:txBody>
                    <a:bodyPr/>
                    <a:lstStyle/>
                    <a:p>
                      <a:pPr algn="ctr"/>
                      <a:r>
                        <a:rPr sz="1500" b="0">
                          <a:solidFill>
                            <a:srgbClr val="222222"/>
                          </a:solidFill>
                          <a:latin typeface="Calibri"/>
                        </a:rPr>
                        <a:t>1</a:t>
                      </a:r>
                    </a:p>
                  </a:txBody>
                  <a:tcPr marL="54864" marR="54864" marT="0" marB="0" anchor="ctr">
                    <a:solidFill>
                      <a:srgbClr val="EDF2F8"/>
                    </a:solidFill>
                  </a:tcPr>
                </a:tc>
                <a:tc>
                  <a:txBody>
                    <a:bodyPr/>
                    <a:lstStyle/>
                    <a:p>
                      <a:pPr algn="ctr"/>
                      <a:r>
                        <a:rPr sz="1500" b="1">
                          <a:solidFill>
                            <a:srgbClr val="8E1B22"/>
                          </a:solidFill>
                          <a:latin typeface="Calibri"/>
                        </a:rPr>
                        <a:t>1</a:t>
                      </a:r>
                    </a:p>
                  </a:txBody>
                  <a:tcPr marL="54864" marR="54864" marT="0" marB="0" anchor="ctr">
                    <a:solidFill>
                      <a:srgbClr val="F8EEEF"/>
                    </a:solidFill>
                  </a:tcPr>
                </a:tc>
                <a:extLst>
                  <a:ext uri="{0D108BD9-81ED-4DB2-BD59-A6C34878D82A}">
                    <a16:rowId xmlns:a16="http://schemas.microsoft.com/office/drawing/2014/main" val="10002"/>
                  </a:ext>
                </a:extLst>
              </a:tr>
              <a:tr h="365760">
                <a:tc>
                  <a:txBody>
                    <a:bodyPr/>
                    <a:lstStyle/>
                    <a:p>
                      <a:pPr algn="ctr"/>
                      <a:r>
                        <a:rPr sz="1500" b="0">
                          <a:solidFill>
                            <a:srgbClr val="222222"/>
                          </a:solidFill>
                          <a:latin typeface="Calibri"/>
                        </a:rPr>
                        <a:t>1</a:t>
                      </a:r>
                    </a:p>
                  </a:txBody>
                  <a:tcPr marL="54864" marR="54864" marT="0" marB="0" anchor="ctr">
                    <a:solidFill>
                      <a:srgbClr val="FFFFFF"/>
                    </a:solidFill>
                  </a:tcPr>
                </a:tc>
                <a:tc>
                  <a:txBody>
                    <a:bodyPr/>
                    <a:lstStyle/>
                    <a:p>
                      <a:pPr algn="ctr"/>
                      <a:r>
                        <a:rPr sz="1500" b="0">
                          <a:solidFill>
                            <a:srgbClr val="222222"/>
                          </a:solidFill>
                          <a:latin typeface="Calibri"/>
                        </a:rPr>
                        <a:t>0</a:t>
                      </a:r>
                    </a:p>
                  </a:txBody>
                  <a:tcPr marL="54864" marR="54864" marT="0" marB="0" anchor="ctr">
                    <a:solidFill>
                      <a:srgbClr val="FFFFFF"/>
                    </a:solidFill>
                  </a:tcPr>
                </a:tc>
                <a:tc>
                  <a:txBody>
                    <a:bodyPr/>
                    <a:lstStyle/>
                    <a:p>
                      <a:pPr algn="ctr"/>
                      <a:r>
                        <a:rPr sz="1500" b="1">
                          <a:solidFill>
                            <a:srgbClr val="8E1B22"/>
                          </a:solidFill>
                          <a:latin typeface="Calibri"/>
                        </a:rPr>
                        <a:t>1</a:t>
                      </a:r>
                    </a:p>
                  </a:txBody>
                  <a:tcPr marL="54864" marR="54864" marT="0" marB="0" anchor="ctr">
                    <a:solidFill>
                      <a:srgbClr val="F8EEEF"/>
                    </a:solidFill>
                  </a:tcPr>
                </a:tc>
                <a:extLst>
                  <a:ext uri="{0D108BD9-81ED-4DB2-BD59-A6C34878D82A}">
                    <a16:rowId xmlns:a16="http://schemas.microsoft.com/office/drawing/2014/main" val="10003"/>
                  </a:ext>
                </a:extLst>
              </a:tr>
              <a:tr h="365760">
                <a:tc>
                  <a:txBody>
                    <a:bodyPr/>
                    <a:lstStyle/>
                    <a:p>
                      <a:pPr algn="ctr"/>
                      <a:r>
                        <a:rPr sz="1500" b="0">
                          <a:solidFill>
                            <a:srgbClr val="222222"/>
                          </a:solidFill>
                          <a:latin typeface="Calibri"/>
                        </a:rPr>
                        <a:t>1</a:t>
                      </a:r>
                    </a:p>
                  </a:txBody>
                  <a:tcPr marL="54864" marR="54864" marT="0" marB="0" anchor="ctr">
                    <a:solidFill>
                      <a:srgbClr val="EDF2F8"/>
                    </a:solidFill>
                  </a:tcPr>
                </a:tc>
                <a:tc>
                  <a:txBody>
                    <a:bodyPr/>
                    <a:lstStyle/>
                    <a:p>
                      <a:pPr algn="ctr"/>
                      <a:r>
                        <a:rPr sz="1500" b="0">
                          <a:solidFill>
                            <a:srgbClr val="222222"/>
                          </a:solidFill>
                          <a:latin typeface="Calibri"/>
                        </a:rPr>
                        <a:t>1</a:t>
                      </a:r>
                    </a:p>
                  </a:txBody>
                  <a:tcPr marL="54864" marR="54864" marT="0" marB="0" anchor="ctr">
                    <a:solidFill>
                      <a:srgbClr val="EDF2F8"/>
                    </a:solidFill>
                  </a:tcPr>
                </a:tc>
                <a:tc>
                  <a:txBody>
                    <a:bodyPr/>
                    <a:lstStyle/>
                    <a:p>
                      <a:pPr algn="ctr"/>
                      <a:r>
                        <a:rPr sz="1500" b="1">
                          <a:solidFill>
                            <a:srgbClr val="8E1B22"/>
                          </a:solidFill>
                          <a:latin typeface="Calibri"/>
                        </a:rPr>
                        <a:t>1</a:t>
                      </a:r>
                    </a:p>
                  </a:txBody>
                  <a:tcPr marL="54864" marR="54864" marT="0" marB="0" anchor="ctr">
                    <a:solidFill>
                      <a:srgbClr val="F8EEE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548640" y="429768"/>
            <a:ext cx="566928" cy="566928"/>
          </a:xfrm>
          <a:prstGeom prst="ellipse">
            <a:avLst/>
          </a:prstGeom>
          <a:solidFill>
            <a:srgbClr val="8E1B2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Calibri"/>
              </a:rPr>
              <a:t>3</a:t>
            </a:r>
          </a:p>
        </p:txBody>
      </p:sp>
      <p:sp>
        <p:nvSpPr>
          <p:cNvPr id="3" name="TextBox 2"/>
          <p:cNvSpPr txBox="1"/>
          <p:nvPr/>
        </p:nvSpPr>
        <p:spPr>
          <a:xfrm>
            <a:off x="7068312" y="182880"/>
            <a:ext cx="4572000" cy="274320"/>
          </a:xfrm>
          <a:prstGeom prst="rect">
            <a:avLst/>
          </a:prstGeom>
          <a:noFill/>
        </p:spPr>
        <p:txBody>
          <a:bodyPr wrap="square" lIns="0" tIns="0" rIns="0" bIns="0" anchor="t">
            <a:spAutoFit/>
          </a:bodyPr>
          <a:lstStyle/>
          <a:p>
            <a:pPr algn="r">
              <a:spcAft>
                <a:spcPts val="0"/>
              </a:spcAft>
            </a:pPr>
            <a:r>
              <a:rPr sz="1200" b="0" i="0">
                <a:solidFill>
                  <a:srgbClr val="6B6B6B"/>
                </a:solidFill>
                <a:latin typeface="Calibri"/>
              </a:rPr>
              <a:t>Topic 3 of 5  ·  Logic Gates</a:t>
            </a:r>
          </a:p>
        </p:txBody>
      </p:sp>
      <p:sp>
        <p:nvSpPr>
          <p:cNvPr id="4" name="TextBox 3"/>
          <p:cNvSpPr txBox="1"/>
          <p:nvPr/>
        </p:nvSpPr>
        <p:spPr>
          <a:xfrm>
            <a:off x="1298448" y="365760"/>
            <a:ext cx="10341864" cy="713232"/>
          </a:xfrm>
          <a:prstGeom prst="rect">
            <a:avLst/>
          </a:prstGeom>
          <a:noFill/>
        </p:spPr>
        <p:txBody>
          <a:bodyPr wrap="square" lIns="0" tIns="0" rIns="0" bIns="0" anchor="ctr">
            <a:spAutoFit/>
          </a:bodyPr>
          <a:lstStyle/>
          <a:p>
            <a:pPr algn="l">
              <a:spcAft>
                <a:spcPts val="0"/>
              </a:spcAft>
            </a:pPr>
            <a:r>
              <a:rPr sz="3400" b="1" i="0">
                <a:solidFill>
                  <a:srgbClr val="1B3A6B"/>
                </a:solidFill>
                <a:latin typeface="Calibri"/>
              </a:rPr>
              <a:t>Four More Gates You'll Use Often</a:t>
            </a:r>
          </a:p>
        </p:txBody>
      </p:sp>
      <p:sp>
        <p:nvSpPr>
          <p:cNvPr id="5" name="TextBox 4"/>
          <p:cNvSpPr txBox="1"/>
          <p:nvPr/>
        </p:nvSpPr>
        <p:spPr>
          <a:xfrm>
            <a:off x="548640" y="6428232"/>
            <a:ext cx="5486400" cy="274320"/>
          </a:xfrm>
          <a:prstGeom prst="rect">
            <a:avLst/>
          </a:prstGeom>
          <a:noFill/>
        </p:spPr>
        <p:txBody>
          <a:bodyPr wrap="square" lIns="0" tIns="0" rIns="0" bIns="0" anchor="t">
            <a:spAutoFit/>
          </a:bodyPr>
          <a:lstStyle/>
          <a:p>
            <a:pPr algn="l">
              <a:spcAft>
                <a:spcPts val="0"/>
              </a:spcAft>
            </a:pPr>
            <a:r>
              <a:rPr sz="1100" b="0" i="0">
                <a:solidFill>
                  <a:srgbClr val="6B6B6B"/>
                </a:solidFill>
                <a:latin typeface="Calibri"/>
              </a:rPr>
              <a:t>CSE207  ·  Digital Logic Design  ·  Lecture 01</a:t>
            </a:r>
          </a:p>
        </p:txBody>
      </p:sp>
      <p:sp>
        <p:nvSpPr>
          <p:cNvPr id="6" name="TextBox 5"/>
          <p:cNvSpPr txBox="1"/>
          <p:nvPr/>
        </p:nvSpPr>
        <p:spPr>
          <a:xfrm>
            <a:off x="10725912" y="6428232"/>
            <a:ext cx="914400" cy="274320"/>
          </a:xfrm>
          <a:prstGeom prst="rect">
            <a:avLst/>
          </a:prstGeom>
          <a:noFill/>
        </p:spPr>
        <p:txBody>
          <a:bodyPr wrap="square" lIns="0" tIns="0" rIns="0" bIns="0" anchor="t">
            <a:spAutoFit/>
          </a:bodyPr>
          <a:lstStyle/>
          <a:p>
            <a:pPr algn="r">
              <a:spcAft>
                <a:spcPts val="0"/>
              </a:spcAft>
            </a:pPr>
            <a:r>
              <a:rPr sz="1100" b="0" i="0">
                <a:solidFill>
                  <a:srgbClr val="6B6B6B"/>
                </a:solidFill>
                <a:latin typeface="Calibri"/>
              </a:rPr>
              <a:t>9</a:t>
            </a:r>
          </a:p>
        </p:txBody>
      </p:sp>
      <p:sp>
        <p:nvSpPr>
          <p:cNvPr id="7" name="Rounded Rectangle 6"/>
          <p:cNvSpPr/>
          <p:nvPr/>
        </p:nvSpPr>
        <p:spPr>
          <a:xfrm>
            <a:off x="548640" y="1371600"/>
            <a:ext cx="5440680" cy="2286000"/>
          </a:xfrm>
          <a:prstGeom prst="roundRect">
            <a:avLst>
              <a:gd name="adj" fmla="val 6000"/>
            </a:avLst>
          </a:prstGeom>
          <a:solidFill>
            <a:srgbClr val="F8E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nand.png"/>
          <p:cNvPicPr>
            <a:picLocks noChangeAspect="1"/>
          </p:cNvPicPr>
          <p:nvPr/>
        </p:nvPicPr>
        <p:blipFill>
          <a:blip r:embed="rId3"/>
          <a:stretch>
            <a:fillRect/>
          </a:stretch>
        </p:blipFill>
        <p:spPr>
          <a:xfrm>
            <a:off x="731520" y="1920240"/>
            <a:ext cx="2286000" cy="1039627"/>
          </a:xfrm>
          <a:prstGeom prst="rect">
            <a:avLst/>
          </a:prstGeom>
        </p:spPr>
      </p:pic>
      <p:sp>
        <p:nvSpPr>
          <p:cNvPr id="9" name="TextBox 8"/>
          <p:cNvSpPr txBox="1"/>
          <p:nvPr/>
        </p:nvSpPr>
        <p:spPr>
          <a:xfrm>
            <a:off x="3246120" y="1554480"/>
            <a:ext cx="2560320" cy="1920240"/>
          </a:xfrm>
          <a:prstGeom prst="rect">
            <a:avLst/>
          </a:prstGeom>
          <a:noFill/>
        </p:spPr>
        <p:txBody>
          <a:bodyPr wrap="square" lIns="0" tIns="0" rIns="0" bIns="0" anchor="ctr">
            <a:spAutoFit/>
          </a:bodyPr>
          <a:lstStyle/>
          <a:p>
            <a:pPr algn="l">
              <a:spcAft>
                <a:spcPts val="400"/>
              </a:spcAft>
            </a:pPr>
            <a:r>
              <a:rPr sz="2400" b="1" i="0">
                <a:solidFill>
                  <a:srgbClr val="8E1B22"/>
                </a:solidFill>
                <a:latin typeface="Calibri"/>
              </a:rPr>
              <a:t>NAND</a:t>
            </a:r>
            <a:r>
              <a:rPr sz="1800" b="1" i="0">
                <a:solidFill>
                  <a:srgbClr val="1B3A6B"/>
                </a:solidFill>
                <a:latin typeface="Calibri"/>
              </a:rPr>
              <a:t>   Y = (A · B)'</a:t>
            </a:r>
          </a:p>
          <a:p>
            <a:pPr algn="l">
              <a:spcAft>
                <a:spcPts val="600"/>
              </a:spcAft>
            </a:pPr>
            <a:r>
              <a:rPr sz="1600" b="0" i="0">
                <a:solidFill>
                  <a:srgbClr val="222222"/>
                </a:solidFill>
                <a:latin typeface="Calibri"/>
              </a:rPr>
              <a:t>AND + NOT. Output is 0 only when both inputs are 1.</a:t>
            </a:r>
          </a:p>
          <a:p>
            <a:pPr algn="l">
              <a:spcAft>
                <a:spcPts val="0"/>
              </a:spcAft>
            </a:pPr>
            <a:r>
              <a:rPr sz="1300" b="0" i="0">
                <a:solidFill>
                  <a:srgbClr val="6B6B6B"/>
                </a:solidFill>
                <a:latin typeface="Calibri"/>
              </a:rPr>
              <a:t>Outputs (00, 01, 10, 11):  </a:t>
            </a:r>
            <a:r>
              <a:rPr sz="1300" b="1" i="0">
                <a:solidFill>
                  <a:srgbClr val="222222"/>
                </a:solidFill>
                <a:latin typeface="Calibri"/>
              </a:rPr>
              <a:t>1 1 1 0</a:t>
            </a:r>
          </a:p>
        </p:txBody>
      </p:sp>
      <p:sp>
        <p:nvSpPr>
          <p:cNvPr id="10" name="Rounded Rectangle 9"/>
          <p:cNvSpPr/>
          <p:nvPr/>
        </p:nvSpPr>
        <p:spPr>
          <a:xfrm>
            <a:off x="6199631" y="1371600"/>
            <a:ext cx="5440680" cy="2286000"/>
          </a:xfrm>
          <a:prstGeom prst="roundRect">
            <a:avLst>
              <a:gd name="adj" fmla="val 6000"/>
            </a:avLst>
          </a:prstGeom>
          <a:solidFill>
            <a:srgbClr val="ED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nor.png"/>
          <p:cNvPicPr>
            <a:picLocks noChangeAspect="1"/>
          </p:cNvPicPr>
          <p:nvPr/>
        </p:nvPicPr>
        <p:blipFill>
          <a:blip r:embed="rId4"/>
          <a:stretch>
            <a:fillRect/>
          </a:stretch>
        </p:blipFill>
        <p:spPr>
          <a:xfrm>
            <a:off x="6382512" y="1920240"/>
            <a:ext cx="2286000" cy="1039627"/>
          </a:xfrm>
          <a:prstGeom prst="rect">
            <a:avLst/>
          </a:prstGeom>
        </p:spPr>
      </p:pic>
      <p:sp>
        <p:nvSpPr>
          <p:cNvPr id="12" name="TextBox 11"/>
          <p:cNvSpPr txBox="1"/>
          <p:nvPr/>
        </p:nvSpPr>
        <p:spPr>
          <a:xfrm>
            <a:off x="8897112" y="1554480"/>
            <a:ext cx="2560320" cy="1920240"/>
          </a:xfrm>
          <a:prstGeom prst="rect">
            <a:avLst/>
          </a:prstGeom>
          <a:noFill/>
        </p:spPr>
        <p:txBody>
          <a:bodyPr wrap="square" lIns="0" tIns="0" rIns="0" bIns="0" anchor="ctr">
            <a:spAutoFit/>
          </a:bodyPr>
          <a:lstStyle/>
          <a:p>
            <a:pPr algn="l">
              <a:spcAft>
                <a:spcPts val="400"/>
              </a:spcAft>
            </a:pPr>
            <a:r>
              <a:rPr sz="2400" b="1" i="0">
                <a:solidFill>
                  <a:srgbClr val="8E1B22"/>
                </a:solidFill>
                <a:latin typeface="Calibri"/>
              </a:rPr>
              <a:t>NOR</a:t>
            </a:r>
            <a:r>
              <a:rPr sz="1800" b="1" i="0">
                <a:solidFill>
                  <a:srgbClr val="1B3A6B"/>
                </a:solidFill>
                <a:latin typeface="Calibri"/>
              </a:rPr>
              <a:t>   Y = (A + B)'</a:t>
            </a:r>
          </a:p>
          <a:p>
            <a:pPr algn="l">
              <a:spcAft>
                <a:spcPts val="600"/>
              </a:spcAft>
            </a:pPr>
            <a:r>
              <a:rPr sz="1600" b="0" i="0">
                <a:solidFill>
                  <a:srgbClr val="222222"/>
                </a:solidFill>
                <a:latin typeface="Calibri"/>
              </a:rPr>
              <a:t>OR + NOT. Output is 1 only when both inputs are 0.</a:t>
            </a:r>
          </a:p>
          <a:p>
            <a:pPr algn="l">
              <a:spcAft>
                <a:spcPts val="0"/>
              </a:spcAft>
            </a:pPr>
            <a:r>
              <a:rPr sz="1300" b="0" i="0">
                <a:solidFill>
                  <a:srgbClr val="6B6B6B"/>
                </a:solidFill>
                <a:latin typeface="Calibri"/>
              </a:rPr>
              <a:t>Outputs (00, 01, 10, 11):  </a:t>
            </a:r>
            <a:r>
              <a:rPr sz="1300" b="1" i="0">
                <a:solidFill>
                  <a:srgbClr val="222222"/>
                </a:solidFill>
                <a:latin typeface="Calibri"/>
              </a:rPr>
              <a:t>1 0 0 0</a:t>
            </a:r>
          </a:p>
        </p:txBody>
      </p:sp>
      <p:sp>
        <p:nvSpPr>
          <p:cNvPr id="13" name="Rounded Rectangle 12"/>
          <p:cNvSpPr/>
          <p:nvPr/>
        </p:nvSpPr>
        <p:spPr>
          <a:xfrm>
            <a:off x="548640" y="3858768"/>
            <a:ext cx="5440680" cy="2286000"/>
          </a:xfrm>
          <a:prstGeom prst="roundRect">
            <a:avLst>
              <a:gd name="adj" fmla="val 6000"/>
            </a:avLst>
          </a:prstGeom>
          <a:solidFill>
            <a:srgbClr val="ED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xor.png"/>
          <p:cNvPicPr>
            <a:picLocks noChangeAspect="1"/>
          </p:cNvPicPr>
          <p:nvPr/>
        </p:nvPicPr>
        <p:blipFill>
          <a:blip r:embed="rId5"/>
          <a:stretch>
            <a:fillRect/>
          </a:stretch>
        </p:blipFill>
        <p:spPr>
          <a:xfrm>
            <a:off x="731520" y="4407408"/>
            <a:ext cx="2286000" cy="1039627"/>
          </a:xfrm>
          <a:prstGeom prst="rect">
            <a:avLst/>
          </a:prstGeom>
        </p:spPr>
      </p:pic>
      <p:sp>
        <p:nvSpPr>
          <p:cNvPr id="15" name="TextBox 14"/>
          <p:cNvSpPr txBox="1"/>
          <p:nvPr/>
        </p:nvSpPr>
        <p:spPr>
          <a:xfrm>
            <a:off x="3246120" y="4041648"/>
            <a:ext cx="2560320" cy="1920240"/>
          </a:xfrm>
          <a:prstGeom prst="rect">
            <a:avLst/>
          </a:prstGeom>
          <a:noFill/>
        </p:spPr>
        <p:txBody>
          <a:bodyPr wrap="square" lIns="0" tIns="0" rIns="0" bIns="0" anchor="ctr">
            <a:spAutoFit/>
          </a:bodyPr>
          <a:lstStyle/>
          <a:p>
            <a:pPr algn="l">
              <a:spcAft>
                <a:spcPts val="400"/>
              </a:spcAft>
            </a:pPr>
            <a:r>
              <a:rPr sz="2400" b="1" i="0">
                <a:solidFill>
                  <a:srgbClr val="8E1B22"/>
                </a:solidFill>
                <a:latin typeface="Calibri"/>
              </a:rPr>
              <a:t>XOR</a:t>
            </a:r>
            <a:r>
              <a:rPr sz="1800" b="1" i="0">
                <a:solidFill>
                  <a:srgbClr val="1B3A6B"/>
                </a:solidFill>
                <a:latin typeface="Calibri"/>
              </a:rPr>
              <a:t>   Y = A ⊕ B</a:t>
            </a:r>
          </a:p>
          <a:p>
            <a:pPr algn="l">
              <a:spcAft>
                <a:spcPts val="600"/>
              </a:spcAft>
            </a:pPr>
            <a:r>
              <a:rPr sz="1600" b="0" i="0">
                <a:solidFill>
                  <a:srgbClr val="222222"/>
                </a:solidFill>
                <a:latin typeface="Calibri"/>
              </a:rPr>
              <a:t>Output is 1 when the inputs are different.</a:t>
            </a:r>
          </a:p>
          <a:p>
            <a:pPr algn="l">
              <a:spcAft>
                <a:spcPts val="0"/>
              </a:spcAft>
            </a:pPr>
            <a:r>
              <a:rPr sz="1300" b="0" i="0">
                <a:solidFill>
                  <a:srgbClr val="6B6B6B"/>
                </a:solidFill>
                <a:latin typeface="Calibri"/>
              </a:rPr>
              <a:t>Outputs (00, 01, 10, 11):  </a:t>
            </a:r>
            <a:r>
              <a:rPr sz="1300" b="1" i="0">
                <a:solidFill>
                  <a:srgbClr val="222222"/>
                </a:solidFill>
                <a:latin typeface="Calibri"/>
              </a:rPr>
              <a:t>0 1 1 0</a:t>
            </a:r>
          </a:p>
        </p:txBody>
      </p:sp>
      <p:sp>
        <p:nvSpPr>
          <p:cNvPr id="16" name="Rounded Rectangle 15"/>
          <p:cNvSpPr/>
          <p:nvPr/>
        </p:nvSpPr>
        <p:spPr>
          <a:xfrm>
            <a:off x="6199631" y="3858768"/>
            <a:ext cx="5440680" cy="2286000"/>
          </a:xfrm>
          <a:prstGeom prst="roundRect">
            <a:avLst>
              <a:gd name="adj" fmla="val 6000"/>
            </a:avLst>
          </a:prstGeom>
          <a:solidFill>
            <a:srgbClr val="F8E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xnor.png"/>
          <p:cNvPicPr>
            <a:picLocks noChangeAspect="1"/>
          </p:cNvPicPr>
          <p:nvPr/>
        </p:nvPicPr>
        <p:blipFill>
          <a:blip r:embed="rId6"/>
          <a:stretch>
            <a:fillRect/>
          </a:stretch>
        </p:blipFill>
        <p:spPr>
          <a:xfrm>
            <a:off x="6382512" y="4407408"/>
            <a:ext cx="2286000" cy="1039627"/>
          </a:xfrm>
          <a:prstGeom prst="rect">
            <a:avLst/>
          </a:prstGeom>
        </p:spPr>
      </p:pic>
      <p:sp>
        <p:nvSpPr>
          <p:cNvPr id="18" name="TextBox 17"/>
          <p:cNvSpPr txBox="1"/>
          <p:nvPr/>
        </p:nvSpPr>
        <p:spPr>
          <a:xfrm>
            <a:off x="8897112" y="4041648"/>
            <a:ext cx="2560320" cy="1920240"/>
          </a:xfrm>
          <a:prstGeom prst="rect">
            <a:avLst/>
          </a:prstGeom>
          <a:noFill/>
        </p:spPr>
        <p:txBody>
          <a:bodyPr wrap="square" lIns="0" tIns="0" rIns="0" bIns="0" anchor="ctr">
            <a:spAutoFit/>
          </a:bodyPr>
          <a:lstStyle/>
          <a:p>
            <a:pPr algn="l">
              <a:spcAft>
                <a:spcPts val="400"/>
              </a:spcAft>
            </a:pPr>
            <a:r>
              <a:rPr sz="2400" b="1" i="0">
                <a:solidFill>
                  <a:srgbClr val="8E1B22"/>
                </a:solidFill>
                <a:latin typeface="Calibri"/>
              </a:rPr>
              <a:t>XNOR</a:t>
            </a:r>
            <a:r>
              <a:rPr sz="1800" b="1" i="0">
                <a:solidFill>
                  <a:srgbClr val="1B3A6B"/>
                </a:solidFill>
                <a:latin typeface="Calibri"/>
              </a:rPr>
              <a:t>   Y = (A ⊕ B)'</a:t>
            </a:r>
          </a:p>
          <a:p>
            <a:pPr algn="l">
              <a:spcAft>
                <a:spcPts val="600"/>
              </a:spcAft>
            </a:pPr>
            <a:r>
              <a:rPr sz="1600" b="0" i="0">
                <a:solidFill>
                  <a:srgbClr val="222222"/>
                </a:solidFill>
                <a:latin typeface="Calibri"/>
              </a:rPr>
              <a:t>Output is 1 when the inputs are the same.</a:t>
            </a:r>
          </a:p>
          <a:p>
            <a:pPr algn="l">
              <a:spcAft>
                <a:spcPts val="0"/>
              </a:spcAft>
            </a:pPr>
            <a:r>
              <a:rPr sz="1300" b="0" i="0">
                <a:solidFill>
                  <a:srgbClr val="6B6B6B"/>
                </a:solidFill>
                <a:latin typeface="Calibri"/>
              </a:rPr>
              <a:t>Outputs (00, 01, 10, 11):  </a:t>
            </a:r>
            <a:r>
              <a:rPr sz="1300" b="1" i="0">
                <a:solidFill>
                  <a:srgbClr val="222222"/>
                </a:solidFill>
                <a:latin typeface="Calibri"/>
              </a:rPr>
              <a:t>1 0 0 1</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548640" y="429768"/>
            <a:ext cx="566928" cy="566928"/>
          </a:xfrm>
          <a:prstGeom prst="ellipse">
            <a:avLst/>
          </a:prstGeom>
          <a:solidFill>
            <a:srgbClr val="8E1B2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Calibri"/>
              </a:rPr>
              <a:t>3</a:t>
            </a:r>
          </a:p>
        </p:txBody>
      </p:sp>
      <p:sp>
        <p:nvSpPr>
          <p:cNvPr id="3" name="TextBox 2"/>
          <p:cNvSpPr txBox="1"/>
          <p:nvPr/>
        </p:nvSpPr>
        <p:spPr>
          <a:xfrm>
            <a:off x="7068312" y="182880"/>
            <a:ext cx="4572000" cy="274320"/>
          </a:xfrm>
          <a:prstGeom prst="rect">
            <a:avLst/>
          </a:prstGeom>
          <a:noFill/>
        </p:spPr>
        <p:txBody>
          <a:bodyPr wrap="square" lIns="0" tIns="0" rIns="0" bIns="0" anchor="t">
            <a:spAutoFit/>
          </a:bodyPr>
          <a:lstStyle/>
          <a:p>
            <a:pPr algn="r">
              <a:spcAft>
                <a:spcPts val="0"/>
              </a:spcAft>
            </a:pPr>
            <a:r>
              <a:rPr sz="1200" b="0" i="0">
                <a:solidFill>
                  <a:srgbClr val="6B6B6B"/>
                </a:solidFill>
                <a:latin typeface="Calibri"/>
              </a:rPr>
              <a:t>Topic 3 of 5  ·  Logic Gates</a:t>
            </a:r>
          </a:p>
        </p:txBody>
      </p:sp>
      <p:sp>
        <p:nvSpPr>
          <p:cNvPr id="4" name="TextBox 3"/>
          <p:cNvSpPr txBox="1"/>
          <p:nvPr/>
        </p:nvSpPr>
        <p:spPr>
          <a:xfrm>
            <a:off x="1298448" y="365760"/>
            <a:ext cx="10341864" cy="713232"/>
          </a:xfrm>
          <a:prstGeom prst="rect">
            <a:avLst/>
          </a:prstGeom>
          <a:noFill/>
        </p:spPr>
        <p:txBody>
          <a:bodyPr wrap="square" lIns="0" tIns="0" rIns="0" bIns="0" anchor="ctr">
            <a:spAutoFit/>
          </a:bodyPr>
          <a:lstStyle/>
          <a:p>
            <a:pPr algn="l">
              <a:spcAft>
                <a:spcPts val="0"/>
              </a:spcAft>
            </a:pPr>
            <a:r>
              <a:rPr sz="3400" b="1" i="0">
                <a:solidFill>
                  <a:srgbClr val="1B3A6B"/>
                </a:solidFill>
                <a:latin typeface="Calibri"/>
              </a:rPr>
              <a:t>NAND &amp; NOR: The Universal Gates</a:t>
            </a:r>
          </a:p>
        </p:txBody>
      </p:sp>
      <p:sp>
        <p:nvSpPr>
          <p:cNvPr id="5" name="TextBox 4"/>
          <p:cNvSpPr txBox="1"/>
          <p:nvPr/>
        </p:nvSpPr>
        <p:spPr>
          <a:xfrm>
            <a:off x="548640" y="6428232"/>
            <a:ext cx="5486400" cy="274320"/>
          </a:xfrm>
          <a:prstGeom prst="rect">
            <a:avLst/>
          </a:prstGeom>
          <a:noFill/>
        </p:spPr>
        <p:txBody>
          <a:bodyPr wrap="square" lIns="0" tIns="0" rIns="0" bIns="0" anchor="t">
            <a:spAutoFit/>
          </a:bodyPr>
          <a:lstStyle/>
          <a:p>
            <a:pPr algn="l">
              <a:spcAft>
                <a:spcPts val="0"/>
              </a:spcAft>
            </a:pPr>
            <a:r>
              <a:rPr sz="1100" b="0" i="0">
                <a:solidFill>
                  <a:srgbClr val="6B6B6B"/>
                </a:solidFill>
                <a:latin typeface="Calibri"/>
              </a:rPr>
              <a:t>CSE207  ·  Digital Logic Design  ·  Lecture 01</a:t>
            </a:r>
          </a:p>
        </p:txBody>
      </p:sp>
      <p:sp>
        <p:nvSpPr>
          <p:cNvPr id="6" name="TextBox 5"/>
          <p:cNvSpPr txBox="1"/>
          <p:nvPr/>
        </p:nvSpPr>
        <p:spPr>
          <a:xfrm>
            <a:off x="10725912" y="6428232"/>
            <a:ext cx="914400" cy="274320"/>
          </a:xfrm>
          <a:prstGeom prst="rect">
            <a:avLst/>
          </a:prstGeom>
          <a:noFill/>
        </p:spPr>
        <p:txBody>
          <a:bodyPr wrap="square" lIns="0" tIns="0" rIns="0" bIns="0" anchor="t">
            <a:spAutoFit/>
          </a:bodyPr>
          <a:lstStyle/>
          <a:p>
            <a:pPr algn="r">
              <a:spcAft>
                <a:spcPts val="0"/>
              </a:spcAft>
            </a:pPr>
            <a:r>
              <a:rPr sz="1100" b="0" i="0">
                <a:solidFill>
                  <a:srgbClr val="6B6B6B"/>
                </a:solidFill>
                <a:latin typeface="Calibri"/>
              </a:rPr>
              <a:t>10</a:t>
            </a:r>
          </a:p>
        </p:txBody>
      </p:sp>
      <p:sp>
        <p:nvSpPr>
          <p:cNvPr id="7" name="Rounded Rectangle 6"/>
          <p:cNvSpPr/>
          <p:nvPr/>
        </p:nvSpPr>
        <p:spPr>
          <a:xfrm>
            <a:off x="548640" y="1371600"/>
            <a:ext cx="4572000" cy="1417320"/>
          </a:xfrm>
          <a:prstGeom prst="roundRect">
            <a:avLst>
              <a:gd name="adj" fmla="val 600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1371600"/>
            <a:ext cx="4069080" cy="1417320"/>
          </a:xfrm>
          <a:prstGeom prst="rect">
            <a:avLst/>
          </a:prstGeom>
          <a:noFill/>
        </p:spPr>
        <p:txBody>
          <a:bodyPr wrap="square" lIns="0" tIns="0" rIns="0" bIns="0" anchor="ctr">
            <a:spAutoFit/>
          </a:bodyPr>
          <a:lstStyle/>
          <a:p>
            <a:pPr algn="l">
              <a:spcAft>
                <a:spcPts val="0"/>
              </a:spcAft>
            </a:pPr>
            <a:r>
              <a:rPr sz="2000" b="1" i="0">
                <a:solidFill>
                  <a:srgbClr val="FFFFFF"/>
                </a:solidFill>
                <a:latin typeface="Calibri"/>
              </a:rPr>
              <a:t>A universal gate can build ANY other gate using only copies of itself.</a:t>
            </a:r>
          </a:p>
        </p:txBody>
      </p:sp>
      <p:sp>
        <p:nvSpPr>
          <p:cNvPr id="9" name="TextBox 8"/>
          <p:cNvSpPr txBox="1"/>
          <p:nvPr/>
        </p:nvSpPr>
        <p:spPr>
          <a:xfrm>
            <a:off x="548640" y="3017520"/>
            <a:ext cx="4572000" cy="411480"/>
          </a:xfrm>
          <a:prstGeom prst="rect">
            <a:avLst/>
          </a:prstGeom>
          <a:noFill/>
        </p:spPr>
        <p:txBody>
          <a:bodyPr wrap="square" lIns="0" tIns="0" rIns="0" bIns="0" anchor="t">
            <a:spAutoFit/>
          </a:bodyPr>
          <a:lstStyle/>
          <a:p>
            <a:pPr algn="l">
              <a:spcAft>
                <a:spcPts val="0"/>
              </a:spcAft>
            </a:pPr>
            <a:r>
              <a:rPr sz="2000" b="1" i="0">
                <a:solidFill>
                  <a:srgbClr val="1B3A6B"/>
                </a:solidFill>
                <a:latin typeface="Calibri"/>
              </a:rPr>
              <a:t>Why only these two?</a:t>
            </a:r>
          </a:p>
        </p:txBody>
      </p:sp>
      <p:sp>
        <p:nvSpPr>
          <p:cNvPr id="10" name="TextBox 9"/>
          <p:cNvSpPr txBox="1"/>
          <p:nvPr/>
        </p:nvSpPr>
        <p:spPr>
          <a:xfrm>
            <a:off x="548640" y="3474720"/>
            <a:ext cx="4572000" cy="1737360"/>
          </a:xfrm>
          <a:prstGeom prst="rect">
            <a:avLst/>
          </a:prstGeom>
          <a:noFill/>
        </p:spPr>
        <p:txBody>
          <a:bodyPr wrap="square" lIns="0" tIns="0" rIns="0" bIns="0" anchor="t">
            <a:spAutoFit/>
          </a:bodyPr>
          <a:lstStyle/>
          <a:p>
            <a:pPr marL="342900" indent="-342900" algn="l">
              <a:spcAft>
                <a:spcPts val="600"/>
              </a:spcAft>
              <a:buClr>
                <a:srgbClr val="8E1B22"/>
              </a:buClr>
              <a:buFont typeface="Arial"/>
              <a:buChar char="•"/>
            </a:pPr>
            <a:r>
              <a:rPr sz="1700" b="0" i="0">
                <a:solidFill>
                  <a:srgbClr val="222222"/>
                </a:solidFill>
                <a:latin typeface="Calibri"/>
              </a:rPr>
              <a:t>AND and OR can't flip a value (no NOT)</a:t>
            </a:r>
          </a:p>
          <a:p>
            <a:pPr marL="342900" indent="-342900" algn="l">
              <a:spcAft>
                <a:spcPts val="600"/>
              </a:spcAft>
              <a:buClr>
                <a:srgbClr val="8E1B22"/>
              </a:buClr>
              <a:buFont typeface="Arial"/>
              <a:buChar char="•"/>
            </a:pPr>
            <a:r>
              <a:rPr sz="1700" b="0" i="0">
                <a:solidFill>
                  <a:srgbClr val="222222"/>
                </a:solidFill>
                <a:latin typeface="Calibri"/>
              </a:rPr>
              <a:t>NOT can't combine two inputs</a:t>
            </a:r>
          </a:p>
          <a:p>
            <a:pPr marL="342900" indent="-342900" algn="l">
              <a:spcAft>
                <a:spcPts val="600"/>
              </a:spcAft>
              <a:buClr>
                <a:srgbClr val="8E1B22"/>
              </a:buClr>
              <a:buFont typeface="Arial"/>
              <a:buChar char="•"/>
            </a:pPr>
            <a:r>
              <a:rPr sz="1700" b="0" i="0">
                <a:solidFill>
                  <a:srgbClr val="222222"/>
                </a:solidFill>
                <a:latin typeface="Calibri"/>
              </a:rPr>
              <a:t>NAND and NOR do both: combine AND flip</a:t>
            </a:r>
          </a:p>
        </p:txBody>
      </p:sp>
      <p:sp>
        <p:nvSpPr>
          <p:cNvPr id="11" name="Rounded Rectangle 10"/>
          <p:cNvSpPr/>
          <p:nvPr/>
        </p:nvSpPr>
        <p:spPr>
          <a:xfrm>
            <a:off x="548640" y="5349240"/>
            <a:ext cx="4572000" cy="868680"/>
          </a:xfrm>
          <a:prstGeom prst="roundRect">
            <a:avLst>
              <a:gd name="adj" fmla="val 6000"/>
            </a:avLst>
          </a:prstGeom>
          <a:solidFill>
            <a:srgbClr val="F8E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 y="5349240"/>
            <a:ext cx="4114800" cy="868680"/>
          </a:xfrm>
          <a:prstGeom prst="rect">
            <a:avLst/>
          </a:prstGeom>
          <a:noFill/>
        </p:spPr>
        <p:txBody>
          <a:bodyPr wrap="square" lIns="0" tIns="0" rIns="0" bIns="0" anchor="ctr">
            <a:spAutoFit/>
          </a:bodyPr>
          <a:lstStyle/>
          <a:p>
            <a:pPr algn="l">
              <a:spcAft>
                <a:spcPts val="0"/>
              </a:spcAft>
            </a:pPr>
            <a:r>
              <a:rPr sz="1700" b="1" i="0">
                <a:solidFill>
                  <a:srgbClr val="8E1B22"/>
                </a:solidFill>
                <a:latin typeface="Calibri"/>
              </a:rPr>
              <a:t>XOR is not universal. </a:t>
            </a:r>
            <a:r>
              <a:rPr sz="1700" b="0" i="0">
                <a:solidFill>
                  <a:srgbClr val="222222"/>
                </a:solidFill>
                <a:latin typeface="Calibri"/>
              </a:rPr>
              <a:t>It can't build AND or OR.</a:t>
            </a:r>
          </a:p>
        </p:txBody>
      </p:sp>
      <p:sp>
        <p:nvSpPr>
          <p:cNvPr id="13" name="TextBox 12"/>
          <p:cNvSpPr txBox="1"/>
          <p:nvPr/>
        </p:nvSpPr>
        <p:spPr>
          <a:xfrm>
            <a:off x="5486400" y="1371600"/>
            <a:ext cx="6153912" cy="411480"/>
          </a:xfrm>
          <a:prstGeom prst="rect">
            <a:avLst/>
          </a:prstGeom>
          <a:noFill/>
        </p:spPr>
        <p:txBody>
          <a:bodyPr wrap="square" lIns="0" tIns="0" rIns="0" bIns="0" anchor="t">
            <a:spAutoFit/>
          </a:bodyPr>
          <a:lstStyle/>
          <a:p>
            <a:pPr algn="l">
              <a:spcAft>
                <a:spcPts val="0"/>
              </a:spcAft>
            </a:pPr>
            <a:r>
              <a:rPr sz="2000" b="1" i="0">
                <a:solidFill>
                  <a:srgbClr val="1B3A6B"/>
                </a:solidFill>
                <a:latin typeface="Calibri"/>
              </a:rPr>
              <a:t>Building the basic gates</a:t>
            </a:r>
          </a:p>
        </p:txBody>
      </p:sp>
      <p:graphicFrame>
        <p:nvGraphicFramePr>
          <p:cNvPr id="14" name="Table 13"/>
          <p:cNvGraphicFramePr>
            <a:graphicFrameLocks noGrp="1"/>
          </p:cNvGraphicFramePr>
          <p:nvPr/>
        </p:nvGraphicFramePr>
        <p:xfrm>
          <a:off x="5486400" y="1874519"/>
          <a:ext cx="6153912" cy="2633472"/>
        </p:xfrm>
        <a:graphic>
          <a:graphicData uri="http://schemas.openxmlformats.org/drawingml/2006/table">
            <a:tbl>
              <a:tblPr firstRow="1">
                <a:tableStyleId>{5C22544A-7EE6-4342-B048-85BDC9FD1C3A}</a:tableStyleId>
              </a:tblPr>
              <a:tblGrid>
                <a:gridCol w="1581912">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658368">
                <a:tc>
                  <a:txBody>
                    <a:bodyPr/>
                    <a:lstStyle/>
                    <a:p>
                      <a:pPr algn="ctr"/>
                      <a:r>
                        <a:rPr sz="1900" b="1">
                          <a:solidFill>
                            <a:srgbClr val="FFFFFF"/>
                          </a:solidFill>
                          <a:latin typeface="Calibri"/>
                        </a:rPr>
                        <a:t>Gate</a:t>
                      </a:r>
                    </a:p>
                  </a:txBody>
                  <a:tcPr marL="54864" marR="54864" marT="0" marB="0" anchor="ctr">
                    <a:solidFill>
                      <a:srgbClr val="1B3A6B"/>
                    </a:solidFill>
                  </a:tcPr>
                </a:tc>
                <a:tc>
                  <a:txBody>
                    <a:bodyPr/>
                    <a:lstStyle/>
                    <a:p>
                      <a:pPr algn="ctr"/>
                      <a:r>
                        <a:rPr sz="1900" b="1">
                          <a:solidFill>
                            <a:srgbClr val="FFFFFF"/>
                          </a:solidFill>
                          <a:latin typeface="Calibri"/>
                        </a:rPr>
                        <a:t>Only NAND</a:t>
                      </a:r>
                    </a:p>
                  </a:txBody>
                  <a:tcPr marL="54864" marR="54864" marT="0" marB="0" anchor="ctr">
                    <a:solidFill>
                      <a:srgbClr val="1B3A6B"/>
                    </a:solidFill>
                  </a:tcPr>
                </a:tc>
                <a:tc>
                  <a:txBody>
                    <a:bodyPr/>
                    <a:lstStyle/>
                    <a:p>
                      <a:pPr algn="ctr"/>
                      <a:r>
                        <a:rPr sz="1900" b="1">
                          <a:solidFill>
                            <a:srgbClr val="FFFFFF"/>
                          </a:solidFill>
                          <a:latin typeface="Calibri"/>
                        </a:rPr>
                        <a:t>Only NOR</a:t>
                      </a:r>
                    </a:p>
                  </a:txBody>
                  <a:tcPr marL="54864" marR="54864" marT="0" marB="0" anchor="ctr">
                    <a:solidFill>
                      <a:srgbClr val="1B3A6B"/>
                    </a:solidFill>
                  </a:tcPr>
                </a:tc>
                <a:extLst>
                  <a:ext uri="{0D108BD9-81ED-4DB2-BD59-A6C34878D82A}">
                    <a16:rowId xmlns:a16="http://schemas.microsoft.com/office/drawing/2014/main" val="10000"/>
                  </a:ext>
                </a:extLst>
              </a:tr>
              <a:tr h="658368">
                <a:tc>
                  <a:txBody>
                    <a:bodyPr/>
                    <a:lstStyle/>
                    <a:p>
                      <a:pPr algn="ctr"/>
                      <a:r>
                        <a:rPr sz="1900" b="1">
                          <a:solidFill>
                            <a:srgbClr val="8E1B22"/>
                          </a:solidFill>
                          <a:latin typeface="Calibri"/>
                        </a:rPr>
                        <a:t>NOT A</a:t>
                      </a:r>
                    </a:p>
                  </a:txBody>
                  <a:tcPr marL="54864" marR="54864" marT="0" marB="0" anchor="ctr">
                    <a:solidFill>
                      <a:srgbClr val="F8EEEF"/>
                    </a:solidFill>
                  </a:tcPr>
                </a:tc>
                <a:tc>
                  <a:txBody>
                    <a:bodyPr/>
                    <a:lstStyle/>
                    <a:p>
                      <a:pPr algn="ctr"/>
                      <a:r>
                        <a:rPr sz="1900" b="0">
                          <a:solidFill>
                            <a:srgbClr val="222222"/>
                          </a:solidFill>
                          <a:latin typeface="Calibri"/>
                        </a:rPr>
                        <a:t>(A · A)'</a:t>
                      </a:r>
                    </a:p>
                  </a:txBody>
                  <a:tcPr marL="54864" marR="54864" marT="0" marB="0" anchor="ctr">
                    <a:solidFill>
                      <a:srgbClr val="FFFFFF"/>
                    </a:solidFill>
                  </a:tcPr>
                </a:tc>
                <a:tc>
                  <a:txBody>
                    <a:bodyPr/>
                    <a:lstStyle/>
                    <a:p>
                      <a:pPr algn="ctr"/>
                      <a:r>
                        <a:rPr sz="1900" b="0">
                          <a:solidFill>
                            <a:srgbClr val="222222"/>
                          </a:solidFill>
                          <a:latin typeface="Calibri"/>
                        </a:rPr>
                        <a:t>(A + A)'</a:t>
                      </a:r>
                    </a:p>
                  </a:txBody>
                  <a:tcPr marL="54864" marR="54864" marT="0" marB="0" anchor="ctr">
                    <a:solidFill>
                      <a:srgbClr val="FFFFFF"/>
                    </a:solidFill>
                  </a:tcPr>
                </a:tc>
                <a:extLst>
                  <a:ext uri="{0D108BD9-81ED-4DB2-BD59-A6C34878D82A}">
                    <a16:rowId xmlns:a16="http://schemas.microsoft.com/office/drawing/2014/main" val="10001"/>
                  </a:ext>
                </a:extLst>
              </a:tr>
              <a:tr h="658368">
                <a:tc>
                  <a:txBody>
                    <a:bodyPr/>
                    <a:lstStyle/>
                    <a:p>
                      <a:pPr algn="ctr"/>
                      <a:r>
                        <a:rPr sz="1900" b="1">
                          <a:solidFill>
                            <a:srgbClr val="8E1B22"/>
                          </a:solidFill>
                          <a:latin typeface="Calibri"/>
                        </a:rPr>
                        <a:t>A · B</a:t>
                      </a:r>
                    </a:p>
                  </a:txBody>
                  <a:tcPr marL="54864" marR="54864" marT="0" marB="0" anchor="ctr">
                    <a:solidFill>
                      <a:srgbClr val="F8EEEF"/>
                    </a:solidFill>
                  </a:tcPr>
                </a:tc>
                <a:tc>
                  <a:txBody>
                    <a:bodyPr/>
                    <a:lstStyle/>
                    <a:p>
                      <a:pPr algn="ctr"/>
                      <a:r>
                        <a:rPr sz="1900" b="0">
                          <a:solidFill>
                            <a:srgbClr val="222222"/>
                          </a:solidFill>
                          <a:latin typeface="Calibri"/>
                        </a:rPr>
                        <a:t>((A · B)')'</a:t>
                      </a:r>
                    </a:p>
                  </a:txBody>
                  <a:tcPr marL="54864" marR="54864" marT="0" marB="0" anchor="ctr">
                    <a:solidFill>
                      <a:srgbClr val="EDF2F8"/>
                    </a:solidFill>
                  </a:tcPr>
                </a:tc>
                <a:tc>
                  <a:txBody>
                    <a:bodyPr/>
                    <a:lstStyle/>
                    <a:p>
                      <a:pPr algn="ctr"/>
                      <a:r>
                        <a:rPr sz="1900" b="0">
                          <a:solidFill>
                            <a:srgbClr val="222222"/>
                          </a:solidFill>
                          <a:latin typeface="Calibri"/>
                        </a:rPr>
                        <a:t>(A' + B')'</a:t>
                      </a:r>
                    </a:p>
                  </a:txBody>
                  <a:tcPr marL="54864" marR="54864" marT="0" marB="0" anchor="ctr">
                    <a:solidFill>
                      <a:srgbClr val="EDF2F8"/>
                    </a:solidFill>
                  </a:tcPr>
                </a:tc>
                <a:extLst>
                  <a:ext uri="{0D108BD9-81ED-4DB2-BD59-A6C34878D82A}">
                    <a16:rowId xmlns:a16="http://schemas.microsoft.com/office/drawing/2014/main" val="10002"/>
                  </a:ext>
                </a:extLst>
              </a:tr>
              <a:tr h="658368">
                <a:tc>
                  <a:txBody>
                    <a:bodyPr/>
                    <a:lstStyle/>
                    <a:p>
                      <a:pPr algn="ctr"/>
                      <a:r>
                        <a:rPr sz="1900" b="1">
                          <a:solidFill>
                            <a:srgbClr val="8E1B22"/>
                          </a:solidFill>
                          <a:latin typeface="Calibri"/>
                        </a:rPr>
                        <a:t>A + B</a:t>
                      </a:r>
                    </a:p>
                  </a:txBody>
                  <a:tcPr marL="54864" marR="54864" marT="0" marB="0" anchor="ctr">
                    <a:solidFill>
                      <a:srgbClr val="F8EEEF"/>
                    </a:solidFill>
                  </a:tcPr>
                </a:tc>
                <a:tc>
                  <a:txBody>
                    <a:bodyPr/>
                    <a:lstStyle/>
                    <a:p>
                      <a:pPr algn="ctr"/>
                      <a:r>
                        <a:rPr sz="1900" b="0">
                          <a:solidFill>
                            <a:srgbClr val="222222"/>
                          </a:solidFill>
                          <a:latin typeface="Calibri"/>
                        </a:rPr>
                        <a:t>(A' · B')'</a:t>
                      </a:r>
                    </a:p>
                  </a:txBody>
                  <a:tcPr marL="54864" marR="54864" marT="0" marB="0" anchor="ctr">
                    <a:solidFill>
                      <a:srgbClr val="FFFFFF"/>
                    </a:solidFill>
                  </a:tcPr>
                </a:tc>
                <a:tc>
                  <a:txBody>
                    <a:bodyPr/>
                    <a:lstStyle/>
                    <a:p>
                      <a:pPr algn="ctr"/>
                      <a:r>
                        <a:rPr sz="1900" b="0">
                          <a:solidFill>
                            <a:srgbClr val="222222"/>
                          </a:solidFill>
                          <a:latin typeface="Calibri"/>
                        </a:rPr>
                        <a:t>((A + B)')'</a:t>
                      </a:r>
                    </a:p>
                  </a:txBody>
                  <a:tcPr marL="54864" marR="54864" marT="0" marB="0" anchor="ctr">
                    <a:solidFill>
                      <a:srgbClr val="FFFFFF"/>
                    </a:solidFill>
                  </a:tcPr>
                </a:tc>
                <a:extLst>
                  <a:ext uri="{0D108BD9-81ED-4DB2-BD59-A6C34878D82A}">
                    <a16:rowId xmlns:a16="http://schemas.microsoft.com/office/drawing/2014/main" val="10003"/>
                  </a:ext>
                </a:extLst>
              </a:tr>
            </a:tbl>
          </a:graphicData>
        </a:graphic>
      </p:graphicFrame>
      <p:sp>
        <p:nvSpPr>
          <p:cNvPr id="15" name="Rounded Rectangle 14"/>
          <p:cNvSpPr/>
          <p:nvPr/>
        </p:nvSpPr>
        <p:spPr>
          <a:xfrm>
            <a:off x="5486400" y="4754880"/>
            <a:ext cx="6153912" cy="1463040"/>
          </a:xfrm>
          <a:prstGeom prst="roundRect">
            <a:avLst>
              <a:gd name="adj" fmla="val 6000"/>
            </a:avLst>
          </a:prstGeom>
          <a:solidFill>
            <a:srgbClr val="ED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760720" y="4846320"/>
            <a:ext cx="5669280" cy="1280160"/>
          </a:xfrm>
          <a:prstGeom prst="rect">
            <a:avLst/>
          </a:prstGeom>
          <a:noFill/>
        </p:spPr>
        <p:txBody>
          <a:bodyPr wrap="square" lIns="0" tIns="0" rIns="0" bIns="0" anchor="ctr">
            <a:spAutoFit/>
          </a:bodyPr>
          <a:lstStyle/>
          <a:p>
            <a:pPr algn="l">
              <a:spcAft>
                <a:spcPts val="400"/>
              </a:spcAft>
            </a:pPr>
            <a:r>
              <a:rPr sz="1700" b="1" i="0">
                <a:solidFill>
                  <a:srgbClr val="1B3A6B"/>
                </a:solidFill>
                <a:latin typeface="Calibri"/>
              </a:rPr>
              <a:t>Example: </a:t>
            </a:r>
            <a:r>
              <a:rPr sz="1700" b="0" i="0">
                <a:solidFill>
                  <a:srgbClr val="222222"/>
                </a:solidFill>
                <a:latin typeface="Calibri"/>
              </a:rPr>
              <a:t>to get NOT from a NAND, connect A to both of its inputs.</a:t>
            </a:r>
          </a:p>
          <a:p>
            <a:pPr algn="l">
              <a:spcAft>
                <a:spcPts val="0"/>
              </a:spcAft>
            </a:pPr>
            <a:r>
              <a:rPr sz="1500" b="0" i="0">
                <a:solidFill>
                  <a:srgbClr val="6B6B6B"/>
                </a:solidFill>
                <a:latin typeface="Calibri"/>
              </a:rPr>
              <a:t>Any ' inside the table is itself made from the same gate.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548640" y="429768"/>
            <a:ext cx="566928" cy="566928"/>
          </a:xfrm>
          <a:prstGeom prst="ellipse">
            <a:avLst/>
          </a:prstGeom>
          <a:solidFill>
            <a:srgbClr val="8E1B2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Calibri"/>
              </a:rPr>
              <a:t>4</a:t>
            </a:r>
          </a:p>
        </p:txBody>
      </p:sp>
      <p:sp>
        <p:nvSpPr>
          <p:cNvPr id="3" name="TextBox 2"/>
          <p:cNvSpPr txBox="1"/>
          <p:nvPr/>
        </p:nvSpPr>
        <p:spPr>
          <a:xfrm>
            <a:off x="7068312" y="182880"/>
            <a:ext cx="4572000" cy="274320"/>
          </a:xfrm>
          <a:prstGeom prst="rect">
            <a:avLst/>
          </a:prstGeom>
          <a:noFill/>
        </p:spPr>
        <p:txBody>
          <a:bodyPr wrap="square" lIns="0" tIns="0" rIns="0" bIns="0" anchor="t">
            <a:spAutoFit/>
          </a:bodyPr>
          <a:lstStyle/>
          <a:p>
            <a:pPr algn="r">
              <a:spcAft>
                <a:spcPts val="0"/>
              </a:spcAft>
            </a:pPr>
            <a:r>
              <a:rPr sz="1200" b="0" i="0">
                <a:solidFill>
                  <a:srgbClr val="6B6B6B"/>
                </a:solidFill>
                <a:latin typeface="Calibri"/>
              </a:rPr>
              <a:t>Topic 4 of 5  ·  Boolean Algebra</a:t>
            </a:r>
          </a:p>
        </p:txBody>
      </p:sp>
      <p:sp>
        <p:nvSpPr>
          <p:cNvPr id="4" name="TextBox 3"/>
          <p:cNvSpPr txBox="1"/>
          <p:nvPr/>
        </p:nvSpPr>
        <p:spPr>
          <a:xfrm>
            <a:off x="1298448" y="365760"/>
            <a:ext cx="10341864" cy="713232"/>
          </a:xfrm>
          <a:prstGeom prst="rect">
            <a:avLst/>
          </a:prstGeom>
          <a:noFill/>
        </p:spPr>
        <p:txBody>
          <a:bodyPr wrap="square" lIns="0" tIns="0" rIns="0" bIns="0" anchor="ctr">
            <a:spAutoFit/>
          </a:bodyPr>
          <a:lstStyle/>
          <a:p>
            <a:pPr algn="l">
              <a:spcAft>
                <a:spcPts val="0"/>
              </a:spcAft>
            </a:pPr>
            <a:r>
              <a:rPr sz="3400" b="1" i="0">
                <a:solidFill>
                  <a:srgbClr val="1B3A6B"/>
                </a:solidFill>
                <a:latin typeface="Calibri"/>
              </a:rPr>
              <a:t>Boolean Algebra: Math with 0 and 1</a:t>
            </a:r>
          </a:p>
        </p:txBody>
      </p:sp>
      <p:sp>
        <p:nvSpPr>
          <p:cNvPr id="5" name="TextBox 4"/>
          <p:cNvSpPr txBox="1"/>
          <p:nvPr/>
        </p:nvSpPr>
        <p:spPr>
          <a:xfrm>
            <a:off x="548640" y="6428232"/>
            <a:ext cx="5486400" cy="274320"/>
          </a:xfrm>
          <a:prstGeom prst="rect">
            <a:avLst/>
          </a:prstGeom>
          <a:noFill/>
        </p:spPr>
        <p:txBody>
          <a:bodyPr wrap="square" lIns="0" tIns="0" rIns="0" bIns="0" anchor="t">
            <a:spAutoFit/>
          </a:bodyPr>
          <a:lstStyle/>
          <a:p>
            <a:pPr algn="l">
              <a:spcAft>
                <a:spcPts val="0"/>
              </a:spcAft>
            </a:pPr>
            <a:r>
              <a:rPr sz="1100" b="0" i="0">
                <a:solidFill>
                  <a:srgbClr val="6B6B6B"/>
                </a:solidFill>
                <a:latin typeface="Calibri"/>
              </a:rPr>
              <a:t>CSE207  ·  Digital Logic Design  ·  Lecture 01</a:t>
            </a:r>
          </a:p>
        </p:txBody>
      </p:sp>
      <p:sp>
        <p:nvSpPr>
          <p:cNvPr id="6" name="TextBox 5"/>
          <p:cNvSpPr txBox="1"/>
          <p:nvPr/>
        </p:nvSpPr>
        <p:spPr>
          <a:xfrm>
            <a:off x="10725912" y="6428232"/>
            <a:ext cx="914400" cy="274320"/>
          </a:xfrm>
          <a:prstGeom prst="rect">
            <a:avLst/>
          </a:prstGeom>
          <a:noFill/>
        </p:spPr>
        <p:txBody>
          <a:bodyPr wrap="square" lIns="0" tIns="0" rIns="0" bIns="0" anchor="t">
            <a:spAutoFit/>
          </a:bodyPr>
          <a:lstStyle/>
          <a:p>
            <a:pPr algn="r">
              <a:spcAft>
                <a:spcPts val="0"/>
              </a:spcAft>
            </a:pPr>
            <a:r>
              <a:rPr sz="1100" b="0" i="0">
                <a:solidFill>
                  <a:srgbClr val="6B6B6B"/>
                </a:solidFill>
                <a:latin typeface="Calibri"/>
              </a:rPr>
              <a:t>11</a:t>
            </a:r>
          </a:p>
        </p:txBody>
      </p:sp>
      <p:sp>
        <p:nvSpPr>
          <p:cNvPr id="7" name="TextBox 6"/>
          <p:cNvSpPr txBox="1"/>
          <p:nvPr/>
        </p:nvSpPr>
        <p:spPr>
          <a:xfrm>
            <a:off x="548640" y="1280160"/>
            <a:ext cx="11091672" cy="457200"/>
          </a:xfrm>
          <a:prstGeom prst="rect">
            <a:avLst/>
          </a:prstGeom>
          <a:noFill/>
        </p:spPr>
        <p:txBody>
          <a:bodyPr wrap="square" lIns="0" tIns="0" rIns="0" bIns="0" anchor="t">
            <a:spAutoFit/>
          </a:bodyPr>
          <a:lstStyle/>
          <a:p>
            <a:pPr algn="l">
              <a:spcAft>
                <a:spcPts val="0"/>
              </a:spcAft>
            </a:pPr>
            <a:r>
              <a:rPr sz="1900" b="0" i="0">
                <a:solidFill>
                  <a:srgbClr val="222222"/>
                </a:solidFill>
                <a:latin typeface="Calibri"/>
              </a:rPr>
              <a:t>Every variable is either 0 or 1. There are only three operations:</a:t>
            </a:r>
          </a:p>
        </p:txBody>
      </p:sp>
      <p:sp>
        <p:nvSpPr>
          <p:cNvPr id="8" name="Rounded Rectangle 7"/>
          <p:cNvSpPr/>
          <p:nvPr/>
        </p:nvSpPr>
        <p:spPr>
          <a:xfrm>
            <a:off x="548640" y="1828800"/>
            <a:ext cx="3520440" cy="2331720"/>
          </a:xfrm>
          <a:prstGeom prst="roundRect">
            <a:avLst>
              <a:gd name="adj" fmla="val 6000"/>
            </a:avLst>
          </a:prstGeom>
          <a:solidFill>
            <a:srgbClr val="F8E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59" y="1965960"/>
            <a:ext cx="2971800" cy="2103120"/>
          </a:xfrm>
          <a:prstGeom prst="rect">
            <a:avLst/>
          </a:prstGeom>
          <a:noFill/>
        </p:spPr>
        <p:txBody>
          <a:bodyPr wrap="square" lIns="0" tIns="0" rIns="0" bIns="0" anchor="t">
            <a:spAutoFit/>
          </a:bodyPr>
          <a:lstStyle/>
          <a:p>
            <a:pPr algn="l">
              <a:spcAft>
                <a:spcPts val="200"/>
              </a:spcAft>
            </a:pPr>
            <a:r>
              <a:rPr sz="3600" b="1" i="0">
                <a:solidFill>
                  <a:srgbClr val="8E1B22"/>
                </a:solidFill>
                <a:latin typeface="Calibri"/>
              </a:rPr>
              <a:t>A · B</a:t>
            </a:r>
          </a:p>
          <a:p>
            <a:pPr algn="l">
              <a:spcAft>
                <a:spcPts val="600"/>
              </a:spcAft>
            </a:pPr>
            <a:r>
              <a:rPr sz="1900" b="1" i="0">
                <a:solidFill>
                  <a:srgbClr val="1B3A6B"/>
                </a:solidFill>
                <a:latin typeface="Calibri"/>
              </a:rPr>
              <a:t>AND  (like ×)</a:t>
            </a:r>
          </a:p>
          <a:p>
            <a:pPr algn="l">
              <a:spcAft>
                <a:spcPts val="400"/>
              </a:spcAft>
            </a:pPr>
            <a:r>
              <a:rPr sz="1600" b="0" i="0">
                <a:solidFill>
                  <a:srgbClr val="222222"/>
                </a:solidFill>
                <a:latin typeface="Calibri"/>
              </a:rPr>
              <a:t>1 · 1 = 1, everything else is 0</a:t>
            </a:r>
          </a:p>
          <a:p>
            <a:pPr algn="l">
              <a:spcAft>
                <a:spcPts val="0"/>
              </a:spcAft>
            </a:pPr>
            <a:endParaRPr sz="1600" b="0" i="0">
              <a:solidFill>
                <a:srgbClr val="222222"/>
              </a:solidFill>
              <a:latin typeface="Calibri"/>
            </a:endParaRPr>
          </a:p>
        </p:txBody>
      </p:sp>
      <p:sp>
        <p:nvSpPr>
          <p:cNvPr id="10" name="Rounded Rectangle 9"/>
          <p:cNvSpPr/>
          <p:nvPr/>
        </p:nvSpPr>
        <p:spPr>
          <a:xfrm>
            <a:off x="4334255" y="1828800"/>
            <a:ext cx="3520440" cy="2331720"/>
          </a:xfrm>
          <a:prstGeom prst="roundRect">
            <a:avLst>
              <a:gd name="adj" fmla="val 6000"/>
            </a:avLst>
          </a:prstGeom>
          <a:solidFill>
            <a:srgbClr val="ED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08575" y="1965960"/>
            <a:ext cx="2971800" cy="2103120"/>
          </a:xfrm>
          <a:prstGeom prst="rect">
            <a:avLst/>
          </a:prstGeom>
          <a:noFill/>
        </p:spPr>
        <p:txBody>
          <a:bodyPr wrap="square" lIns="0" tIns="0" rIns="0" bIns="0" anchor="t">
            <a:spAutoFit/>
          </a:bodyPr>
          <a:lstStyle/>
          <a:p>
            <a:pPr algn="l">
              <a:spcAft>
                <a:spcPts val="200"/>
              </a:spcAft>
            </a:pPr>
            <a:r>
              <a:rPr sz="3600" b="1" i="0">
                <a:solidFill>
                  <a:srgbClr val="8E1B22"/>
                </a:solidFill>
                <a:latin typeface="Calibri"/>
              </a:rPr>
              <a:t>A + B</a:t>
            </a:r>
          </a:p>
          <a:p>
            <a:pPr algn="l">
              <a:spcAft>
                <a:spcPts val="600"/>
              </a:spcAft>
            </a:pPr>
            <a:r>
              <a:rPr sz="1900" b="1" i="0">
                <a:solidFill>
                  <a:srgbClr val="1B3A6B"/>
                </a:solidFill>
                <a:latin typeface="Calibri"/>
              </a:rPr>
              <a:t>OR  (like +)</a:t>
            </a:r>
          </a:p>
          <a:p>
            <a:pPr algn="l">
              <a:spcAft>
                <a:spcPts val="400"/>
              </a:spcAft>
            </a:pPr>
            <a:r>
              <a:rPr sz="1600" b="0" i="0">
                <a:solidFill>
                  <a:srgbClr val="222222"/>
                </a:solidFill>
                <a:latin typeface="Calibri"/>
              </a:rPr>
              <a:t>0 + 0 = 0, everything else is 1</a:t>
            </a:r>
          </a:p>
          <a:p>
            <a:pPr algn="l">
              <a:spcAft>
                <a:spcPts val="0"/>
              </a:spcAft>
            </a:pPr>
            <a:r>
              <a:rPr sz="1600" b="1" i="0">
                <a:solidFill>
                  <a:srgbClr val="8E1B22"/>
                </a:solidFill>
                <a:latin typeface="Calibri"/>
              </a:rPr>
              <a:t>Careful: 1 + 1 = 1, not 2!</a:t>
            </a:r>
          </a:p>
        </p:txBody>
      </p:sp>
      <p:sp>
        <p:nvSpPr>
          <p:cNvPr id="12" name="Rounded Rectangle 11"/>
          <p:cNvSpPr/>
          <p:nvPr/>
        </p:nvSpPr>
        <p:spPr>
          <a:xfrm>
            <a:off x="8119871" y="1828800"/>
            <a:ext cx="3520440" cy="2331720"/>
          </a:xfrm>
          <a:prstGeom prst="roundRect">
            <a:avLst>
              <a:gd name="adj" fmla="val 6000"/>
            </a:avLst>
          </a:prstGeom>
          <a:solidFill>
            <a:srgbClr val="F8E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394192" y="1965960"/>
            <a:ext cx="2971800" cy="2103120"/>
          </a:xfrm>
          <a:prstGeom prst="rect">
            <a:avLst/>
          </a:prstGeom>
          <a:noFill/>
        </p:spPr>
        <p:txBody>
          <a:bodyPr wrap="square" lIns="0" tIns="0" rIns="0" bIns="0" anchor="t">
            <a:spAutoFit/>
          </a:bodyPr>
          <a:lstStyle/>
          <a:p>
            <a:pPr algn="l">
              <a:spcAft>
                <a:spcPts val="200"/>
              </a:spcAft>
            </a:pPr>
            <a:r>
              <a:rPr sz="3600" b="1" i="0">
                <a:solidFill>
                  <a:srgbClr val="8E1B22"/>
                </a:solidFill>
                <a:latin typeface="Calibri"/>
              </a:rPr>
              <a:t>A'</a:t>
            </a:r>
          </a:p>
          <a:p>
            <a:pPr algn="l">
              <a:spcAft>
                <a:spcPts val="600"/>
              </a:spcAft>
            </a:pPr>
            <a:r>
              <a:rPr sz="1900" b="1" i="0">
                <a:solidFill>
                  <a:srgbClr val="1B3A6B"/>
                </a:solidFill>
                <a:latin typeface="Calibri"/>
              </a:rPr>
              <a:t>NOT  (complement)</a:t>
            </a:r>
          </a:p>
          <a:p>
            <a:pPr algn="l">
              <a:spcAft>
                <a:spcPts val="400"/>
              </a:spcAft>
            </a:pPr>
            <a:r>
              <a:rPr sz="1600" b="0" i="0">
                <a:solidFill>
                  <a:srgbClr val="222222"/>
                </a:solidFill>
                <a:latin typeface="Calibri"/>
              </a:rPr>
              <a:t>0' = 1 and 1' = 0  (also written Ā)</a:t>
            </a:r>
          </a:p>
          <a:p>
            <a:pPr algn="l">
              <a:spcAft>
                <a:spcPts val="0"/>
              </a:spcAft>
            </a:pPr>
            <a:endParaRPr sz="1600" b="0" i="0">
              <a:solidFill>
                <a:srgbClr val="222222"/>
              </a:solidFill>
              <a:latin typeface="Calibri"/>
            </a:endParaRPr>
          </a:p>
        </p:txBody>
      </p:sp>
      <p:sp>
        <p:nvSpPr>
          <p:cNvPr id="14" name="Rounded Rectangle 13"/>
          <p:cNvSpPr/>
          <p:nvPr/>
        </p:nvSpPr>
        <p:spPr>
          <a:xfrm>
            <a:off x="548640" y="4434840"/>
            <a:ext cx="11091672" cy="1783080"/>
          </a:xfrm>
          <a:prstGeom prst="roundRect">
            <a:avLst>
              <a:gd name="adj" fmla="val 600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68680" y="4434840"/>
            <a:ext cx="4023360" cy="1783080"/>
          </a:xfrm>
          <a:prstGeom prst="rect">
            <a:avLst/>
          </a:prstGeom>
          <a:noFill/>
        </p:spPr>
        <p:txBody>
          <a:bodyPr wrap="square" lIns="0" tIns="0" rIns="0" bIns="0" anchor="ctr">
            <a:spAutoFit/>
          </a:bodyPr>
          <a:lstStyle/>
          <a:p>
            <a:pPr algn="l">
              <a:spcAft>
                <a:spcPts val="400"/>
              </a:spcAft>
            </a:pPr>
            <a:r>
              <a:rPr sz="1700" b="1" i="0">
                <a:solidFill>
                  <a:srgbClr val="F2C9CC"/>
                </a:solidFill>
                <a:latin typeface="Calibri"/>
              </a:rPr>
              <a:t>Order of operations</a:t>
            </a:r>
          </a:p>
          <a:p>
            <a:pPr algn="l">
              <a:spcAft>
                <a:spcPts val="0"/>
              </a:spcAft>
            </a:pPr>
            <a:r>
              <a:rPr sz="2600" b="1" i="0">
                <a:solidFill>
                  <a:srgbClr val="FFFFFF"/>
                </a:solidFill>
                <a:latin typeface="Calibri"/>
              </a:rPr>
              <a:t>NOT  →  AND  →  OR</a:t>
            </a:r>
          </a:p>
          <a:p>
            <a:pPr algn="l">
              <a:spcAft>
                <a:spcPts val="0"/>
              </a:spcAft>
            </a:pPr>
            <a:r>
              <a:rPr sz="1500" b="0" i="0">
                <a:solidFill>
                  <a:srgbClr val="F2C9CC"/>
                </a:solidFill>
                <a:latin typeface="Calibri"/>
              </a:rPr>
              <a:t>(just like × before +)</a:t>
            </a:r>
          </a:p>
        </p:txBody>
      </p:sp>
      <p:sp>
        <p:nvSpPr>
          <p:cNvPr id="16" name="TextBox 15"/>
          <p:cNvSpPr txBox="1"/>
          <p:nvPr/>
        </p:nvSpPr>
        <p:spPr>
          <a:xfrm>
            <a:off x="5120640" y="4434840"/>
            <a:ext cx="6309360" cy="1783080"/>
          </a:xfrm>
          <a:prstGeom prst="rect">
            <a:avLst/>
          </a:prstGeom>
          <a:noFill/>
        </p:spPr>
        <p:txBody>
          <a:bodyPr wrap="square" lIns="0" tIns="0" rIns="0" bIns="0" anchor="ctr">
            <a:spAutoFit/>
          </a:bodyPr>
          <a:lstStyle/>
          <a:p>
            <a:pPr algn="l">
              <a:spcAft>
                <a:spcPts val="800"/>
              </a:spcAft>
            </a:pPr>
            <a:r>
              <a:rPr sz="1800" b="1" i="0">
                <a:solidFill>
                  <a:srgbClr val="F2C9CC"/>
                </a:solidFill>
                <a:latin typeface="Calibri"/>
              </a:rPr>
              <a:t>Example:  </a:t>
            </a:r>
            <a:r>
              <a:rPr sz="1800" b="0" i="0">
                <a:solidFill>
                  <a:srgbClr val="FFFFFF"/>
                </a:solidFill>
                <a:latin typeface="Calibri"/>
              </a:rPr>
              <a:t>Y = A'·B + C   with  A = 0, B = 1, C = 0</a:t>
            </a:r>
          </a:p>
          <a:p>
            <a:pPr algn="l">
              <a:spcAft>
                <a:spcPts val="0"/>
              </a:spcAft>
            </a:pPr>
            <a:r>
              <a:rPr sz="2400" b="1" i="0">
                <a:solidFill>
                  <a:srgbClr val="FFFFFF"/>
                </a:solidFill>
                <a:latin typeface="Calibri"/>
              </a:rPr>
              <a:t>Y = 1 · 1 + 0  =  1 + 0  =  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548640" y="429768"/>
            <a:ext cx="566928" cy="566928"/>
          </a:xfrm>
          <a:prstGeom prst="ellipse">
            <a:avLst/>
          </a:prstGeom>
          <a:solidFill>
            <a:srgbClr val="8E1B2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Calibri"/>
              </a:rPr>
              <a:t>4</a:t>
            </a:r>
          </a:p>
        </p:txBody>
      </p:sp>
      <p:sp>
        <p:nvSpPr>
          <p:cNvPr id="3" name="TextBox 2"/>
          <p:cNvSpPr txBox="1"/>
          <p:nvPr/>
        </p:nvSpPr>
        <p:spPr>
          <a:xfrm>
            <a:off x="7068312" y="182880"/>
            <a:ext cx="4572000" cy="274320"/>
          </a:xfrm>
          <a:prstGeom prst="rect">
            <a:avLst/>
          </a:prstGeom>
          <a:noFill/>
        </p:spPr>
        <p:txBody>
          <a:bodyPr wrap="square" lIns="0" tIns="0" rIns="0" bIns="0" anchor="t">
            <a:spAutoFit/>
          </a:bodyPr>
          <a:lstStyle/>
          <a:p>
            <a:pPr algn="r">
              <a:spcAft>
                <a:spcPts val="0"/>
              </a:spcAft>
            </a:pPr>
            <a:r>
              <a:rPr sz="1200" b="0" i="0">
                <a:solidFill>
                  <a:srgbClr val="6B6B6B"/>
                </a:solidFill>
                <a:latin typeface="Calibri"/>
              </a:rPr>
              <a:t>Topic 4 of 5  ·  Boolean Algebra</a:t>
            </a:r>
          </a:p>
        </p:txBody>
      </p:sp>
      <p:sp>
        <p:nvSpPr>
          <p:cNvPr id="4" name="TextBox 3"/>
          <p:cNvSpPr txBox="1"/>
          <p:nvPr/>
        </p:nvSpPr>
        <p:spPr>
          <a:xfrm>
            <a:off x="1298448" y="365760"/>
            <a:ext cx="10341864" cy="713232"/>
          </a:xfrm>
          <a:prstGeom prst="rect">
            <a:avLst/>
          </a:prstGeom>
          <a:noFill/>
        </p:spPr>
        <p:txBody>
          <a:bodyPr wrap="square" lIns="0" tIns="0" rIns="0" bIns="0" anchor="ctr">
            <a:spAutoFit/>
          </a:bodyPr>
          <a:lstStyle/>
          <a:p>
            <a:pPr algn="l">
              <a:spcAft>
                <a:spcPts val="0"/>
              </a:spcAft>
            </a:pPr>
            <a:r>
              <a:rPr sz="3400" b="1" i="0">
                <a:solidFill>
                  <a:srgbClr val="1B3A6B"/>
                </a:solidFill>
                <a:latin typeface="Calibri"/>
              </a:rPr>
              <a:t>Basic Laws of Boolean Algebra</a:t>
            </a:r>
          </a:p>
        </p:txBody>
      </p:sp>
      <p:sp>
        <p:nvSpPr>
          <p:cNvPr id="5" name="TextBox 4"/>
          <p:cNvSpPr txBox="1"/>
          <p:nvPr/>
        </p:nvSpPr>
        <p:spPr>
          <a:xfrm>
            <a:off x="548640" y="6428232"/>
            <a:ext cx="5486400" cy="274320"/>
          </a:xfrm>
          <a:prstGeom prst="rect">
            <a:avLst/>
          </a:prstGeom>
          <a:noFill/>
        </p:spPr>
        <p:txBody>
          <a:bodyPr wrap="square" lIns="0" tIns="0" rIns="0" bIns="0" anchor="t">
            <a:spAutoFit/>
          </a:bodyPr>
          <a:lstStyle/>
          <a:p>
            <a:pPr algn="l">
              <a:spcAft>
                <a:spcPts val="0"/>
              </a:spcAft>
            </a:pPr>
            <a:r>
              <a:rPr sz="1100" b="0" i="0">
                <a:solidFill>
                  <a:srgbClr val="6B6B6B"/>
                </a:solidFill>
                <a:latin typeface="Calibri"/>
              </a:rPr>
              <a:t>CSE207  ·  Digital Logic Design  ·  Lecture 01</a:t>
            </a:r>
          </a:p>
        </p:txBody>
      </p:sp>
      <p:sp>
        <p:nvSpPr>
          <p:cNvPr id="6" name="TextBox 5"/>
          <p:cNvSpPr txBox="1"/>
          <p:nvPr/>
        </p:nvSpPr>
        <p:spPr>
          <a:xfrm>
            <a:off x="10725912" y="6428232"/>
            <a:ext cx="914400" cy="274320"/>
          </a:xfrm>
          <a:prstGeom prst="rect">
            <a:avLst/>
          </a:prstGeom>
          <a:noFill/>
        </p:spPr>
        <p:txBody>
          <a:bodyPr wrap="square" lIns="0" tIns="0" rIns="0" bIns="0" anchor="t">
            <a:spAutoFit/>
          </a:bodyPr>
          <a:lstStyle/>
          <a:p>
            <a:pPr algn="r">
              <a:spcAft>
                <a:spcPts val="0"/>
              </a:spcAft>
            </a:pPr>
            <a:r>
              <a:rPr sz="1100" b="0" i="0">
                <a:solidFill>
                  <a:srgbClr val="6B6B6B"/>
                </a:solidFill>
                <a:latin typeface="Calibri"/>
              </a:rPr>
              <a:t>12</a:t>
            </a:r>
          </a:p>
        </p:txBody>
      </p:sp>
      <p:graphicFrame>
        <p:nvGraphicFramePr>
          <p:cNvPr id="7" name="Table 6"/>
          <p:cNvGraphicFramePr>
            <a:graphicFrameLocks noGrp="1"/>
          </p:cNvGraphicFramePr>
          <p:nvPr/>
        </p:nvGraphicFramePr>
        <p:xfrm>
          <a:off x="548640" y="1325880"/>
          <a:ext cx="7772400" cy="4754880"/>
        </p:xfrm>
        <a:graphic>
          <a:graphicData uri="http://schemas.openxmlformats.org/drawingml/2006/table">
            <a:tbl>
              <a:tblPr firstRow="1">
                <a:tableStyleId>{5C22544A-7EE6-4342-B048-85BDC9FD1C3A}</a:tableStyleId>
              </a:tblPr>
              <a:tblGrid>
                <a:gridCol w="182880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gridCol w="2880360">
                  <a:extLst>
                    <a:ext uri="{9D8B030D-6E8A-4147-A177-3AD203B41FA5}">
                      <a16:colId xmlns:a16="http://schemas.microsoft.com/office/drawing/2014/main" val="20002"/>
                    </a:ext>
                  </a:extLst>
                </a:gridCol>
              </a:tblGrid>
              <a:tr h="475488">
                <a:tc>
                  <a:txBody>
                    <a:bodyPr/>
                    <a:lstStyle/>
                    <a:p>
                      <a:pPr algn="ctr"/>
                      <a:r>
                        <a:rPr sz="1700" b="1">
                          <a:solidFill>
                            <a:srgbClr val="FFFFFF"/>
                          </a:solidFill>
                          <a:latin typeface="Calibri"/>
                        </a:rPr>
                        <a:t>Law</a:t>
                      </a:r>
                    </a:p>
                  </a:txBody>
                  <a:tcPr marL="54864" marR="54864" marT="0" marB="0" anchor="ctr">
                    <a:solidFill>
                      <a:srgbClr val="1B3A6B"/>
                    </a:solidFill>
                  </a:tcPr>
                </a:tc>
                <a:tc>
                  <a:txBody>
                    <a:bodyPr/>
                    <a:lstStyle/>
                    <a:p>
                      <a:pPr algn="ctr"/>
                      <a:r>
                        <a:rPr sz="1700" b="1">
                          <a:solidFill>
                            <a:srgbClr val="FFFFFF"/>
                          </a:solidFill>
                          <a:latin typeface="Calibri"/>
                        </a:rPr>
                        <a:t>OR form</a:t>
                      </a:r>
                    </a:p>
                  </a:txBody>
                  <a:tcPr marL="54864" marR="54864" marT="0" marB="0" anchor="ctr">
                    <a:solidFill>
                      <a:srgbClr val="1B3A6B"/>
                    </a:solidFill>
                  </a:tcPr>
                </a:tc>
                <a:tc>
                  <a:txBody>
                    <a:bodyPr/>
                    <a:lstStyle/>
                    <a:p>
                      <a:pPr algn="ctr"/>
                      <a:r>
                        <a:rPr sz="1700" b="1">
                          <a:solidFill>
                            <a:srgbClr val="FFFFFF"/>
                          </a:solidFill>
                          <a:latin typeface="Calibri"/>
                        </a:rPr>
                        <a:t>AND form</a:t>
                      </a:r>
                    </a:p>
                  </a:txBody>
                  <a:tcPr marL="54864" marR="54864" marT="0" marB="0" anchor="ctr">
                    <a:solidFill>
                      <a:srgbClr val="1B3A6B"/>
                    </a:solidFill>
                  </a:tcPr>
                </a:tc>
                <a:extLst>
                  <a:ext uri="{0D108BD9-81ED-4DB2-BD59-A6C34878D82A}">
                    <a16:rowId xmlns:a16="http://schemas.microsoft.com/office/drawing/2014/main" val="10000"/>
                  </a:ext>
                </a:extLst>
              </a:tr>
              <a:tr h="475488">
                <a:tc>
                  <a:txBody>
                    <a:bodyPr/>
                    <a:lstStyle/>
                    <a:p>
                      <a:pPr algn="ctr"/>
                      <a:r>
                        <a:rPr sz="1700" b="1">
                          <a:solidFill>
                            <a:srgbClr val="8E1B22"/>
                          </a:solidFill>
                          <a:latin typeface="Calibri"/>
                        </a:rPr>
                        <a:t>Identity</a:t>
                      </a:r>
                    </a:p>
                  </a:txBody>
                  <a:tcPr marL="54864" marR="54864" marT="0" marB="0" anchor="ctr">
                    <a:solidFill>
                      <a:srgbClr val="F8EEEF"/>
                    </a:solidFill>
                  </a:tcPr>
                </a:tc>
                <a:tc>
                  <a:txBody>
                    <a:bodyPr/>
                    <a:lstStyle/>
                    <a:p>
                      <a:pPr algn="ctr"/>
                      <a:r>
                        <a:rPr sz="1700" b="0">
                          <a:solidFill>
                            <a:srgbClr val="222222"/>
                          </a:solidFill>
                          <a:latin typeface="Calibri"/>
                        </a:rPr>
                        <a:t>A + 0 = A</a:t>
                      </a:r>
                    </a:p>
                  </a:txBody>
                  <a:tcPr marL="54864" marR="54864" marT="0" marB="0" anchor="ctr">
                    <a:solidFill>
                      <a:srgbClr val="FFFFFF"/>
                    </a:solidFill>
                  </a:tcPr>
                </a:tc>
                <a:tc>
                  <a:txBody>
                    <a:bodyPr/>
                    <a:lstStyle/>
                    <a:p>
                      <a:pPr algn="ctr"/>
                      <a:r>
                        <a:rPr sz="1700" b="0">
                          <a:solidFill>
                            <a:srgbClr val="222222"/>
                          </a:solidFill>
                          <a:latin typeface="Calibri"/>
                        </a:rPr>
                        <a:t>A · 1 = A</a:t>
                      </a:r>
                    </a:p>
                  </a:txBody>
                  <a:tcPr marL="54864" marR="54864" marT="0" marB="0" anchor="ctr">
                    <a:solidFill>
                      <a:srgbClr val="FFFFFF"/>
                    </a:solidFill>
                  </a:tcPr>
                </a:tc>
                <a:extLst>
                  <a:ext uri="{0D108BD9-81ED-4DB2-BD59-A6C34878D82A}">
                    <a16:rowId xmlns:a16="http://schemas.microsoft.com/office/drawing/2014/main" val="10001"/>
                  </a:ext>
                </a:extLst>
              </a:tr>
              <a:tr h="475488">
                <a:tc>
                  <a:txBody>
                    <a:bodyPr/>
                    <a:lstStyle/>
                    <a:p>
                      <a:pPr algn="ctr"/>
                      <a:r>
                        <a:rPr sz="1700" b="1">
                          <a:solidFill>
                            <a:srgbClr val="8E1B22"/>
                          </a:solidFill>
                          <a:latin typeface="Calibri"/>
                        </a:rPr>
                        <a:t>Null</a:t>
                      </a:r>
                    </a:p>
                  </a:txBody>
                  <a:tcPr marL="54864" marR="54864" marT="0" marB="0" anchor="ctr">
                    <a:solidFill>
                      <a:srgbClr val="F8EEEF"/>
                    </a:solidFill>
                  </a:tcPr>
                </a:tc>
                <a:tc>
                  <a:txBody>
                    <a:bodyPr/>
                    <a:lstStyle/>
                    <a:p>
                      <a:pPr algn="ctr"/>
                      <a:r>
                        <a:rPr sz="1700" b="0">
                          <a:solidFill>
                            <a:srgbClr val="222222"/>
                          </a:solidFill>
                          <a:latin typeface="Calibri"/>
                        </a:rPr>
                        <a:t>A + 1 = 1</a:t>
                      </a:r>
                    </a:p>
                  </a:txBody>
                  <a:tcPr marL="54864" marR="54864" marT="0" marB="0" anchor="ctr">
                    <a:solidFill>
                      <a:srgbClr val="EDF2F8"/>
                    </a:solidFill>
                  </a:tcPr>
                </a:tc>
                <a:tc>
                  <a:txBody>
                    <a:bodyPr/>
                    <a:lstStyle/>
                    <a:p>
                      <a:pPr algn="ctr"/>
                      <a:r>
                        <a:rPr sz="1700" b="0">
                          <a:solidFill>
                            <a:srgbClr val="222222"/>
                          </a:solidFill>
                          <a:latin typeface="Calibri"/>
                        </a:rPr>
                        <a:t>A · 0 = 0</a:t>
                      </a:r>
                    </a:p>
                  </a:txBody>
                  <a:tcPr marL="54864" marR="54864" marT="0" marB="0" anchor="ctr">
                    <a:solidFill>
                      <a:srgbClr val="EDF2F8"/>
                    </a:solidFill>
                  </a:tcPr>
                </a:tc>
                <a:extLst>
                  <a:ext uri="{0D108BD9-81ED-4DB2-BD59-A6C34878D82A}">
                    <a16:rowId xmlns:a16="http://schemas.microsoft.com/office/drawing/2014/main" val="10002"/>
                  </a:ext>
                </a:extLst>
              </a:tr>
              <a:tr h="475488">
                <a:tc>
                  <a:txBody>
                    <a:bodyPr/>
                    <a:lstStyle/>
                    <a:p>
                      <a:pPr algn="ctr"/>
                      <a:r>
                        <a:rPr sz="1700" b="1">
                          <a:solidFill>
                            <a:srgbClr val="8E1B22"/>
                          </a:solidFill>
                          <a:latin typeface="Calibri"/>
                        </a:rPr>
                        <a:t>Idempotent</a:t>
                      </a:r>
                    </a:p>
                  </a:txBody>
                  <a:tcPr marL="54864" marR="54864" marT="0" marB="0" anchor="ctr">
                    <a:solidFill>
                      <a:srgbClr val="F8EEEF"/>
                    </a:solidFill>
                  </a:tcPr>
                </a:tc>
                <a:tc>
                  <a:txBody>
                    <a:bodyPr/>
                    <a:lstStyle/>
                    <a:p>
                      <a:pPr algn="ctr"/>
                      <a:r>
                        <a:rPr sz="1700" b="0">
                          <a:solidFill>
                            <a:srgbClr val="222222"/>
                          </a:solidFill>
                          <a:latin typeface="Calibri"/>
                        </a:rPr>
                        <a:t>A + A = A</a:t>
                      </a:r>
                    </a:p>
                  </a:txBody>
                  <a:tcPr marL="54864" marR="54864" marT="0" marB="0" anchor="ctr">
                    <a:solidFill>
                      <a:srgbClr val="FFFFFF"/>
                    </a:solidFill>
                  </a:tcPr>
                </a:tc>
                <a:tc>
                  <a:txBody>
                    <a:bodyPr/>
                    <a:lstStyle/>
                    <a:p>
                      <a:pPr algn="ctr"/>
                      <a:r>
                        <a:rPr sz="1700" b="0">
                          <a:solidFill>
                            <a:srgbClr val="222222"/>
                          </a:solidFill>
                          <a:latin typeface="Calibri"/>
                        </a:rPr>
                        <a:t>A · A = A</a:t>
                      </a:r>
                    </a:p>
                  </a:txBody>
                  <a:tcPr marL="54864" marR="54864" marT="0" marB="0" anchor="ctr">
                    <a:solidFill>
                      <a:srgbClr val="FFFFFF"/>
                    </a:solidFill>
                  </a:tcPr>
                </a:tc>
                <a:extLst>
                  <a:ext uri="{0D108BD9-81ED-4DB2-BD59-A6C34878D82A}">
                    <a16:rowId xmlns:a16="http://schemas.microsoft.com/office/drawing/2014/main" val="10003"/>
                  </a:ext>
                </a:extLst>
              </a:tr>
              <a:tr h="475488">
                <a:tc>
                  <a:txBody>
                    <a:bodyPr/>
                    <a:lstStyle/>
                    <a:p>
                      <a:pPr algn="ctr"/>
                      <a:r>
                        <a:rPr sz="1700" b="1">
                          <a:solidFill>
                            <a:srgbClr val="8E1B22"/>
                          </a:solidFill>
                          <a:latin typeface="Calibri"/>
                        </a:rPr>
                        <a:t>Complement</a:t>
                      </a:r>
                    </a:p>
                  </a:txBody>
                  <a:tcPr marL="54864" marR="54864" marT="0" marB="0" anchor="ctr">
                    <a:solidFill>
                      <a:srgbClr val="F8EEEF"/>
                    </a:solidFill>
                  </a:tcPr>
                </a:tc>
                <a:tc>
                  <a:txBody>
                    <a:bodyPr/>
                    <a:lstStyle/>
                    <a:p>
                      <a:pPr algn="ctr"/>
                      <a:r>
                        <a:rPr sz="1700" b="0">
                          <a:solidFill>
                            <a:srgbClr val="222222"/>
                          </a:solidFill>
                          <a:latin typeface="Calibri"/>
                        </a:rPr>
                        <a:t>A + A' = 1</a:t>
                      </a:r>
                    </a:p>
                  </a:txBody>
                  <a:tcPr marL="54864" marR="54864" marT="0" marB="0" anchor="ctr">
                    <a:solidFill>
                      <a:srgbClr val="EDF2F8"/>
                    </a:solidFill>
                  </a:tcPr>
                </a:tc>
                <a:tc>
                  <a:txBody>
                    <a:bodyPr/>
                    <a:lstStyle/>
                    <a:p>
                      <a:pPr algn="ctr"/>
                      <a:r>
                        <a:rPr sz="1700" b="0">
                          <a:solidFill>
                            <a:srgbClr val="222222"/>
                          </a:solidFill>
                          <a:latin typeface="Calibri"/>
                        </a:rPr>
                        <a:t>A · A' = 0</a:t>
                      </a:r>
                    </a:p>
                  </a:txBody>
                  <a:tcPr marL="54864" marR="54864" marT="0" marB="0" anchor="ctr">
                    <a:solidFill>
                      <a:srgbClr val="EDF2F8"/>
                    </a:solidFill>
                  </a:tcPr>
                </a:tc>
                <a:extLst>
                  <a:ext uri="{0D108BD9-81ED-4DB2-BD59-A6C34878D82A}">
                    <a16:rowId xmlns:a16="http://schemas.microsoft.com/office/drawing/2014/main" val="10004"/>
                  </a:ext>
                </a:extLst>
              </a:tr>
              <a:tr h="475488">
                <a:tc>
                  <a:txBody>
                    <a:bodyPr/>
                    <a:lstStyle/>
                    <a:p>
                      <a:pPr algn="ctr"/>
                      <a:r>
                        <a:rPr sz="1700" b="1">
                          <a:solidFill>
                            <a:srgbClr val="8E1B22"/>
                          </a:solidFill>
                          <a:latin typeface="Calibri"/>
                        </a:rPr>
                        <a:t>Involution</a:t>
                      </a:r>
                    </a:p>
                  </a:txBody>
                  <a:tcPr marL="54864" marR="54864" marT="0" marB="0" anchor="ctr">
                    <a:solidFill>
                      <a:srgbClr val="F8EEEF"/>
                    </a:solidFill>
                  </a:tcPr>
                </a:tc>
                <a:tc gridSpan="2">
                  <a:txBody>
                    <a:bodyPr/>
                    <a:lstStyle/>
                    <a:p>
                      <a:pPr algn="ctr"/>
                      <a:r>
                        <a:rPr sz="1700" b="0">
                          <a:solidFill>
                            <a:srgbClr val="222222"/>
                          </a:solidFill>
                          <a:latin typeface="Calibri"/>
                        </a:rPr>
                        <a:t>(A')' = A</a:t>
                      </a:r>
                    </a:p>
                  </a:txBody>
                  <a:tcPr marL="54864" marR="54864" marT="0" marB="0" anchor="ctr">
                    <a:solidFill>
                      <a:srgbClr val="FFFFFF"/>
                    </a:solidFill>
                  </a:tcPr>
                </a:tc>
                <a:tc hMerge="1">
                  <a:txBody>
                    <a:bodyPr/>
                    <a:lstStyle/>
                    <a:p>
                      <a:pPr algn="ctr"/>
                      <a:endParaRPr/>
                    </a:p>
                  </a:txBody>
                  <a:tcPr marL="54864" marR="54864" marT="0" marB="0" anchor="ctr">
                    <a:solidFill>
                      <a:srgbClr val="FFFFFF"/>
                    </a:solidFill>
                  </a:tcPr>
                </a:tc>
                <a:extLst>
                  <a:ext uri="{0D108BD9-81ED-4DB2-BD59-A6C34878D82A}">
                    <a16:rowId xmlns:a16="http://schemas.microsoft.com/office/drawing/2014/main" val="10005"/>
                  </a:ext>
                </a:extLst>
              </a:tr>
              <a:tr h="475488">
                <a:tc>
                  <a:txBody>
                    <a:bodyPr/>
                    <a:lstStyle/>
                    <a:p>
                      <a:pPr algn="ctr"/>
                      <a:r>
                        <a:rPr sz="1700" b="1">
                          <a:solidFill>
                            <a:srgbClr val="8E1B22"/>
                          </a:solidFill>
                          <a:latin typeface="Calibri"/>
                        </a:rPr>
                        <a:t>Commutative</a:t>
                      </a:r>
                    </a:p>
                  </a:txBody>
                  <a:tcPr marL="54864" marR="54864" marT="0" marB="0" anchor="ctr">
                    <a:solidFill>
                      <a:srgbClr val="F8EEEF"/>
                    </a:solidFill>
                  </a:tcPr>
                </a:tc>
                <a:tc>
                  <a:txBody>
                    <a:bodyPr/>
                    <a:lstStyle/>
                    <a:p>
                      <a:pPr algn="ctr"/>
                      <a:r>
                        <a:rPr sz="1700" b="0">
                          <a:solidFill>
                            <a:srgbClr val="222222"/>
                          </a:solidFill>
                          <a:latin typeface="Calibri"/>
                        </a:rPr>
                        <a:t>A + B = B + A</a:t>
                      </a:r>
                    </a:p>
                  </a:txBody>
                  <a:tcPr marL="54864" marR="54864" marT="0" marB="0" anchor="ctr">
                    <a:solidFill>
                      <a:srgbClr val="EDF2F8"/>
                    </a:solidFill>
                  </a:tcPr>
                </a:tc>
                <a:tc>
                  <a:txBody>
                    <a:bodyPr/>
                    <a:lstStyle/>
                    <a:p>
                      <a:pPr algn="ctr"/>
                      <a:r>
                        <a:rPr sz="1700" b="0">
                          <a:solidFill>
                            <a:srgbClr val="222222"/>
                          </a:solidFill>
                          <a:latin typeface="Calibri"/>
                        </a:rPr>
                        <a:t>A · B = B · A</a:t>
                      </a:r>
                    </a:p>
                  </a:txBody>
                  <a:tcPr marL="54864" marR="54864" marT="0" marB="0" anchor="ctr">
                    <a:solidFill>
                      <a:srgbClr val="EDF2F8"/>
                    </a:solidFill>
                  </a:tcPr>
                </a:tc>
                <a:extLst>
                  <a:ext uri="{0D108BD9-81ED-4DB2-BD59-A6C34878D82A}">
                    <a16:rowId xmlns:a16="http://schemas.microsoft.com/office/drawing/2014/main" val="10006"/>
                  </a:ext>
                </a:extLst>
              </a:tr>
              <a:tr h="475488">
                <a:tc>
                  <a:txBody>
                    <a:bodyPr/>
                    <a:lstStyle/>
                    <a:p>
                      <a:pPr algn="ctr"/>
                      <a:r>
                        <a:rPr sz="1700" b="1">
                          <a:solidFill>
                            <a:srgbClr val="8E1B22"/>
                          </a:solidFill>
                          <a:latin typeface="Calibri"/>
                        </a:rPr>
                        <a:t>Associative</a:t>
                      </a:r>
                    </a:p>
                  </a:txBody>
                  <a:tcPr marL="54864" marR="54864" marT="0" marB="0" anchor="ctr">
                    <a:solidFill>
                      <a:srgbClr val="F8EEEF"/>
                    </a:solidFill>
                  </a:tcPr>
                </a:tc>
                <a:tc>
                  <a:txBody>
                    <a:bodyPr/>
                    <a:lstStyle/>
                    <a:p>
                      <a:pPr algn="ctr"/>
                      <a:r>
                        <a:rPr sz="1700" b="0">
                          <a:solidFill>
                            <a:srgbClr val="222222"/>
                          </a:solidFill>
                          <a:latin typeface="Calibri"/>
                        </a:rPr>
                        <a:t>A + (B + C) = (A + B) + C</a:t>
                      </a:r>
                    </a:p>
                  </a:txBody>
                  <a:tcPr marL="54864" marR="54864" marT="0" marB="0" anchor="ctr">
                    <a:solidFill>
                      <a:srgbClr val="FFFFFF"/>
                    </a:solidFill>
                  </a:tcPr>
                </a:tc>
                <a:tc>
                  <a:txBody>
                    <a:bodyPr/>
                    <a:lstStyle/>
                    <a:p>
                      <a:pPr algn="ctr"/>
                      <a:r>
                        <a:rPr sz="1700" b="0">
                          <a:solidFill>
                            <a:srgbClr val="222222"/>
                          </a:solidFill>
                          <a:latin typeface="Calibri"/>
                        </a:rPr>
                        <a:t>A(BC) = (AB)C</a:t>
                      </a:r>
                    </a:p>
                  </a:txBody>
                  <a:tcPr marL="54864" marR="54864" marT="0" marB="0" anchor="ctr">
                    <a:solidFill>
                      <a:srgbClr val="FFFFFF"/>
                    </a:solidFill>
                  </a:tcPr>
                </a:tc>
                <a:extLst>
                  <a:ext uri="{0D108BD9-81ED-4DB2-BD59-A6C34878D82A}">
                    <a16:rowId xmlns:a16="http://schemas.microsoft.com/office/drawing/2014/main" val="10007"/>
                  </a:ext>
                </a:extLst>
              </a:tr>
              <a:tr h="475488">
                <a:tc>
                  <a:txBody>
                    <a:bodyPr/>
                    <a:lstStyle/>
                    <a:p>
                      <a:pPr algn="ctr"/>
                      <a:r>
                        <a:rPr sz="1700" b="1">
                          <a:solidFill>
                            <a:srgbClr val="8E1B22"/>
                          </a:solidFill>
                          <a:latin typeface="Calibri"/>
                        </a:rPr>
                        <a:t>Distributive</a:t>
                      </a:r>
                    </a:p>
                  </a:txBody>
                  <a:tcPr marL="54864" marR="54864" marT="0" marB="0" anchor="ctr">
                    <a:solidFill>
                      <a:srgbClr val="F8EEEF"/>
                    </a:solidFill>
                  </a:tcPr>
                </a:tc>
                <a:tc>
                  <a:txBody>
                    <a:bodyPr/>
                    <a:lstStyle/>
                    <a:p>
                      <a:pPr algn="ctr"/>
                      <a:r>
                        <a:rPr sz="1700" b="0">
                          <a:solidFill>
                            <a:srgbClr val="222222"/>
                          </a:solidFill>
                          <a:latin typeface="Calibri"/>
                        </a:rPr>
                        <a:t>A + BC = (A + B)(A + C)</a:t>
                      </a:r>
                    </a:p>
                  </a:txBody>
                  <a:tcPr marL="54864" marR="54864" marT="0" marB="0" anchor="ctr">
                    <a:solidFill>
                      <a:srgbClr val="EDF2F8"/>
                    </a:solidFill>
                  </a:tcPr>
                </a:tc>
                <a:tc>
                  <a:txBody>
                    <a:bodyPr/>
                    <a:lstStyle/>
                    <a:p>
                      <a:pPr algn="ctr"/>
                      <a:r>
                        <a:rPr sz="1700" b="0">
                          <a:solidFill>
                            <a:srgbClr val="222222"/>
                          </a:solidFill>
                          <a:latin typeface="Calibri"/>
                        </a:rPr>
                        <a:t>A(B + C) = AB + AC</a:t>
                      </a:r>
                    </a:p>
                  </a:txBody>
                  <a:tcPr marL="54864" marR="54864" marT="0" marB="0" anchor="ctr">
                    <a:solidFill>
                      <a:srgbClr val="EDF2F8"/>
                    </a:solidFill>
                  </a:tcPr>
                </a:tc>
                <a:extLst>
                  <a:ext uri="{0D108BD9-81ED-4DB2-BD59-A6C34878D82A}">
                    <a16:rowId xmlns:a16="http://schemas.microsoft.com/office/drawing/2014/main" val="10008"/>
                  </a:ext>
                </a:extLst>
              </a:tr>
              <a:tr h="475488">
                <a:tc>
                  <a:txBody>
                    <a:bodyPr/>
                    <a:lstStyle/>
                    <a:p>
                      <a:pPr algn="ctr"/>
                      <a:r>
                        <a:rPr sz="1700" b="1">
                          <a:solidFill>
                            <a:srgbClr val="8E1B22"/>
                          </a:solidFill>
                          <a:latin typeface="Calibri"/>
                        </a:rPr>
                        <a:t>Absorption</a:t>
                      </a:r>
                    </a:p>
                  </a:txBody>
                  <a:tcPr marL="54864" marR="54864" marT="0" marB="0" anchor="ctr">
                    <a:solidFill>
                      <a:srgbClr val="F8EEEF"/>
                    </a:solidFill>
                  </a:tcPr>
                </a:tc>
                <a:tc>
                  <a:txBody>
                    <a:bodyPr/>
                    <a:lstStyle/>
                    <a:p>
                      <a:pPr algn="ctr"/>
                      <a:r>
                        <a:rPr sz="1700" b="0">
                          <a:solidFill>
                            <a:srgbClr val="222222"/>
                          </a:solidFill>
                          <a:latin typeface="Calibri"/>
                        </a:rPr>
                        <a:t>A + AB = A</a:t>
                      </a:r>
                    </a:p>
                  </a:txBody>
                  <a:tcPr marL="54864" marR="54864" marT="0" marB="0" anchor="ctr">
                    <a:solidFill>
                      <a:srgbClr val="FFFFFF"/>
                    </a:solidFill>
                  </a:tcPr>
                </a:tc>
                <a:tc>
                  <a:txBody>
                    <a:bodyPr/>
                    <a:lstStyle/>
                    <a:p>
                      <a:pPr algn="ctr"/>
                      <a:r>
                        <a:rPr sz="1700" b="0">
                          <a:solidFill>
                            <a:srgbClr val="222222"/>
                          </a:solidFill>
                          <a:latin typeface="Calibri"/>
                        </a:rPr>
                        <a:t>A(A + B) = A</a:t>
                      </a:r>
                    </a:p>
                  </a:txBody>
                  <a:tcPr marL="54864" marR="54864" marT="0" marB="0" anchor="ctr">
                    <a:solidFill>
                      <a:srgbClr val="FFFFFF"/>
                    </a:solidFill>
                  </a:tcPr>
                </a:tc>
                <a:extLst>
                  <a:ext uri="{0D108BD9-81ED-4DB2-BD59-A6C34878D82A}">
                    <a16:rowId xmlns:a16="http://schemas.microsoft.com/office/drawing/2014/main" val="10009"/>
                  </a:ext>
                </a:extLst>
              </a:tr>
            </a:tbl>
          </a:graphicData>
        </a:graphic>
      </p:graphicFrame>
      <p:sp>
        <p:nvSpPr>
          <p:cNvPr id="8" name="Rounded Rectangle 7"/>
          <p:cNvSpPr/>
          <p:nvPr/>
        </p:nvSpPr>
        <p:spPr>
          <a:xfrm>
            <a:off x="8595360" y="1325880"/>
            <a:ext cx="3044952" cy="2286000"/>
          </a:xfrm>
          <a:prstGeom prst="roundRect">
            <a:avLst>
              <a:gd name="adj" fmla="val 6000"/>
            </a:avLst>
          </a:prstGeom>
          <a:solidFill>
            <a:srgbClr val="ED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23960" y="1463040"/>
            <a:ext cx="2606040" cy="2057400"/>
          </a:xfrm>
          <a:prstGeom prst="rect">
            <a:avLst/>
          </a:prstGeom>
          <a:noFill/>
        </p:spPr>
        <p:txBody>
          <a:bodyPr wrap="square" lIns="0" tIns="0" rIns="0" bIns="0" anchor="t">
            <a:spAutoFit/>
          </a:bodyPr>
          <a:lstStyle/>
          <a:p>
            <a:pPr algn="l">
              <a:spcAft>
                <a:spcPts val="600"/>
              </a:spcAft>
            </a:pPr>
            <a:r>
              <a:rPr sz="2000" b="1" i="0">
                <a:solidFill>
                  <a:srgbClr val="1B3A6B"/>
                </a:solidFill>
                <a:latin typeface="Calibri"/>
              </a:rPr>
              <a:t>Check any law</a:t>
            </a:r>
          </a:p>
          <a:p>
            <a:pPr algn="l">
              <a:spcAft>
                <a:spcPts val="0"/>
              </a:spcAft>
            </a:pPr>
            <a:r>
              <a:rPr sz="1600" b="0" i="0">
                <a:solidFill>
                  <a:srgbClr val="222222"/>
                </a:solidFill>
                <a:latin typeface="Calibri"/>
              </a:rPr>
              <a:t>Put A = 0, then A = 1. If both sides always match, the law is true.</a:t>
            </a:r>
          </a:p>
        </p:txBody>
      </p:sp>
      <p:sp>
        <p:nvSpPr>
          <p:cNvPr id="10" name="Rounded Rectangle 9"/>
          <p:cNvSpPr/>
          <p:nvPr/>
        </p:nvSpPr>
        <p:spPr>
          <a:xfrm>
            <a:off x="8595360" y="3794760"/>
            <a:ext cx="3044952" cy="2286000"/>
          </a:xfrm>
          <a:prstGeom prst="roundRect">
            <a:avLst>
              <a:gd name="adj" fmla="val 6000"/>
            </a:avLst>
          </a:prstGeom>
          <a:solidFill>
            <a:srgbClr val="F8E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823960" y="3931920"/>
            <a:ext cx="2606040" cy="2057400"/>
          </a:xfrm>
          <a:prstGeom prst="rect">
            <a:avLst/>
          </a:prstGeom>
          <a:noFill/>
        </p:spPr>
        <p:txBody>
          <a:bodyPr wrap="square" lIns="0" tIns="0" rIns="0" bIns="0" anchor="t">
            <a:spAutoFit/>
          </a:bodyPr>
          <a:lstStyle/>
          <a:p>
            <a:pPr algn="l">
              <a:spcAft>
                <a:spcPts val="600"/>
              </a:spcAft>
            </a:pPr>
            <a:r>
              <a:rPr sz="2000" b="1" i="0">
                <a:solidFill>
                  <a:srgbClr val="8E1B22"/>
                </a:solidFill>
                <a:latin typeface="Calibri"/>
              </a:rPr>
              <a:t>Duality</a:t>
            </a:r>
          </a:p>
          <a:p>
            <a:pPr algn="l">
              <a:spcAft>
                <a:spcPts val="800"/>
              </a:spcAft>
            </a:pPr>
            <a:r>
              <a:rPr sz="1600" b="0" i="0">
                <a:solidFill>
                  <a:srgbClr val="222222"/>
                </a:solidFill>
                <a:latin typeface="Calibri"/>
              </a:rPr>
              <a:t>Swap + with · and 0 with 1 to get each law's partner.</a:t>
            </a:r>
          </a:p>
          <a:p>
            <a:pPr algn="l">
              <a:spcAft>
                <a:spcPts val="0"/>
              </a:spcAft>
            </a:pPr>
            <a:r>
              <a:rPr sz="1600" b="1" i="0">
                <a:solidFill>
                  <a:srgbClr val="222222"/>
                </a:solidFill>
                <a:latin typeface="Calibri"/>
              </a:rPr>
              <a:t>A + 0 = A  ↔  A · 1 = 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548640" y="429768"/>
            <a:ext cx="566928" cy="566928"/>
          </a:xfrm>
          <a:prstGeom prst="ellipse">
            <a:avLst/>
          </a:prstGeom>
          <a:solidFill>
            <a:srgbClr val="8E1B2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Calibri"/>
              </a:rPr>
              <a:t>4</a:t>
            </a:r>
          </a:p>
        </p:txBody>
      </p:sp>
      <p:sp>
        <p:nvSpPr>
          <p:cNvPr id="3" name="TextBox 2"/>
          <p:cNvSpPr txBox="1"/>
          <p:nvPr/>
        </p:nvSpPr>
        <p:spPr>
          <a:xfrm>
            <a:off x="7068312" y="182880"/>
            <a:ext cx="4572000" cy="274320"/>
          </a:xfrm>
          <a:prstGeom prst="rect">
            <a:avLst/>
          </a:prstGeom>
          <a:noFill/>
        </p:spPr>
        <p:txBody>
          <a:bodyPr wrap="square" lIns="0" tIns="0" rIns="0" bIns="0" anchor="t">
            <a:spAutoFit/>
          </a:bodyPr>
          <a:lstStyle/>
          <a:p>
            <a:pPr algn="r">
              <a:spcAft>
                <a:spcPts val="0"/>
              </a:spcAft>
            </a:pPr>
            <a:r>
              <a:rPr sz="1200" b="0" i="0">
                <a:solidFill>
                  <a:srgbClr val="6B6B6B"/>
                </a:solidFill>
                <a:latin typeface="Calibri"/>
              </a:rPr>
              <a:t>Topic 4 of 5  ·  Boolean Algebra</a:t>
            </a:r>
          </a:p>
        </p:txBody>
      </p:sp>
      <p:sp>
        <p:nvSpPr>
          <p:cNvPr id="4" name="TextBox 3"/>
          <p:cNvSpPr txBox="1"/>
          <p:nvPr/>
        </p:nvSpPr>
        <p:spPr>
          <a:xfrm>
            <a:off x="1298448" y="365760"/>
            <a:ext cx="10341864" cy="713232"/>
          </a:xfrm>
          <a:prstGeom prst="rect">
            <a:avLst/>
          </a:prstGeom>
          <a:noFill/>
        </p:spPr>
        <p:txBody>
          <a:bodyPr wrap="square" lIns="0" tIns="0" rIns="0" bIns="0" anchor="ctr">
            <a:spAutoFit/>
          </a:bodyPr>
          <a:lstStyle/>
          <a:p>
            <a:pPr algn="l">
              <a:spcAft>
                <a:spcPts val="0"/>
              </a:spcAft>
            </a:pPr>
            <a:r>
              <a:rPr sz="3400" b="1" i="0">
                <a:solidFill>
                  <a:srgbClr val="1B3A6B"/>
                </a:solidFill>
                <a:latin typeface="Calibri"/>
              </a:rPr>
              <a:t>De Morgan's Theorem</a:t>
            </a:r>
          </a:p>
        </p:txBody>
      </p:sp>
      <p:sp>
        <p:nvSpPr>
          <p:cNvPr id="5" name="TextBox 4"/>
          <p:cNvSpPr txBox="1"/>
          <p:nvPr/>
        </p:nvSpPr>
        <p:spPr>
          <a:xfrm>
            <a:off x="548640" y="6428232"/>
            <a:ext cx="5486400" cy="274320"/>
          </a:xfrm>
          <a:prstGeom prst="rect">
            <a:avLst/>
          </a:prstGeom>
          <a:noFill/>
        </p:spPr>
        <p:txBody>
          <a:bodyPr wrap="square" lIns="0" tIns="0" rIns="0" bIns="0" anchor="t">
            <a:spAutoFit/>
          </a:bodyPr>
          <a:lstStyle/>
          <a:p>
            <a:pPr algn="l">
              <a:spcAft>
                <a:spcPts val="0"/>
              </a:spcAft>
            </a:pPr>
            <a:r>
              <a:rPr sz="1100" b="0" i="0">
                <a:solidFill>
                  <a:srgbClr val="6B6B6B"/>
                </a:solidFill>
                <a:latin typeface="Calibri"/>
              </a:rPr>
              <a:t>CSE207  ·  Digital Logic Design  ·  Lecture 01</a:t>
            </a:r>
          </a:p>
        </p:txBody>
      </p:sp>
      <p:sp>
        <p:nvSpPr>
          <p:cNvPr id="6" name="TextBox 5"/>
          <p:cNvSpPr txBox="1"/>
          <p:nvPr/>
        </p:nvSpPr>
        <p:spPr>
          <a:xfrm>
            <a:off x="10725912" y="6428232"/>
            <a:ext cx="914400" cy="274320"/>
          </a:xfrm>
          <a:prstGeom prst="rect">
            <a:avLst/>
          </a:prstGeom>
          <a:noFill/>
        </p:spPr>
        <p:txBody>
          <a:bodyPr wrap="square" lIns="0" tIns="0" rIns="0" bIns="0" anchor="t">
            <a:spAutoFit/>
          </a:bodyPr>
          <a:lstStyle/>
          <a:p>
            <a:pPr algn="r">
              <a:spcAft>
                <a:spcPts val="0"/>
              </a:spcAft>
            </a:pPr>
            <a:r>
              <a:rPr sz="1100" b="0" i="0">
                <a:solidFill>
                  <a:srgbClr val="6B6B6B"/>
                </a:solidFill>
                <a:latin typeface="Calibri"/>
              </a:rPr>
              <a:t>13</a:t>
            </a:r>
          </a:p>
        </p:txBody>
      </p:sp>
      <p:sp>
        <p:nvSpPr>
          <p:cNvPr id="7" name="Rounded Rectangle 6"/>
          <p:cNvSpPr/>
          <p:nvPr/>
        </p:nvSpPr>
        <p:spPr>
          <a:xfrm>
            <a:off x="548640" y="1325880"/>
            <a:ext cx="5440680" cy="1691640"/>
          </a:xfrm>
          <a:prstGeom prst="roundRect">
            <a:avLst>
              <a:gd name="adj" fmla="val 6000"/>
            </a:avLst>
          </a:prstGeom>
          <a:solidFill>
            <a:srgbClr val="ED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417320"/>
            <a:ext cx="5440680" cy="1508760"/>
          </a:xfrm>
          <a:prstGeom prst="rect">
            <a:avLst/>
          </a:prstGeom>
          <a:noFill/>
        </p:spPr>
        <p:txBody>
          <a:bodyPr wrap="square" lIns="0" tIns="0" rIns="0" bIns="0" anchor="ctr">
            <a:spAutoFit/>
          </a:bodyPr>
          <a:lstStyle/>
          <a:p>
            <a:pPr algn="ctr">
              <a:spcAft>
                <a:spcPts val="400"/>
              </a:spcAft>
            </a:pPr>
            <a:r>
              <a:rPr sz="3600" b="1" i="0">
                <a:solidFill>
                  <a:srgbClr val="1B3A6B"/>
                </a:solidFill>
                <a:latin typeface="Calibri"/>
              </a:rPr>
              <a:t>(A + B)' = A' · B'</a:t>
            </a:r>
          </a:p>
          <a:p>
            <a:pPr algn="ctr">
              <a:spcAft>
                <a:spcPts val="0"/>
              </a:spcAft>
            </a:pPr>
            <a:r>
              <a:rPr sz="1800" b="0" i="0">
                <a:solidFill>
                  <a:srgbClr val="222222"/>
                </a:solidFill>
                <a:latin typeface="Calibri"/>
              </a:rPr>
              <a:t>NOT of an OR  =  AND of the NOTs</a:t>
            </a:r>
          </a:p>
        </p:txBody>
      </p:sp>
      <p:sp>
        <p:nvSpPr>
          <p:cNvPr id="9" name="Rounded Rectangle 8"/>
          <p:cNvSpPr/>
          <p:nvPr/>
        </p:nvSpPr>
        <p:spPr>
          <a:xfrm>
            <a:off x="6199631" y="1325880"/>
            <a:ext cx="5440680" cy="1691640"/>
          </a:xfrm>
          <a:prstGeom prst="roundRect">
            <a:avLst>
              <a:gd name="adj" fmla="val 6000"/>
            </a:avLst>
          </a:prstGeom>
          <a:solidFill>
            <a:srgbClr val="F8E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199631" y="1417320"/>
            <a:ext cx="5440680" cy="1508760"/>
          </a:xfrm>
          <a:prstGeom prst="rect">
            <a:avLst/>
          </a:prstGeom>
          <a:noFill/>
        </p:spPr>
        <p:txBody>
          <a:bodyPr wrap="square" lIns="0" tIns="0" rIns="0" bIns="0" anchor="ctr">
            <a:spAutoFit/>
          </a:bodyPr>
          <a:lstStyle/>
          <a:p>
            <a:pPr algn="ctr">
              <a:spcAft>
                <a:spcPts val="400"/>
              </a:spcAft>
            </a:pPr>
            <a:r>
              <a:rPr sz="3600" b="1" i="0">
                <a:solidFill>
                  <a:srgbClr val="1B3A6B"/>
                </a:solidFill>
                <a:latin typeface="Calibri"/>
              </a:rPr>
              <a:t>(A · B)' = A' + B'</a:t>
            </a:r>
          </a:p>
          <a:p>
            <a:pPr algn="ctr">
              <a:spcAft>
                <a:spcPts val="0"/>
              </a:spcAft>
            </a:pPr>
            <a:r>
              <a:rPr sz="1800" b="0" i="0">
                <a:solidFill>
                  <a:srgbClr val="222222"/>
                </a:solidFill>
                <a:latin typeface="Calibri"/>
              </a:rPr>
              <a:t>NOT of an AND  =  OR of the NOTs</a:t>
            </a:r>
          </a:p>
        </p:txBody>
      </p:sp>
      <p:sp>
        <p:nvSpPr>
          <p:cNvPr id="11" name="TextBox 10"/>
          <p:cNvSpPr txBox="1"/>
          <p:nvPr/>
        </p:nvSpPr>
        <p:spPr>
          <a:xfrm>
            <a:off x="548640" y="3246120"/>
            <a:ext cx="6949440" cy="411480"/>
          </a:xfrm>
          <a:prstGeom prst="rect">
            <a:avLst/>
          </a:prstGeom>
          <a:noFill/>
        </p:spPr>
        <p:txBody>
          <a:bodyPr wrap="square" lIns="0" tIns="0" rIns="0" bIns="0" anchor="t">
            <a:spAutoFit/>
          </a:bodyPr>
          <a:lstStyle/>
          <a:p>
            <a:pPr algn="l">
              <a:spcAft>
                <a:spcPts val="0"/>
              </a:spcAft>
            </a:pPr>
            <a:r>
              <a:rPr sz="1800" b="1" i="0">
                <a:solidFill>
                  <a:srgbClr val="1B3A6B"/>
                </a:solidFill>
                <a:latin typeface="Calibri"/>
              </a:rPr>
              <a:t>Proof with a truth table:  (A · B)' = A' + B'</a:t>
            </a:r>
          </a:p>
        </p:txBody>
      </p:sp>
      <p:graphicFrame>
        <p:nvGraphicFramePr>
          <p:cNvPr id="12" name="Table 11"/>
          <p:cNvGraphicFramePr>
            <a:graphicFrameLocks noGrp="1"/>
          </p:cNvGraphicFramePr>
          <p:nvPr/>
        </p:nvGraphicFramePr>
        <p:xfrm>
          <a:off x="548640" y="3749039"/>
          <a:ext cx="6492240" cy="2377440"/>
        </p:xfrm>
        <a:graphic>
          <a:graphicData uri="http://schemas.openxmlformats.org/drawingml/2006/table">
            <a:tbl>
              <a:tblPr firstRow="1">
                <a:tableStyleId>{5C22544A-7EE6-4342-B048-85BDC9FD1C3A}</a:tableStyleId>
              </a:tblPr>
              <a:tblGrid>
                <a:gridCol w="77724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777240">
                  <a:extLst>
                    <a:ext uri="{9D8B030D-6E8A-4147-A177-3AD203B41FA5}">
                      <a16:colId xmlns:a16="http://schemas.microsoft.com/office/drawing/2014/main" val="20004"/>
                    </a:ext>
                  </a:extLst>
                </a:gridCol>
                <a:gridCol w="777240">
                  <a:extLst>
                    <a:ext uri="{9D8B030D-6E8A-4147-A177-3AD203B41FA5}">
                      <a16:colId xmlns:a16="http://schemas.microsoft.com/office/drawing/2014/main" val="20005"/>
                    </a:ext>
                  </a:extLst>
                </a:gridCol>
                <a:gridCol w="1188720">
                  <a:extLst>
                    <a:ext uri="{9D8B030D-6E8A-4147-A177-3AD203B41FA5}">
                      <a16:colId xmlns:a16="http://schemas.microsoft.com/office/drawing/2014/main" val="20006"/>
                    </a:ext>
                  </a:extLst>
                </a:gridCol>
              </a:tblGrid>
              <a:tr h="475488">
                <a:tc>
                  <a:txBody>
                    <a:bodyPr/>
                    <a:lstStyle/>
                    <a:p>
                      <a:pPr algn="ctr"/>
                      <a:r>
                        <a:rPr sz="1700" b="1">
                          <a:solidFill>
                            <a:srgbClr val="FFFFFF"/>
                          </a:solidFill>
                          <a:latin typeface="Calibri"/>
                        </a:rPr>
                        <a:t>A</a:t>
                      </a:r>
                    </a:p>
                  </a:txBody>
                  <a:tcPr marL="54864" marR="54864" marT="0" marB="0" anchor="ctr">
                    <a:solidFill>
                      <a:srgbClr val="1B3A6B"/>
                    </a:solidFill>
                  </a:tcPr>
                </a:tc>
                <a:tc>
                  <a:txBody>
                    <a:bodyPr/>
                    <a:lstStyle/>
                    <a:p>
                      <a:pPr algn="ctr"/>
                      <a:r>
                        <a:rPr sz="1700" b="1">
                          <a:solidFill>
                            <a:srgbClr val="FFFFFF"/>
                          </a:solidFill>
                          <a:latin typeface="Calibri"/>
                        </a:rPr>
                        <a:t>B</a:t>
                      </a:r>
                    </a:p>
                  </a:txBody>
                  <a:tcPr marL="54864" marR="54864" marT="0" marB="0" anchor="ctr">
                    <a:solidFill>
                      <a:srgbClr val="1B3A6B"/>
                    </a:solidFill>
                  </a:tcPr>
                </a:tc>
                <a:tc>
                  <a:txBody>
                    <a:bodyPr/>
                    <a:lstStyle/>
                    <a:p>
                      <a:pPr algn="ctr"/>
                      <a:r>
                        <a:rPr sz="1700" b="1">
                          <a:solidFill>
                            <a:srgbClr val="FFFFFF"/>
                          </a:solidFill>
                          <a:latin typeface="Calibri"/>
                        </a:rPr>
                        <a:t>A · B</a:t>
                      </a:r>
                    </a:p>
                  </a:txBody>
                  <a:tcPr marL="54864" marR="54864" marT="0" marB="0" anchor="ctr">
                    <a:solidFill>
                      <a:srgbClr val="1B3A6B"/>
                    </a:solidFill>
                  </a:tcPr>
                </a:tc>
                <a:tc>
                  <a:txBody>
                    <a:bodyPr/>
                    <a:lstStyle/>
                    <a:p>
                      <a:pPr algn="ctr"/>
                      <a:r>
                        <a:rPr sz="1700" b="1">
                          <a:solidFill>
                            <a:srgbClr val="FFFFFF"/>
                          </a:solidFill>
                          <a:latin typeface="Calibri"/>
                        </a:rPr>
                        <a:t>(A · B)'</a:t>
                      </a:r>
                    </a:p>
                  </a:txBody>
                  <a:tcPr marL="54864" marR="54864" marT="0" marB="0" anchor="ctr">
                    <a:solidFill>
                      <a:srgbClr val="1B3A6B"/>
                    </a:solidFill>
                  </a:tcPr>
                </a:tc>
                <a:tc>
                  <a:txBody>
                    <a:bodyPr/>
                    <a:lstStyle/>
                    <a:p>
                      <a:pPr algn="ctr"/>
                      <a:r>
                        <a:rPr sz="1700" b="1">
                          <a:solidFill>
                            <a:srgbClr val="FFFFFF"/>
                          </a:solidFill>
                          <a:latin typeface="Calibri"/>
                        </a:rPr>
                        <a:t>A'</a:t>
                      </a:r>
                    </a:p>
                  </a:txBody>
                  <a:tcPr marL="54864" marR="54864" marT="0" marB="0" anchor="ctr">
                    <a:solidFill>
                      <a:srgbClr val="1B3A6B"/>
                    </a:solidFill>
                  </a:tcPr>
                </a:tc>
                <a:tc>
                  <a:txBody>
                    <a:bodyPr/>
                    <a:lstStyle/>
                    <a:p>
                      <a:pPr algn="ctr"/>
                      <a:r>
                        <a:rPr sz="1700" b="1">
                          <a:solidFill>
                            <a:srgbClr val="FFFFFF"/>
                          </a:solidFill>
                          <a:latin typeface="Calibri"/>
                        </a:rPr>
                        <a:t>B'</a:t>
                      </a:r>
                    </a:p>
                  </a:txBody>
                  <a:tcPr marL="54864" marR="54864" marT="0" marB="0" anchor="ctr">
                    <a:solidFill>
                      <a:srgbClr val="1B3A6B"/>
                    </a:solidFill>
                  </a:tcPr>
                </a:tc>
                <a:tc>
                  <a:txBody>
                    <a:bodyPr/>
                    <a:lstStyle/>
                    <a:p>
                      <a:pPr algn="ctr"/>
                      <a:r>
                        <a:rPr sz="1700" b="1">
                          <a:solidFill>
                            <a:srgbClr val="FFFFFF"/>
                          </a:solidFill>
                          <a:latin typeface="Calibri"/>
                        </a:rPr>
                        <a:t>A' + B'</a:t>
                      </a:r>
                    </a:p>
                  </a:txBody>
                  <a:tcPr marL="54864" marR="54864" marT="0" marB="0" anchor="ctr">
                    <a:solidFill>
                      <a:srgbClr val="1B3A6B"/>
                    </a:solidFill>
                  </a:tcPr>
                </a:tc>
                <a:extLst>
                  <a:ext uri="{0D108BD9-81ED-4DB2-BD59-A6C34878D82A}">
                    <a16:rowId xmlns:a16="http://schemas.microsoft.com/office/drawing/2014/main" val="10000"/>
                  </a:ext>
                </a:extLst>
              </a:tr>
              <a:tr h="475488">
                <a:tc>
                  <a:txBody>
                    <a:bodyPr/>
                    <a:lstStyle/>
                    <a:p>
                      <a:pPr algn="ctr"/>
                      <a:r>
                        <a:rPr sz="1700" b="0">
                          <a:solidFill>
                            <a:srgbClr val="222222"/>
                          </a:solidFill>
                          <a:latin typeface="Calibri"/>
                        </a:rPr>
                        <a:t>0</a:t>
                      </a:r>
                    </a:p>
                  </a:txBody>
                  <a:tcPr marL="54864" marR="54864" marT="0" marB="0" anchor="ctr">
                    <a:solidFill>
                      <a:srgbClr val="FFFFFF"/>
                    </a:solidFill>
                  </a:tcPr>
                </a:tc>
                <a:tc>
                  <a:txBody>
                    <a:bodyPr/>
                    <a:lstStyle/>
                    <a:p>
                      <a:pPr algn="ctr"/>
                      <a:r>
                        <a:rPr sz="1700" b="0">
                          <a:solidFill>
                            <a:srgbClr val="222222"/>
                          </a:solidFill>
                          <a:latin typeface="Calibri"/>
                        </a:rPr>
                        <a:t>0</a:t>
                      </a:r>
                    </a:p>
                  </a:txBody>
                  <a:tcPr marL="54864" marR="54864" marT="0" marB="0" anchor="ctr">
                    <a:solidFill>
                      <a:srgbClr val="FFFFFF"/>
                    </a:solidFill>
                  </a:tcPr>
                </a:tc>
                <a:tc>
                  <a:txBody>
                    <a:bodyPr/>
                    <a:lstStyle/>
                    <a:p>
                      <a:pPr algn="ctr"/>
                      <a:r>
                        <a:rPr sz="1700" b="0">
                          <a:solidFill>
                            <a:srgbClr val="222222"/>
                          </a:solidFill>
                          <a:latin typeface="Calibri"/>
                        </a:rPr>
                        <a:t>0</a:t>
                      </a:r>
                    </a:p>
                  </a:txBody>
                  <a:tcPr marL="54864" marR="54864" marT="0" marB="0" anchor="ctr">
                    <a:solidFill>
                      <a:srgbClr val="FFFFFF"/>
                    </a:solidFill>
                  </a:tcPr>
                </a:tc>
                <a:tc>
                  <a:txBody>
                    <a:bodyPr/>
                    <a:lstStyle/>
                    <a:p>
                      <a:pPr algn="ctr"/>
                      <a:r>
                        <a:rPr sz="1700" b="1">
                          <a:solidFill>
                            <a:srgbClr val="8E1B22"/>
                          </a:solidFill>
                          <a:latin typeface="Calibri"/>
                        </a:rPr>
                        <a:t>1</a:t>
                      </a:r>
                    </a:p>
                  </a:txBody>
                  <a:tcPr marL="54864" marR="54864" marT="0" marB="0" anchor="ctr">
                    <a:solidFill>
                      <a:srgbClr val="F8EEEF"/>
                    </a:solidFill>
                  </a:tcPr>
                </a:tc>
                <a:tc>
                  <a:txBody>
                    <a:bodyPr/>
                    <a:lstStyle/>
                    <a:p>
                      <a:pPr algn="ctr"/>
                      <a:r>
                        <a:rPr sz="1700" b="0">
                          <a:solidFill>
                            <a:srgbClr val="222222"/>
                          </a:solidFill>
                          <a:latin typeface="Calibri"/>
                        </a:rPr>
                        <a:t>1</a:t>
                      </a:r>
                    </a:p>
                  </a:txBody>
                  <a:tcPr marL="54864" marR="54864" marT="0" marB="0" anchor="ctr">
                    <a:solidFill>
                      <a:srgbClr val="FFFFFF"/>
                    </a:solidFill>
                  </a:tcPr>
                </a:tc>
                <a:tc>
                  <a:txBody>
                    <a:bodyPr/>
                    <a:lstStyle/>
                    <a:p>
                      <a:pPr algn="ctr"/>
                      <a:r>
                        <a:rPr sz="1700" b="0">
                          <a:solidFill>
                            <a:srgbClr val="222222"/>
                          </a:solidFill>
                          <a:latin typeface="Calibri"/>
                        </a:rPr>
                        <a:t>1</a:t>
                      </a:r>
                    </a:p>
                  </a:txBody>
                  <a:tcPr marL="54864" marR="54864" marT="0" marB="0" anchor="ctr">
                    <a:solidFill>
                      <a:srgbClr val="FFFFFF"/>
                    </a:solidFill>
                  </a:tcPr>
                </a:tc>
                <a:tc>
                  <a:txBody>
                    <a:bodyPr/>
                    <a:lstStyle/>
                    <a:p>
                      <a:pPr algn="ctr"/>
                      <a:r>
                        <a:rPr sz="1700" b="1">
                          <a:solidFill>
                            <a:srgbClr val="8E1B22"/>
                          </a:solidFill>
                          <a:latin typeface="Calibri"/>
                        </a:rPr>
                        <a:t>1</a:t>
                      </a:r>
                    </a:p>
                  </a:txBody>
                  <a:tcPr marL="54864" marR="54864" marT="0" marB="0" anchor="ctr">
                    <a:solidFill>
                      <a:srgbClr val="F8EEEF"/>
                    </a:solidFill>
                  </a:tcPr>
                </a:tc>
                <a:extLst>
                  <a:ext uri="{0D108BD9-81ED-4DB2-BD59-A6C34878D82A}">
                    <a16:rowId xmlns:a16="http://schemas.microsoft.com/office/drawing/2014/main" val="10001"/>
                  </a:ext>
                </a:extLst>
              </a:tr>
              <a:tr h="475488">
                <a:tc>
                  <a:txBody>
                    <a:bodyPr/>
                    <a:lstStyle/>
                    <a:p>
                      <a:pPr algn="ctr"/>
                      <a:r>
                        <a:rPr sz="1700" b="0">
                          <a:solidFill>
                            <a:srgbClr val="222222"/>
                          </a:solidFill>
                          <a:latin typeface="Calibri"/>
                        </a:rPr>
                        <a:t>0</a:t>
                      </a:r>
                    </a:p>
                  </a:txBody>
                  <a:tcPr marL="54864" marR="54864" marT="0" marB="0" anchor="ctr">
                    <a:solidFill>
                      <a:srgbClr val="EDF2F8"/>
                    </a:solidFill>
                  </a:tcPr>
                </a:tc>
                <a:tc>
                  <a:txBody>
                    <a:bodyPr/>
                    <a:lstStyle/>
                    <a:p>
                      <a:pPr algn="ctr"/>
                      <a:r>
                        <a:rPr sz="1700" b="0">
                          <a:solidFill>
                            <a:srgbClr val="222222"/>
                          </a:solidFill>
                          <a:latin typeface="Calibri"/>
                        </a:rPr>
                        <a:t>1</a:t>
                      </a:r>
                    </a:p>
                  </a:txBody>
                  <a:tcPr marL="54864" marR="54864" marT="0" marB="0" anchor="ctr">
                    <a:solidFill>
                      <a:srgbClr val="EDF2F8"/>
                    </a:solidFill>
                  </a:tcPr>
                </a:tc>
                <a:tc>
                  <a:txBody>
                    <a:bodyPr/>
                    <a:lstStyle/>
                    <a:p>
                      <a:pPr algn="ctr"/>
                      <a:r>
                        <a:rPr sz="1700" b="0">
                          <a:solidFill>
                            <a:srgbClr val="222222"/>
                          </a:solidFill>
                          <a:latin typeface="Calibri"/>
                        </a:rPr>
                        <a:t>0</a:t>
                      </a:r>
                    </a:p>
                  </a:txBody>
                  <a:tcPr marL="54864" marR="54864" marT="0" marB="0" anchor="ctr">
                    <a:solidFill>
                      <a:srgbClr val="EDF2F8"/>
                    </a:solidFill>
                  </a:tcPr>
                </a:tc>
                <a:tc>
                  <a:txBody>
                    <a:bodyPr/>
                    <a:lstStyle/>
                    <a:p>
                      <a:pPr algn="ctr"/>
                      <a:r>
                        <a:rPr sz="1700" b="1">
                          <a:solidFill>
                            <a:srgbClr val="8E1B22"/>
                          </a:solidFill>
                          <a:latin typeface="Calibri"/>
                        </a:rPr>
                        <a:t>1</a:t>
                      </a:r>
                    </a:p>
                  </a:txBody>
                  <a:tcPr marL="54864" marR="54864" marT="0" marB="0" anchor="ctr">
                    <a:solidFill>
                      <a:srgbClr val="F8EEEF"/>
                    </a:solidFill>
                  </a:tcPr>
                </a:tc>
                <a:tc>
                  <a:txBody>
                    <a:bodyPr/>
                    <a:lstStyle/>
                    <a:p>
                      <a:pPr algn="ctr"/>
                      <a:r>
                        <a:rPr sz="1700" b="0">
                          <a:solidFill>
                            <a:srgbClr val="222222"/>
                          </a:solidFill>
                          <a:latin typeface="Calibri"/>
                        </a:rPr>
                        <a:t>1</a:t>
                      </a:r>
                    </a:p>
                  </a:txBody>
                  <a:tcPr marL="54864" marR="54864" marT="0" marB="0" anchor="ctr">
                    <a:solidFill>
                      <a:srgbClr val="EDF2F8"/>
                    </a:solidFill>
                  </a:tcPr>
                </a:tc>
                <a:tc>
                  <a:txBody>
                    <a:bodyPr/>
                    <a:lstStyle/>
                    <a:p>
                      <a:pPr algn="ctr"/>
                      <a:r>
                        <a:rPr sz="1700" b="0">
                          <a:solidFill>
                            <a:srgbClr val="222222"/>
                          </a:solidFill>
                          <a:latin typeface="Calibri"/>
                        </a:rPr>
                        <a:t>0</a:t>
                      </a:r>
                    </a:p>
                  </a:txBody>
                  <a:tcPr marL="54864" marR="54864" marT="0" marB="0" anchor="ctr">
                    <a:solidFill>
                      <a:srgbClr val="EDF2F8"/>
                    </a:solidFill>
                  </a:tcPr>
                </a:tc>
                <a:tc>
                  <a:txBody>
                    <a:bodyPr/>
                    <a:lstStyle/>
                    <a:p>
                      <a:pPr algn="ctr"/>
                      <a:r>
                        <a:rPr sz="1700" b="1">
                          <a:solidFill>
                            <a:srgbClr val="8E1B22"/>
                          </a:solidFill>
                          <a:latin typeface="Calibri"/>
                        </a:rPr>
                        <a:t>1</a:t>
                      </a:r>
                    </a:p>
                  </a:txBody>
                  <a:tcPr marL="54864" marR="54864" marT="0" marB="0" anchor="ctr">
                    <a:solidFill>
                      <a:srgbClr val="F8EEEF"/>
                    </a:solidFill>
                  </a:tcPr>
                </a:tc>
                <a:extLst>
                  <a:ext uri="{0D108BD9-81ED-4DB2-BD59-A6C34878D82A}">
                    <a16:rowId xmlns:a16="http://schemas.microsoft.com/office/drawing/2014/main" val="10002"/>
                  </a:ext>
                </a:extLst>
              </a:tr>
              <a:tr h="475488">
                <a:tc>
                  <a:txBody>
                    <a:bodyPr/>
                    <a:lstStyle/>
                    <a:p>
                      <a:pPr algn="ctr"/>
                      <a:r>
                        <a:rPr sz="1700" b="0">
                          <a:solidFill>
                            <a:srgbClr val="222222"/>
                          </a:solidFill>
                          <a:latin typeface="Calibri"/>
                        </a:rPr>
                        <a:t>1</a:t>
                      </a:r>
                    </a:p>
                  </a:txBody>
                  <a:tcPr marL="54864" marR="54864" marT="0" marB="0" anchor="ctr">
                    <a:solidFill>
                      <a:srgbClr val="FFFFFF"/>
                    </a:solidFill>
                  </a:tcPr>
                </a:tc>
                <a:tc>
                  <a:txBody>
                    <a:bodyPr/>
                    <a:lstStyle/>
                    <a:p>
                      <a:pPr algn="ctr"/>
                      <a:r>
                        <a:rPr sz="1700" b="0">
                          <a:solidFill>
                            <a:srgbClr val="222222"/>
                          </a:solidFill>
                          <a:latin typeface="Calibri"/>
                        </a:rPr>
                        <a:t>0</a:t>
                      </a:r>
                    </a:p>
                  </a:txBody>
                  <a:tcPr marL="54864" marR="54864" marT="0" marB="0" anchor="ctr">
                    <a:solidFill>
                      <a:srgbClr val="FFFFFF"/>
                    </a:solidFill>
                  </a:tcPr>
                </a:tc>
                <a:tc>
                  <a:txBody>
                    <a:bodyPr/>
                    <a:lstStyle/>
                    <a:p>
                      <a:pPr algn="ctr"/>
                      <a:r>
                        <a:rPr sz="1700" b="0">
                          <a:solidFill>
                            <a:srgbClr val="222222"/>
                          </a:solidFill>
                          <a:latin typeface="Calibri"/>
                        </a:rPr>
                        <a:t>0</a:t>
                      </a:r>
                    </a:p>
                  </a:txBody>
                  <a:tcPr marL="54864" marR="54864" marT="0" marB="0" anchor="ctr">
                    <a:solidFill>
                      <a:srgbClr val="FFFFFF"/>
                    </a:solidFill>
                  </a:tcPr>
                </a:tc>
                <a:tc>
                  <a:txBody>
                    <a:bodyPr/>
                    <a:lstStyle/>
                    <a:p>
                      <a:pPr algn="ctr"/>
                      <a:r>
                        <a:rPr sz="1700" b="1">
                          <a:solidFill>
                            <a:srgbClr val="8E1B22"/>
                          </a:solidFill>
                          <a:latin typeface="Calibri"/>
                        </a:rPr>
                        <a:t>1</a:t>
                      </a:r>
                    </a:p>
                  </a:txBody>
                  <a:tcPr marL="54864" marR="54864" marT="0" marB="0" anchor="ctr">
                    <a:solidFill>
                      <a:srgbClr val="F8EEEF"/>
                    </a:solidFill>
                  </a:tcPr>
                </a:tc>
                <a:tc>
                  <a:txBody>
                    <a:bodyPr/>
                    <a:lstStyle/>
                    <a:p>
                      <a:pPr algn="ctr"/>
                      <a:r>
                        <a:rPr sz="1700" b="0">
                          <a:solidFill>
                            <a:srgbClr val="222222"/>
                          </a:solidFill>
                          <a:latin typeface="Calibri"/>
                        </a:rPr>
                        <a:t>0</a:t>
                      </a:r>
                    </a:p>
                  </a:txBody>
                  <a:tcPr marL="54864" marR="54864" marT="0" marB="0" anchor="ctr">
                    <a:solidFill>
                      <a:srgbClr val="FFFFFF"/>
                    </a:solidFill>
                  </a:tcPr>
                </a:tc>
                <a:tc>
                  <a:txBody>
                    <a:bodyPr/>
                    <a:lstStyle/>
                    <a:p>
                      <a:pPr algn="ctr"/>
                      <a:r>
                        <a:rPr sz="1700" b="0">
                          <a:solidFill>
                            <a:srgbClr val="222222"/>
                          </a:solidFill>
                          <a:latin typeface="Calibri"/>
                        </a:rPr>
                        <a:t>1</a:t>
                      </a:r>
                    </a:p>
                  </a:txBody>
                  <a:tcPr marL="54864" marR="54864" marT="0" marB="0" anchor="ctr">
                    <a:solidFill>
                      <a:srgbClr val="FFFFFF"/>
                    </a:solidFill>
                  </a:tcPr>
                </a:tc>
                <a:tc>
                  <a:txBody>
                    <a:bodyPr/>
                    <a:lstStyle/>
                    <a:p>
                      <a:pPr algn="ctr"/>
                      <a:r>
                        <a:rPr sz="1700" b="1">
                          <a:solidFill>
                            <a:srgbClr val="8E1B22"/>
                          </a:solidFill>
                          <a:latin typeface="Calibri"/>
                        </a:rPr>
                        <a:t>1</a:t>
                      </a:r>
                    </a:p>
                  </a:txBody>
                  <a:tcPr marL="54864" marR="54864" marT="0" marB="0" anchor="ctr">
                    <a:solidFill>
                      <a:srgbClr val="F8EEEF"/>
                    </a:solidFill>
                  </a:tcPr>
                </a:tc>
                <a:extLst>
                  <a:ext uri="{0D108BD9-81ED-4DB2-BD59-A6C34878D82A}">
                    <a16:rowId xmlns:a16="http://schemas.microsoft.com/office/drawing/2014/main" val="10003"/>
                  </a:ext>
                </a:extLst>
              </a:tr>
              <a:tr h="475488">
                <a:tc>
                  <a:txBody>
                    <a:bodyPr/>
                    <a:lstStyle/>
                    <a:p>
                      <a:pPr algn="ctr"/>
                      <a:r>
                        <a:rPr sz="1700" b="0">
                          <a:solidFill>
                            <a:srgbClr val="222222"/>
                          </a:solidFill>
                          <a:latin typeface="Calibri"/>
                        </a:rPr>
                        <a:t>1</a:t>
                      </a:r>
                    </a:p>
                  </a:txBody>
                  <a:tcPr marL="54864" marR="54864" marT="0" marB="0" anchor="ctr">
                    <a:solidFill>
                      <a:srgbClr val="EDF2F8"/>
                    </a:solidFill>
                  </a:tcPr>
                </a:tc>
                <a:tc>
                  <a:txBody>
                    <a:bodyPr/>
                    <a:lstStyle/>
                    <a:p>
                      <a:pPr algn="ctr"/>
                      <a:r>
                        <a:rPr sz="1700" b="0">
                          <a:solidFill>
                            <a:srgbClr val="222222"/>
                          </a:solidFill>
                          <a:latin typeface="Calibri"/>
                        </a:rPr>
                        <a:t>1</a:t>
                      </a:r>
                    </a:p>
                  </a:txBody>
                  <a:tcPr marL="54864" marR="54864" marT="0" marB="0" anchor="ctr">
                    <a:solidFill>
                      <a:srgbClr val="EDF2F8"/>
                    </a:solidFill>
                  </a:tcPr>
                </a:tc>
                <a:tc>
                  <a:txBody>
                    <a:bodyPr/>
                    <a:lstStyle/>
                    <a:p>
                      <a:pPr algn="ctr"/>
                      <a:r>
                        <a:rPr sz="1700" b="0">
                          <a:solidFill>
                            <a:srgbClr val="222222"/>
                          </a:solidFill>
                          <a:latin typeface="Calibri"/>
                        </a:rPr>
                        <a:t>1</a:t>
                      </a:r>
                    </a:p>
                  </a:txBody>
                  <a:tcPr marL="54864" marR="54864" marT="0" marB="0" anchor="ctr">
                    <a:solidFill>
                      <a:srgbClr val="EDF2F8"/>
                    </a:solidFill>
                  </a:tcPr>
                </a:tc>
                <a:tc>
                  <a:txBody>
                    <a:bodyPr/>
                    <a:lstStyle/>
                    <a:p>
                      <a:pPr algn="ctr"/>
                      <a:r>
                        <a:rPr sz="1700" b="1">
                          <a:solidFill>
                            <a:srgbClr val="8E1B22"/>
                          </a:solidFill>
                          <a:latin typeface="Calibri"/>
                        </a:rPr>
                        <a:t>0</a:t>
                      </a:r>
                    </a:p>
                  </a:txBody>
                  <a:tcPr marL="54864" marR="54864" marT="0" marB="0" anchor="ctr">
                    <a:solidFill>
                      <a:srgbClr val="F8EEEF"/>
                    </a:solidFill>
                  </a:tcPr>
                </a:tc>
                <a:tc>
                  <a:txBody>
                    <a:bodyPr/>
                    <a:lstStyle/>
                    <a:p>
                      <a:pPr algn="ctr"/>
                      <a:r>
                        <a:rPr sz="1700" b="0">
                          <a:solidFill>
                            <a:srgbClr val="222222"/>
                          </a:solidFill>
                          <a:latin typeface="Calibri"/>
                        </a:rPr>
                        <a:t>0</a:t>
                      </a:r>
                    </a:p>
                  </a:txBody>
                  <a:tcPr marL="54864" marR="54864" marT="0" marB="0" anchor="ctr">
                    <a:solidFill>
                      <a:srgbClr val="EDF2F8"/>
                    </a:solidFill>
                  </a:tcPr>
                </a:tc>
                <a:tc>
                  <a:txBody>
                    <a:bodyPr/>
                    <a:lstStyle/>
                    <a:p>
                      <a:pPr algn="ctr"/>
                      <a:r>
                        <a:rPr sz="1700" b="0">
                          <a:solidFill>
                            <a:srgbClr val="222222"/>
                          </a:solidFill>
                          <a:latin typeface="Calibri"/>
                        </a:rPr>
                        <a:t>0</a:t>
                      </a:r>
                    </a:p>
                  </a:txBody>
                  <a:tcPr marL="54864" marR="54864" marT="0" marB="0" anchor="ctr">
                    <a:solidFill>
                      <a:srgbClr val="EDF2F8"/>
                    </a:solidFill>
                  </a:tcPr>
                </a:tc>
                <a:tc>
                  <a:txBody>
                    <a:bodyPr/>
                    <a:lstStyle/>
                    <a:p>
                      <a:pPr algn="ctr"/>
                      <a:r>
                        <a:rPr sz="1700" b="1">
                          <a:solidFill>
                            <a:srgbClr val="8E1B22"/>
                          </a:solidFill>
                          <a:latin typeface="Calibri"/>
                        </a:rPr>
                        <a:t>0</a:t>
                      </a:r>
                    </a:p>
                  </a:txBody>
                  <a:tcPr marL="54864" marR="54864" marT="0" marB="0" anchor="ctr">
                    <a:solidFill>
                      <a:srgbClr val="F8EEEF"/>
                    </a:solidFill>
                  </a:tcPr>
                </a:tc>
                <a:extLst>
                  <a:ext uri="{0D108BD9-81ED-4DB2-BD59-A6C34878D82A}">
                    <a16:rowId xmlns:a16="http://schemas.microsoft.com/office/drawing/2014/main" val="10004"/>
                  </a:ext>
                </a:extLst>
              </a:tr>
            </a:tbl>
          </a:graphicData>
        </a:graphic>
      </p:graphicFrame>
      <p:sp>
        <p:nvSpPr>
          <p:cNvPr id="13" name="Rounded Rectangle 12"/>
          <p:cNvSpPr/>
          <p:nvPr/>
        </p:nvSpPr>
        <p:spPr>
          <a:xfrm>
            <a:off x="7589520" y="3246120"/>
            <a:ext cx="4050791" cy="2880360"/>
          </a:xfrm>
          <a:prstGeom prst="roundRect">
            <a:avLst>
              <a:gd name="adj" fmla="val 600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863840" y="3246120"/>
            <a:ext cx="3566160" cy="2880360"/>
          </a:xfrm>
          <a:prstGeom prst="rect">
            <a:avLst/>
          </a:prstGeom>
          <a:noFill/>
        </p:spPr>
        <p:txBody>
          <a:bodyPr wrap="square" lIns="0" tIns="0" rIns="0" bIns="0" anchor="ctr">
            <a:spAutoFit/>
          </a:bodyPr>
          <a:lstStyle/>
          <a:p>
            <a:pPr algn="l">
              <a:spcAft>
                <a:spcPts val="600"/>
              </a:spcAft>
            </a:pPr>
            <a:r>
              <a:rPr sz="1700" b="1" i="0">
                <a:solidFill>
                  <a:srgbClr val="F2C9CC"/>
                </a:solidFill>
                <a:latin typeface="Calibri"/>
              </a:rPr>
              <a:t>Memory trick</a:t>
            </a:r>
          </a:p>
          <a:p>
            <a:pPr algn="l">
              <a:spcAft>
                <a:spcPts val="800"/>
              </a:spcAft>
            </a:pPr>
            <a:r>
              <a:rPr sz="2800" b="1" i="0">
                <a:solidFill>
                  <a:srgbClr val="FFFFFF"/>
                </a:solidFill>
                <a:latin typeface="Calibri"/>
              </a:rPr>
              <a:t>Break the bar, change the sign.</a:t>
            </a:r>
          </a:p>
          <a:p>
            <a:pPr algn="l">
              <a:spcAft>
                <a:spcPts val="0"/>
              </a:spcAft>
            </a:pPr>
            <a:r>
              <a:rPr sz="1600" b="0" i="0">
                <a:solidFill>
                  <a:srgbClr val="FFFFFF"/>
                </a:solidFill>
                <a:latin typeface="Calibri"/>
              </a:rPr>
              <a:t>Put the NOT on each variable, and swap AND ↔ OR.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548640" y="429768"/>
            <a:ext cx="566928" cy="566928"/>
          </a:xfrm>
          <a:prstGeom prst="ellipse">
            <a:avLst/>
          </a:prstGeom>
          <a:solidFill>
            <a:srgbClr val="8E1B2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Calibri"/>
              </a:rPr>
              <a:t>5</a:t>
            </a:r>
          </a:p>
        </p:txBody>
      </p:sp>
      <p:sp>
        <p:nvSpPr>
          <p:cNvPr id="3" name="TextBox 2"/>
          <p:cNvSpPr txBox="1"/>
          <p:nvPr/>
        </p:nvSpPr>
        <p:spPr>
          <a:xfrm>
            <a:off x="7068312" y="182880"/>
            <a:ext cx="4572000" cy="274320"/>
          </a:xfrm>
          <a:prstGeom prst="rect">
            <a:avLst/>
          </a:prstGeom>
          <a:noFill/>
        </p:spPr>
        <p:txBody>
          <a:bodyPr wrap="square" lIns="0" tIns="0" rIns="0" bIns="0" anchor="t">
            <a:spAutoFit/>
          </a:bodyPr>
          <a:lstStyle/>
          <a:p>
            <a:pPr algn="r">
              <a:spcAft>
                <a:spcPts val="0"/>
              </a:spcAft>
            </a:pPr>
            <a:r>
              <a:rPr sz="1200" b="0" i="0">
                <a:solidFill>
                  <a:srgbClr val="6B6B6B"/>
                </a:solidFill>
                <a:latin typeface="Calibri"/>
              </a:rPr>
              <a:t>Topic 5 of 5  ·  Simplification</a:t>
            </a:r>
          </a:p>
        </p:txBody>
      </p:sp>
      <p:sp>
        <p:nvSpPr>
          <p:cNvPr id="4" name="TextBox 3"/>
          <p:cNvSpPr txBox="1"/>
          <p:nvPr/>
        </p:nvSpPr>
        <p:spPr>
          <a:xfrm>
            <a:off x="1298448" y="365760"/>
            <a:ext cx="10341864" cy="713232"/>
          </a:xfrm>
          <a:prstGeom prst="rect">
            <a:avLst/>
          </a:prstGeom>
          <a:noFill/>
        </p:spPr>
        <p:txBody>
          <a:bodyPr wrap="square" lIns="0" tIns="0" rIns="0" bIns="0" anchor="ctr">
            <a:spAutoFit/>
          </a:bodyPr>
          <a:lstStyle/>
          <a:p>
            <a:pPr algn="l">
              <a:spcAft>
                <a:spcPts val="0"/>
              </a:spcAft>
            </a:pPr>
            <a:r>
              <a:rPr sz="3400" b="1" i="0">
                <a:solidFill>
                  <a:srgbClr val="1B3A6B"/>
                </a:solidFill>
                <a:latin typeface="Calibri"/>
              </a:rPr>
              <a:t>Why Simplify a Boolean Function?</a:t>
            </a:r>
          </a:p>
        </p:txBody>
      </p:sp>
      <p:sp>
        <p:nvSpPr>
          <p:cNvPr id="5" name="TextBox 4"/>
          <p:cNvSpPr txBox="1"/>
          <p:nvPr/>
        </p:nvSpPr>
        <p:spPr>
          <a:xfrm>
            <a:off x="548640" y="6428232"/>
            <a:ext cx="5486400" cy="274320"/>
          </a:xfrm>
          <a:prstGeom prst="rect">
            <a:avLst/>
          </a:prstGeom>
          <a:noFill/>
        </p:spPr>
        <p:txBody>
          <a:bodyPr wrap="square" lIns="0" tIns="0" rIns="0" bIns="0" anchor="t">
            <a:spAutoFit/>
          </a:bodyPr>
          <a:lstStyle/>
          <a:p>
            <a:pPr algn="l">
              <a:spcAft>
                <a:spcPts val="0"/>
              </a:spcAft>
            </a:pPr>
            <a:r>
              <a:rPr sz="1100" b="0" i="0">
                <a:solidFill>
                  <a:srgbClr val="6B6B6B"/>
                </a:solidFill>
                <a:latin typeface="Calibri"/>
              </a:rPr>
              <a:t>CSE207  ·  Digital Logic Design  ·  Lecture 01</a:t>
            </a:r>
          </a:p>
        </p:txBody>
      </p:sp>
      <p:sp>
        <p:nvSpPr>
          <p:cNvPr id="6" name="TextBox 5"/>
          <p:cNvSpPr txBox="1"/>
          <p:nvPr/>
        </p:nvSpPr>
        <p:spPr>
          <a:xfrm>
            <a:off x="10725912" y="6428232"/>
            <a:ext cx="914400" cy="274320"/>
          </a:xfrm>
          <a:prstGeom prst="rect">
            <a:avLst/>
          </a:prstGeom>
          <a:noFill/>
        </p:spPr>
        <p:txBody>
          <a:bodyPr wrap="square" lIns="0" tIns="0" rIns="0" bIns="0" anchor="t">
            <a:spAutoFit/>
          </a:bodyPr>
          <a:lstStyle/>
          <a:p>
            <a:pPr algn="r">
              <a:spcAft>
                <a:spcPts val="0"/>
              </a:spcAft>
            </a:pPr>
            <a:r>
              <a:rPr sz="1100" b="0" i="0">
                <a:solidFill>
                  <a:srgbClr val="6B6B6B"/>
                </a:solidFill>
                <a:latin typeface="Calibri"/>
              </a:rPr>
              <a:t>14</a:t>
            </a:r>
          </a:p>
        </p:txBody>
      </p:sp>
      <p:sp>
        <p:nvSpPr>
          <p:cNvPr id="7" name="TextBox 6"/>
          <p:cNvSpPr txBox="1"/>
          <p:nvPr/>
        </p:nvSpPr>
        <p:spPr>
          <a:xfrm>
            <a:off x="548640" y="1280160"/>
            <a:ext cx="11091672" cy="457200"/>
          </a:xfrm>
          <a:prstGeom prst="rect">
            <a:avLst/>
          </a:prstGeom>
          <a:noFill/>
        </p:spPr>
        <p:txBody>
          <a:bodyPr wrap="square" lIns="0" tIns="0" rIns="0" bIns="0" anchor="t">
            <a:spAutoFit/>
          </a:bodyPr>
          <a:lstStyle/>
          <a:p>
            <a:pPr algn="l">
              <a:spcAft>
                <a:spcPts val="0"/>
              </a:spcAft>
            </a:pPr>
            <a:r>
              <a:rPr sz="1900" b="0" i="0">
                <a:solidFill>
                  <a:srgbClr val="222222"/>
                </a:solidFill>
                <a:latin typeface="Calibri"/>
              </a:rPr>
              <a:t>The same logic can be written the long way or the short way. Shorter means fewer gates.</a:t>
            </a:r>
          </a:p>
        </p:txBody>
      </p:sp>
      <p:sp>
        <p:nvSpPr>
          <p:cNvPr id="8" name="Rounded Rectangle 7"/>
          <p:cNvSpPr/>
          <p:nvPr/>
        </p:nvSpPr>
        <p:spPr>
          <a:xfrm>
            <a:off x="548640" y="1874519"/>
            <a:ext cx="4937760" cy="2926080"/>
          </a:xfrm>
          <a:prstGeom prst="roundRect">
            <a:avLst>
              <a:gd name="adj" fmla="val 6000"/>
            </a:avLst>
          </a:prstGeom>
          <a:solidFill>
            <a:srgbClr val="F8E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2011680"/>
            <a:ext cx="4937760" cy="2697480"/>
          </a:xfrm>
          <a:prstGeom prst="rect">
            <a:avLst/>
          </a:prstGeom>
          <a:noFill/>
        </p:spPr>
        <p:txBody>
          <a:bodyPr wrap="square" lIns="0" tIns="0" rIns="0" bIns="0" anchor="ctr">
            <a:spAutoFit/>
          </a:bodyPr>
          <a:lstStyle/>
          <a:p>
            <a:pPr algn="ctr">
              <a:spcAft>
                <a:spcPts val="200"/>
              </a:spcAft>
            </a:pPr>
            <a:r>
              <a:rPr sz="1500" b="1" i="0">
                <a:solidFill>
                  <a:srgbClr val="8E1B22"/>
                </a:solidFill>
                <a:latin typeface="Calibri"/>
              </a:rPr>
              <a:t>BEFORE</a:t>
            </a:r>
          </a:p>
          <a:p>
            <a:pPr algn="ctr">
              <a:spcAft>
                <a:spcPts val="600"/>
              </a:spcAft>
            </a:pPr>
            <a:r>
              <a:rPr sz="3200" b="1" i="0">
                <a:solidFill>
                  <a:srgbClr val="222222"/>
                </a:solidFill>
                <a:latin typeface="Calibri"/>
              </a:rPr>
              <a:t>F = AB + AB'</a:t>
            </a:r>
          </a:p>
          <a:p>
            <a:pPr algn="ctr">
              <a:spcAft>
                <a:spcPts val="0"/>
              </a:spcAft>
            </a:pPr>
            <a:r>
              <a:rPr sz="6000" b="1" i="0">
                <a:solidFill>
                  <a:srgbClr val="8E1B22"/>
                </a:solidFill>
                <a:latin typeface="Calibri"/>
              </a:rPr>
              <a:t>4</a:t>
            </a:r>
            <a:r>
              <a:rPr sz="2200" b="0" i="0">
                <a:solidFill>
                  <a:srgbClr val="8E1B22"/>
                </a:solidFill>
                <a:latin typeface="Calibri"/>
              </a:rPr>
              <a:t>  gates</a:t>
            </a:r>
          </a:p>
          <a:p>
            <a:pPr algn="ctr">
              <a:spcAft>
                <a:spcPts val="0"/>
              </a:spcAft>
            </a:pPr>
            <a:r>
              <a:rPr sz="1600" b="0" i="0">
                <a:solidFill>
                  <a:srgbClr val="6B6B6B"/>
                </a:solidFill>
                <a:latin typeface="Calibri"/>
              </a:rPr>
              <a:t>2 AND  ·  1 OR  ·  1 NOT</a:t>
            </a:r>
          </a:p>
        </p:txBody>
      </p:sp>
      <p:sp>
        <p:nvSpPr>
          <p:cNvPr id="10" name="Rounded Rectangle 9"/>
          <p:cNvSpPr/>
          <p:nvPr/>
        </p:nvSpPr>
        <p:spPr>
          <a:xfrm>
            <a:off x="6702552" y="1874519"/>
            <a:ext cx="4937760" cy="2926080"/>
          </a:xfrm>
          <a:prstGeom prst="roundRect">
            <a:avLst>
              <a:gd name="adj" fmla="val 6000"/>
            </a:avLst>
          </a:prstGeom>
          <a:solidFill>
            <a:srgbClr val="ED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702552" y="2011680"/>
            <a:ext cx="4937760" cy="2697480"/>
          </a:xfrm>
          <a:prstGeom prst="rect">
            <a:avLst/>
          </a:prstGeom>
          <a:noFill/>
        </p:spPr>
        <p:txBody>
          <a:bodyPr wrap="square" lIns="0" tIns="0" rIns="0" bIns="0" anchor="ctr">
            <a:spAutoFit/>
          </a:bodyPr>
          <a:lstStyle/>
          <a:p>
            <a:pPr algn="ctr">
              <a:spcAft>
                <a:spcPts val="200"/>
              </a:spcAft>
            </a:pPr>
            <a:r>
              <a:rPr sz="1500" b="1" i="0">
                <a:solidFill>
                  <a:srgbClr val="1B3A6B"/>
                </a:solidFill>
                <a:latin typeface="Calibri"/>
              </a:rPr>
              <a:t>AFTER</a:t>
            </a:r>
          </a:p>
          <a:p>
            <a:pPr algn="ctr">
              <a:spcAft>
                <a:spcPts val="600"/>
              </a:spcAft>
            </a:pPr>
            <a:r>
              <a:rPr sz="3200" b="1" i="0">
                <a:solidFill>
                  <a:srgbClr val="222222"/>
                </a:solidFill>
                <a:latin typeface="Calibri"/>
              </a:rPr>
              <a:t>F = A</a:t>
            </a:r>
          </a:p>
          <a:p>
            <a:pPr algn="ctr">
              <a:spcAft>
                <a:spcPts val="0"/>
              </a:spcAft>
            </a:pPr>
            <a:r>
              <a:rPr sz="6000" b="1" i="0">
                <a:solidFill>
                  <a:srgbClr val="1B3A6B"/>
                </a:solidFill>
                <a:latin typeface="Calibri"/>
              </a:rPr>
              <a:t>0</a:t>
            </a:r>
            <a:r>
              <a:rPr sz="2200" b="0" i="0">
                <a:solidFill>
                  <a:srgbClr val="1B3A6B"/>
                </a:solidFill>
                <a:latin typeface="Calibri"/>
              </a:rPr>
              <a:t>  gates</a:t>
            </a:r>
          </a:p>
          <a:p>
            <a:pPr algn="ctr">
              <a:spcAft>
                <a:spcPts val="0"/>
              </a:spcAft>
            </a:pPr>
            <a:r>
              <a:rPr sz="1600" b="0" i="0">
                <a:solidFill>
                  <a:srgbClr val="6B6B6B"/>
                </a:solidFill>
                <a:latin typeface="Calibri"/>
              </a:rPr>
              <a:t>Just a wire from A!</a:t>
            </a:r>
          </a:p>
        </p:txBody>
      </p:sp>
      <p:sp>
        <p:nvSpPr>
          <p:cNvPr id="12" name="Right Arrow 11"/>
          <p:cNvSpPr/>
          <p:nvPr/>
        </p:nvSpPr>
        <p:spPr>
          <a:xfrm>
            <a:off x="5687568" y="2971800"/>
            <a:ext cx="822960" cy="731520"/>
          </a:xfrm>
          <a:prstGeom prst="rightArrow">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548640" y="5074920"/>
            <a:ext cx="3520440" cy="1097280"/>
          </a:xfrm>
          <a:prstGeom prst="roundRect">
            <a:avLst>
              <a:gd name="adj" fmla="val 5000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48640" y="5074920"/>
            <a:ext cx="3520440" cy="1097280"/>
          </a:xfrm>
          <a:prstGeom prst="rect">
            <a:avLst/>
          </a:prstGeom>
          <a:noFill/>
        </p:spPr>
        <p:txBody>
          <a:bodyPr wrap="square" lIns="0" tIns="0" rIns="0" bIns="0" anchor="ctr">
            <a:spAutoFit/>
          </a:bodyPr>
          <a:lstStyle/>
          <a:p>
            <a:pPr algn="ctr">
              <a:spcAft>
                <a:spcPts val="0"/>
              </a:spcAft>
            </a:pPr>
            <a:r>
              <a:rPr sz="2100" b="1" i="0">
                <a:solidFill>
                  <a:srgbClr val="FFFFFF"/>
                </a:solidFill>
                <a:latin typeface="Calibri"/>
              </a:rPr>
              <a:t>Cheaper</a:t>
            </a:r>
          </a:p>
          <a:p>
            <a:pPr algn="ctr">
              <a:spcAft>
                <a:spcPts val="0"/>
              </a:spcAft>
            </a:pPr>
            <a:r>
              <a:rPr sz="1500" b="0" i="0">
                <a:solidFill>
                  <a:srgbClr val="F2C9CC"/>
                </a:solidFill>
                <a:latin typeface="Calibri"/>
              </a:rPr>
              <a:t>fewer parts</a:t>
            </a:r>
          </a:p>
        </p:txBody>
      </p:sp>
      <p:sp>
        <p:nvSpPr>
          <p:cNvPr id="15" name="Rounded Rectangle 14"/>
          <p:cNvSpPr/>
          <p:nvPr/>
        </p:nvSpPr>
        <p:spPr>
          <a:xfrm>
            <a:off x="4334255" y="5074920"/>
            <a:ext cx="3520440" cy="1097280"/>
          </a:xfrm>
          <a:prstGeom prst="roundRect">
            <a:avLst>
              <a:gd name="adj" fmla="val 5000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334255" y="5074920"/>
            <a:ext cx="3520440" cy="1097280"/>
          </a:xfrm>
          <a:prstGeom prst="rect">
            <a:avLst/>
          </a:prstGeom>
          <a:noFill/>
        </p:spPr>
        <p:txBody>
          <a:bodyPr wrap="square" lIns="0" tIns="0" rIns="0" bIns="0" anchor="ctr">
            <a:spAutoFit/>
          </a:bodyPr>
          <a:lstStyle/>
          <a:p>
            <a:pPr algn="ctr">
              <a:spcAft>
                <a:spcPts val="0"/>
              </a:spcAft>
            </a:pPr>
            <a:r>
              <a:rPr sz="2100" b="1" i="0">
                <a:solidFill>
                  <a:srgbClr val="FFFFFF"/>
                </a:solidFill>
                <a:latin typeface="Calibri"/>
              </a:rPr>
              <a:t>Faster</a:t>
            </a:r>
          </a:p>
          <a:p>
            <a:pPr algn="ctr">
              <a:spcAft>
                <a:spcPts val="0"/>
              </a:spcAft>
            </a:pPr>
            <a:r>
              <a:rPr sz="1500" b="0" i="0">
                <a:solidFill>
                  <a:srgbClr val="F2C9CC"/>
                </a:solidFill>
                <a:latin typeface="Calibri"/>
              </a:rPr>
              <a:t>signals pass fewer gates</a:t>
            </a:r>
          </a:p>
        </p:txBody>
      </p:sp>
      <p:sp>
        <p:nvSpPr>
          <p:cNvPr id="17" name="Rounded Rectangle 16"/>
          <p:cNvSpPr/>
          <p:nvPr/>
        </p:nvSpPr>
        <p:spPr>
          <a:xfrm>
            <a:off x="8119871" y="5074920"/>
            <a:ext cx="3520440" cy="1097280"/>
          </a:xfrm>
          <a:prstGeom prst="roundRect">
            <a:avLst>
              <a:gd name="adj" fmla="val 5000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119871" y="5074920"/>
            <a:ext cx="3520440" cy="1097280"/>
          </a:xfrm>
          <a:prstGeom prst="rect">
            <a:avLst/>
          </a:prstGeom>
          <a:noFill/>
        </p:spPr>
        <p:txBody>
          <a:bodyPr wrap="square" lIns="0" tIns="0" rIns="0" bIns="0" anchor="ctr">
            <a:spAutoFit/>
          </a:bodyPr>
          <a:lstStyle/>
          <a:p>
            <a:pPr algn="ctr">
              <a:spcAft>
                <a:spcPts val="0"/>
              </a:spcAft>
            </a:pPr>
            <a:r>
              <a:rPr sz="2100" b="1" i="0">
                <a:solidFill>
                  <a:srgbClr val="FFFFFF"/>
                </a:solidFill>
                <a:latin typeface="Calibri"/>
              </a:rPr>
              <a:t>Cooler</a:t>
            </a:r>
          </a:p>
          <a:p>
            <a:pPr algn="ctr">
              <a:spcAft>
                <a:spcPts val="0"/>
              </a:spcAft>
            </a:pPr>
            <a:r>
              <a:rPr sz="1500" b="0" i="0">
                <a:solidFill>
                  <a:srgbClr val="F2C9CC"/>
                </a:solidFill>
                <a:latin typeface="Calibri"/>
              </a:rPr>
              <a:t>uses less power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548640" y="429768"/>
            <a:ext cx="566928" cy="566928"/>
          </a:xfrm>
          <a:prstGeom prst="ellipse">
            <a:avLst/>
          </a:prstGeom>
          <a:solidFill>
            <a:srgbClr val="8E1B2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Calibri"/>
              </a:rPr>
              <a:t>5</a:t>
            </a:r>
          </a:p>
        </p:txBody>
      </p:sp>
      <p:sp>
        <p:nvSpPr>
          <p:cNvPr id="3" name="TextBox 2"/>
          <p:cNvSpPr txBox="1"/>
          <p:nvPr/>
        </p:nvSpPr>
        <p:spPr>
          <a:xfrm>
            <a:off x="7068312" y="182880"/>
            <a:ext cx="4572000" cy="274320"/>
          </a:xfrm>
          <a:prstGeom prst="rect">
            <a:avLst/>
          </a:prstGeom>
          <a:noFill/>
        </p:spPr>
        <p:txBody>
          <a:bodyPr wrap="square" lIns="0" tIns="0" rIns="0" bIns="0" anchor="t">
            <a:spAutoFit/>
          </a:bodyPr>
          <a:lstStyle/>
          <a:p>
            <a:pPr algn="r">
              <a:spcAft>
                <a:spcPts val="0"/>
              </a:spcAft>
            </a:pPr>
            <a:r>
              <a:rPr sz="1200" b="0" i="0">
                <a:solidFill>
                  <a:srgbClr val="6B6B6B"/>
                </a:solidFill>
                <a:latin typeface="Calibri"/>
              </a:rPr>
              <a:t>Topic 5 of 5  ·  Simplification</a:t>
            </a:r>
          </a:p>
        </p:txBody>
      </p:sp>
      <p:sp>
        <p:nvSpPr>
          <p:cNvPr id="4" name="TextBox 3"/>
          <p:cNvSpPr txBox="1"/>
          <p:nvPr/>
        </p:nvSpPr>
        <p:spPr>
          <a:xfrm>
            <a:off x="1298448" y="365760"/>
            <a:ext cx="10341864" cy="713232"/>
          </a:xfrm>
          <a:prstGeom prst="rect">
            <a:avLst/>
          </a:prstGeom>
          <a:noFill/>
        </p:spPr>
        <p:txBody>
          <a:bodyPr wrap="square" lIns="0" tIns="0" rIns="0" bIns="0" anchor="ctr">
            <a:spAutoFit/>
          </a:bodyPr>
          <a:lstStyle/>
          <a:p>
            <a:pPr algn="l">
              <a:spcAft>
                <a:spcPts val="0"/>
              </a:spcAft>
            </a:pPr>
            <a:r>
              <a:rPr sz="3400" b="1" i="0">
                <a:solidFill>
                  <a:srgbClr val="1B3A6B"/>
                </a:solidFill>
                <a:latin typeface="Calibri"/>
              </a:rPr>
              <a:t>Simplification: Step by Step</a:t>
            </a:r>
          </a:p>
        </p:txBody>
      </p:sp>
      <p:sp>
        <p:nvSpPr>
          <p:cNvPr id="5" name="TextBox 4"/>
          <p:cNvSpPr txBox="1"/>
          <p:nvPr/>
        </p:nvSpPr>
        <p:spPr>
          <a:xfrm>
            <a:off x="548640" y="6428232"/>
            <a:ext cx="5486400" cy="274320"/>
          </a:xfrm>
          <a:prstGeom prst="rect">
            <a:avLst/>
          </a:prstGeom>
          <a:noFill/>
        </p:spPr>
        <p:txBody>
          <a:bodyPr wrap="square" lIns="0" tIns="0" rIns="0" bIns="0" anchor="t">
            <a:spAutoFit/>
          </a:bodyPr>
          <a:lstStyle/>
          <a:p>
            <a:pPr algn="l">
              <a:spcAft>
                <a:spcPts val="0"/>
              </a:spcAft>
            </a:pPr>
            <a:r>
              <a:rPr sz="1100" b="0" i="0">
                <a:solidFill>
                  <a:srgbClr val="6B6B6B"/>
                </a:solidFill>
                <a:latin typeface="Calibri"/>
              </a:rPr>
              <a:t>CSE207  ·  Digital Logic Design  ·  Lecture 01</a:t>
            </a:r>
          </a:p>
        </p:txBody>
      </p:sp>
      <p:sp>
        <p:nvSpPr>
          <p:cNvPr id="6" name="TextBox 5"/>
          <p:cNvSpPr txBox="1"/>
          <p:nvPr/>
        </p:nvSpPr>
        <p:spPr>
          <a:xfrm>
            <a:off x="10725912" y="6428232"/>
            <a:ext cx="914400" cy="274320"/>
          </a:xfrm>
          <a:prstGeom prst="rect">
            <a:avLst/>
          </a:prstGeom>
          <a:noFill/>
        </p:spPr>
        <p:txBody>
          <a:bodyPr wrap="square" lIns="0" tIns="0" rIns="0" bIns="0" anchor="t">
            <a:spAutoFit/>
          </a:bodyPr>
          <a:lstStyle/>
          <a:p>
            <a:pPr algn="r">
              <a:spcAft>
                <a:spcPts val="0"/>
              </a:spcAft>
            </a:pPr>
            <a:r>
              <a:rPr sz="1100" b="0" i="0">
                <a:solidFill>
                  <a:srgbClr val="6B6B6B"/>
                </a:solidFill>
                <a:latin typeface="Calibri"/>
              </a:rPr>
              <a:t>15</a:t>
            </a:r>
          </a:p>
        </p:txBody>
      </p:sp>
      <p:sp>
        <p:nvSpPr>
          <p:cNvPr id="7" name="Rounded Rectangle 6"/>
          <p:cNvSpPr/>
          <p:nvPr/>
        </p:nvSpPr>
        <p:spPr>
          <a:xfrm>
            <a:off x="548640" y="1325880"/>
            <a:ext cx="3520440" cy="4251960"/>
          </a:xfrm>
          <a:prstGeom prst="roundRect">
            <a:avLst>
              <a:gd name="adj" fmla="val 6000"/>
            </a:avLst>
          </a:prstGeom>
          <a:solidFill>
            <a:srgbClr val="F8E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59" y="1508760"/>
            <a:ext cx="3017520" cy="868680"/>
          </a:xfrm>
          <a:prstGeom prst="rect">
            <a:avLst/>
          </a:prstGeom>
          <a:noFill/>
        </p:spPr>
        <p:txBody>
          <a:bodyPr wrap="square" lIns="0" tIns="0" rIns="0" bIns="0" anchor="t">
            <a:spAutoFit/>
          </a:bodyPr>
          <a:lstStyle/>
          <a:p>
            <a:pPr algn="l">
              <a:spcAft>
                <a:spcPts val="0"/>
              </a:spcAft>
            </a:pPr>
            <a:r>
              <a:rPr sz="1500" b="1" i="0">
                <a:solidFill>
                  <a:srgbClr val="8E1B22"/>
                </a:solidFill>
                <a:latin typeface="Calibri"/>
              </a:rPr>
              <a:t>Example 1</a:t>
            </a:r>
          </a:p>
          <a:p>
            <a:pPr algn="l">
              <a:spcAft>
                <a:spcPts val="0"/>
              </a:spcAft>
            </a:pPr>
            <a:r>
              <a:rPr sz="2400" b="1" i="0">
                <a:solidFill>
                  <a:srgbClr val="222222"/>
                </a:solidFill>
                <a:latin typeface="Calibri"/>
              </a:rPr>
              <a:t>F = AB + AB'</a:t>
            </a:r>
          </a:p>
        </p:txBody>
      </p:sp>
      <p:sp>
        <p:nvSpPr>
          <p:cNvPr id="9" name="TextBox 8"/>
          <p:cNvSpPr txBox="1"/>
          <p:nvPr/>
        </p:nvSpPr>
        <p:spPr>
          <a:xfrm>
            <a:off x="822959" y="2560320"/>
            <a:ext cx="3017520" cy="822960"/>
          </a:xfrm>
          <a:prstGeom prst="rect">
            <a:avLst/>
          </a:prstGeom>
          <a:noFill/>
        </p:spPr>
        <p:txBody>
          <a:bodyPr wrap="square" lIns="0" tIns="0" rIns="0" bIns="0" anchor="t">
            <a:spAutoFit/>
          </a:bodyPr>
          <a:lstStyle/>
          <a:p>
            <a:pPr algn="l">
              <a:spcAft>
                <a:spcPts val="0"/>
              </a:spcAft>
            </a:pPr>
            <a:r>
              <a:rPr sz="2100" b="0" i="0">
                <a:solidFill>
                  <a:srgbClr val="222222"/>
                </a:solidFill>
                <a:latin typeface="Calibri"/>
              </a:rPr>
              <a:t>= A(B + B')</a:t>
            </a:r>
          </a:p>
          <a:p>
            <a:pPr algn="l">
              <a:spcAft>
                <a:spcPts val="0"/>
              </a:spcAft>
            </a:pPr>
            <a:r>
              <a:rPr sz="1300" b="0" i="1">
                <a:solidFill>
                  <a:srgbClr val="6B6B6B"/>
                </a:solidFill>
                <a:latin typeface="Calibri"/>
              </a:rPr>
              <a:t>Distributive law</a:t>
            </a:r>
          </a:p>
        </p:txBody>
      </p:sp>
      <p:sp>
        <p:nvSpPr>
          <p:cNvPr id="10" name="TextBox 9"/>
          <p:cNvSpPr txBox="1"/>
          <p:nvPr/>
        </p:nvSpPr>
        <p:spPr>
          <a:xfrm>
            <a:off x="822959" y="3429000"/>
            <a:ext cx="3017520" cy="822960"/>
          </a:xfrm>
          <a:prstGeom prst="rect">
            <a:avLst/>
          </a:prstGeom>
          <a:noFill/>
        </p:spPr>
        <p:txBody>
          <a:bodyPr wrap="square" lIns="0" tIns="0" rIns="0" bIns="0" anchor="t">
            <a:spAutoFit/>
          </a:bodyPr>
          <a:lstStyle/>
          <a:p>
            <a:pPr algn="l">
              <a:spcAft>
                <a:spcPts val="0"/>
              </a:spcAft>
            </a:pPr>
            <a:r>
              <a:rPr sz="2100" b="0" i="0">
                <a:solidFill>
                  <a:srgbClr val="222222"/>
                </a:solidFill>
                <a:latin typeface="Calibri"/>
              </a:rPr>
              <a:t>= A · 1</a:t>
            </a:r>
          </a:p>
          <a:p>
            <a:pPr algn="l">
              <a:spcAft>
                <a:spcPts val="0"/>
              </a:spcAft>
            </a:pPr>
            <a:r>
              <a:rPr sz="1300" b="0" i="1">
                <a:solidFill>
                  <a:srgbClr val="6B6B6B"/>
                </a:solidFill>
                <a:latin typeface="Calibri"/>
              </a:rPr>
              <a:t>Complement law</a:t>
            </a:r>
          </a:p>
        </p:txBody>
      </p:sp>
      <p:sp>
        <p:nvSpPr>
          <p:cNvPr id="11" name="Rounded Rectangle 10"/>
          <p:cNvSpPr/>
          <p:nvPr/>
        </p:nvSpPr>
        <p:spPr>
          <a:xfrm>
            <a:off x="822959" y="4434840"/>
            <a:ext cx="2971800" cy="868680"/>
          </a:xfrm>
          <a:prstGeom prst="roundRect">
            <a:avLst>
              <a:gd name="adj" fmla="val 3000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59" y="4434840"/>
            <a:ext cx="2971800" cy="868680"/>
          </a:xfrm>
          <a:prstGeom prst="rect">
            <a:avLst/>
          </a:prstGeom>
          <a:noFill/>
        </p:spPr>
        <p:txBody>
          <a:bodyPr wrap="square" lIns="0" tIns="0" rIns="0" bIns="0" anchor="ctr">
            <a:spAutoFit/>
          </a:bodyPr>
          <a:lstStyle/>
          <a:p>
            <a:pPr algn="ctr">
              <a:spcAft>
                <a:spcPts val="0"/>
              </a:spcAft>
            </a:pPr>
            <a:r>
              <a:rPr sz="2400" b="1" i="0">
                <a:solidFill>
                  <a:srgbClr val="FFFFFF"/>
                </a:solidFill>
                <a:latin typeface="Calibri"/>
              </a:rPr>
              <a:t>F = A</a:t>
            </a:r>
          </a:p>
          <a:p>
            <a:pPr algn="ctr">
              <a:spcAft>
                <a:spcPts val="0"/>
              </a:spcAft>
            </a:pPr>
            <a:r>
              <a:rPr sz="1300" b="0" i="1">
                <a:solidFill>
                  <a:srgbClr val="F2C9CC"/>
                </a:solidFill>
                <a:latin typeface="Calibri"/>
              </a:rPr>
              <a:t>Identity law</a:t>
            </a:r>
          </a:p>
        </p:txBody>
      </p:sp>
      <p:sp>
        <p:nvSpPr>
          <p:cNvPr id="13" name="Rounded Rectangle 12"/>
          <p:cNvSpPr/>
          <p:nvPr/>
        </p:nvSpPr>
        <p:spPr>
          <a:xfrm>
            <a:off x="4334255" y="1325880"/>
            <a:ext cx="3520440" cy="4251960"/>
          </a:xfrm>
          <a:prstGeom prst="roundRect">
            <a:avLst>
              <a:gd name="adj" fmla="val 6000"/>
            </a:avLst>
          </a:prstGeom>
          <a:solidFill>
            <a:srgbClr val="ED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08575" y="1508760"/>
            <a:ext cx="3017520" cy="868680"/>
          </a:xfrm>
          <a:prstGeom prst="rect">
            <a:avLst/>
          </a:prstGeom>
          <a:noFill/>
        </p:spPr>
        <p:txBody>
          <a:bodyPr wrap="square" lIns="0" tIns="0" rIns="0" bIns="0" anchor="t">
            <a:spAutoFit/>
          </a:bodyPr>
          <a:lstStyle/>
          <a:p>
            <a:pPr algn="l">
              <a:spcAft>
                <a:spcPts val="0"/>
              </a:spcAft>
            </a:pPr>
            <a:r>
              <a:rPr sz="1500" b="1" i="0">
                <a:solidFill>
                  <a:srgbClr val="8E1B22"/>
                </a:solidFill>
                <a:latin typeface="Calibri"/>
              </a:rPr>
              <a:t>Example 2</a:t>
            </a:r>
          </a:p>
          <a:p>
            <a:pPr algn="l">
              <a:spcAft>
                <a:spcPts val="0"/>
              </a:spcAft>
            </a:pPr>
            <a:r>
              <a:rPr sz="2400" b="1" i="0">
                <a:solidFill>
                  <a:srgbClr val="222222"/>
                </a:solidFill>
                <a:latin typeface="Calibri"/>
              </a:rPr>
              <a:t>F = A + A'B</a:t>
            </a:r>
          </a:p>
        </p:txBody>
      </p:sp>
      <p:sp>
        <p:nvSpPr>
          <p:cNvPr id="15" name="TextBox 14"/>
          <p:cNvSpPr txBox="1"/>
          <p:nvPr/>
        </p:nvSpPr>
        <p:spPr>
          <a:xfrm>
            <a:off x="4608575" y="2560320"/>
            <a:ext cx="3017520" cy="822960"/>
          </a:xfrm>
          <a:prstGeom prst="rect">
            <a:avLst/>
          </a:prstGeom>
          <a:noFill/>
        </p:spPr>
        <p:txBody>
          <a:bodyPr wrap="square" lIns="0" tIns="0" rIns="0" bIns="0" anchor="t">
            <a:spAutoFit/>
          </a:bodyPr>
          <a:lstStyle/>
          <a:p>
            <a:pPr algn="l">
              <a:spcAft>
                <a:spcPts val="0"/>
              </a:spcAft>
            </a:pPr>
            <a:r>
              <a:rPr sz="2100" b="0" i="0">
                <a:solidFill>
                  <a:srgbClr val="222222"/>
                </a:solidFill>
                <a:latin typeface="Calibri"/>
              </a:rPr>
              <a:t>= (A + A')(A + B)</a:t>
            </a:r>
          </a:p>
          <a:p>
            <a:pPr algn="l">
              <a:spcAft>
                <a:spcPts val="0"/>
              </a:spcAft>
            </a:pPr>
            <a:r>
              <a:rPr sz="1300" b="0" i="1">
                <a:solidFill>
                  <a:srgbClr val="6B6B6B"/>
                </a:solidFill>
                <a:latin typeface="Calibri"/>
              </a:rPr>
              <a:t>Distributive law</a:t>
            </a:r>
          </a:p>
        </p:txBody>
      </p:sp>
      <p:sp>
        <p:nvSpPr>
          <p:cNvPr id="16" name="TextBox 15"/>
          <p:cNvSpPr txBox="1"/>
          <p:nvPr/>
        </p:nvSpPr>
        <p:spPr>
          <a:xfrm>
            <a:off x="4608575" y="3429000"/>
            <a:ext cx="3017520" cy="822960"/>
          </a:xfrm>
          <a:prstGeom prst="rect">
            <a:avLst/>
          </a:prstGeom>
          <a:noFill/>
        </p:spPr>
        <p:txBody>
          <a:bodyPr wrap="square" lIns="0" tIns="0" rIns="0" bIns="0" anchor="t">
            <a:spAutoFit/>
          </a:bodyPr>
          <a:lstStyle/>
          <a:p>
            <a:pPr algn="l">
              <a:spcAft>
                <a:spcPts val="0"/>
              </a:spcAft>
            </a:pPr>
            <a:r>
              <a:rPr sz="2100" b="0" i="0">
                <a:solidFill>
                  <a:srgbClr val="222222"/>
                </a:solidFill>
                <a:latin typeface="Calibri"/>
              </a:rPr>
              <a:t>= 1 · (A + B)</a:t>
            </a:r>
          </a:p>
          <a:p>
            <a:pPr algn="l">
              <a:spcAft>
                <a:spcPts val="0"/>
              </a:spcAft>
            </a:pPr>
            <a:r>
              <a:rPr sz="1300" b="0" i="1">
                <a:solidFill>
                  <a:srgbClr val="6B6B6B"/>
                </a:solidFill>
                <a:latin typeface="Calibri"/>
              </a:rPr>
              <a:t>Complement law</a:t>
            </a:r>
          </a:p>
        </p:txBody>
      </p:sp>
      <p:sp>
        <p:nvSpPr>
          <p:cNvPr id="17" name="Rounded Rectangle 16"/>
          <p:cNvSpPr/>
          <p:nvPr/>
        </p:nvSpPr>
        <p:spPr>
          <a:xfrm>
            <a:off x="4608575" y="4434840"/>
            <a:ext cx="2971800" cy="868680"/>
          </a:xfrm>
          <a:prstGeom prst="roundRect">
            <a:avLst>
              <a:gd name="adj" fmla="val 3000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608575" y="4434840"/>
            <a:ext cx="2971800" cy="868680"/>
          </a:xfrm>
          <a:prstGeom prst="rect">
            <a:avLst/>
          </a:prstGeom>
          <a:noFill/>
        </p:spPr>
        <p:txBody>
          <a:bodyPr wrap="square" lIns="0" tIns="0" rIns="0" bIns="0" anchor="ctr">
            <a:spAutoFit/>
          </a:bodyPr>
          <a:lstStyle/>
          <a:p>
            <a:pPr algn="ctr">
              <a:spcAft>
                <a:spcPts val="0"/>
              </a:spcAft>
            </a:pPr>
            <a:r>
              <a:rPr sz="2400" b="1" i="0">
                <a:solidFill>
                  <a:srgbClr val="FFFFFF"/>
                </a:solidFill>
                <a:latin typeface="Calibri"/>
              </a:rPr>
              <a:t>F = A + B</a:t>
            </a:r>
          </a:p>
          <a:p>
            <a:pPr algn="ctr">
              <a:spcAft>
                <a:spcPts val="0"/>
              </a:spcAft>
            </a:pPr>
            <a:r>
              <a:rPr sz="1300" b="0" i="1">
                <a:solidFill>
                  <a:srgbClr val="F2C9CC"/>
                </a:solidFill>
                <a:latin typeface="Calibri"/>
              </a:rPr>
              <a:t>Identity law</a:t>
            </a:r>
          </a:p>
        </p:txBody>
      </p:sp>
      <p:sp>
        <p:nvSpPr>
          <p:cNvPr id="19" name="Rounded Rectangle 18"/>
          <p:cNvSpPr/>
          <p:nvPr/>
        </p:nvSpPr>
        <p:spPr>
          <a:xfrm>
            <a:off x="8119871" y="1325880"/>
            <a:ext cx="3520440" cy="4251960"/>
          </a:xfrm>
          <a:prstGeom prst="roundRect">
            <a:avLst>
              <a:gd name="adj" fmla="val 6000"/>
            </a:avLst>
          </a:prstGeom>
          <a:solidFill>
            <a:srgbClr val="F8E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94192" y="1508760"/>
            <a:ext cx="3017520" cy="868680"/>
          </a:xfrm>
          <a:prstGeom prst="rect">
            <a:avLst/>
          </a:prstGeom>
          <a:noFill/>
        </p:spPr>
        <p:txBody>
          <a:bodyPr wrap="square" lIns="0" tIns="0" rIns="0" bIns="0" anchor="t">
            <a:spAutoFit/>
          </a:bodyPr>
          <a:lstStyle/>
          <a:p>
            <a:pPr algn="l">
              <a:spcAft>
                <a:spcPts val="0"/>
              </a:spcAft>
            </a:pPr>
            <a:r>
              <a:rPr sz="1500" b="1" i="0">
                <a:solidFill>
                  <a:srgbClr val="8E1B22"/>
                </a:solidFill>
                <a:latin typeface="Calibri"/>
              </a:rPr>
              <a:t>Example 3</a:t>
            </a:r>
          </a:p>
          <a:p>
            <a:pPr algn="l">
              <a:spcAft>
                <a:spcPts val="0"/>
              </a:spcAft>
            </a:pPr>
            <a:r>
              <a:rPr sz="2400" b="1" i="0">
                <a:solidFill>
                  <a:srgbClr val="222222"/>
                </a:solidFill>
                <a:latin typeface="Calibri"/>
              </a:rPr>
              <a:t>F = (A + B)(A + B')</a:t>
            </a:r>
          </a:p>
        </p:txBody>
      </p:sp>
      <p:sp>
        <p:nvSpPr>
          <p:cNvPr id="21" name="TextBox 20"/>
          <p:cNvSpPr txBox="1"/>
          <p:nvPr/>
        </p:nvSpPr>
        <p:spPr>
          <a:xfrm>
            <a:off x="8394192" y="2560320"/>
            <a:ext cx="3017520" cy="822960"/>
          </a:xfrm>
          <a:prstGeom prst="rect">
            <a:avLst/>
          </a:prstGeom>
          <a:noFill/>
        </p:spPr>
        <p:txBody>
          <a:bodyPr wrap="square" lIns="0" tIns="0" rIns="0" bIns="0" anchor="t">
            <a:spAutoFit/>
          </a:bodyPr>
          <a:lstStyle/>
          <a:p>
            <a:pPr algn="l">
              <a:spcAft>
                <a:spcPts val="0"/>
              </a:spcAft>
            </a:pPr>
            <a:r>
              <a:rPr sz="2100" b="0" i="0">
                <a:solidFill>
                  <a:srgbClr val="222222"/>
                </a:solidFill>
                <a:latin typeface="Calibri"/>
              </a:rPr>
              <a:t>= A + BB'</a:t>
            </a:r>
          </a:p>
          <a:p>
            <a:pPr algn="l">
              <a:spcAft>
                <a:spcPts val="0"/>
              </a:spcAft>
            </a:pPr>
            <a:r>
              <a:rPr sz="1300" b="0" i="1">
                <a:solidFill>
                  <a:srgbClr val="6B6B6B"/>
                </a:solidFill>
                <a:latin typeface="Calibri"/>
              </a:rPr>
              <a:t>Distributive law</a:t>
            </a:r>
          </a:p>
        </p:txBody>
      </p:sp>
      <p:sp>
        <p:nvSpPr>
          <p:cNvPr id="22" name="TextBox 21"/>
          <p:cNvSpPr txBox="1"/>
          <p:nvPr/>
        </p:nvSpPr>
        <p:spPr>
          <a:xfrm>
            <a:off x="8394192" y="3429000"/>
            <a:ext cx="3017520" cy="822960"/>
          </a:xfrm>
          <a:prstGeom prst="rect">
            <a:avLst/>
          </a:prstGeom>
          <a:noFill/>
        </p:spPr>
        <p:txBody>
          <a:bodyPr wrap="square" lIns="0" tIns="0" rIns="0" bIns="0" anchor="t">
            <a:spAutoFit/>
          </a:bodyPr>
          <a:lstStyle/>
          <a:p>
            <a:pPr algn="l">
              <a:spcAft>
                <a:spcPts val="0"/>
              </a:spcAft>
            </a:pPr>
            <a:r>
              <a:rPr sz="2100" b="0" i="0">
                <a:solidFill>
                  <a:srgbClr val="222222"/>
                </a:solidFill>
                <a:latin typeface="Calibri"/>
              </a:rPr>
              <a:t>= A + 0</a:t>
            </a:r>
          </a:p>
          <a:p>
            <a:pPr algn="l">
              <a:spcAft>
                <a:spcPts val="0"/>
              </a:spcAft>
            </a:pPr>
            <a:r>
              <a:rPr sz="1300" b="0" i="1">
                <a:solidFill>
                  <a:srgbClr val="6B6B6B"/>
                </a:solidFill>
                <a:latin typeface="Calibri"/>
              </a:rPr>
              <a:t>Complement law</a:t>
            </a:r>
          </a:p>
        </p:txBody>
      </p:sp>
      <p:sp>
        <p:nvSpPr>
          <p:cNvPr id="23" name="Rounded Rectangle 22"/>
          <p:cNvSpPr/>
          <p:nvPr/>
        </p:nvSpPr>
        <p:spPr>
          <a:xfrm>
            <a:off x="8394192" y="4434840"/>
            <a:ext cx="2971800" cy="868680"/>
          </a:xfrm>
          <a:prstGeom prst="roundRect">
            <a:avLst>
              <a:gd name="adj" fmla="val 3000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394192" y="4434840"/>
            <a:ext cx="2971800" cy="868680"/>
          </a:xfrm>
          <a:prstGeom prst="rect">
            <a:avLst/>
          </a:prstGeom>
          <a:noFill/>
        </p:spPr>
        <p:txBody>
          <a:bodyPr wrap="square" lIns="0" tIns="0" rIns="0" bIns="0" anchor="ctr">
            <a:spAutoFit/>
          </a:bodyPr>
          <a:lstStyle/>
          <a:p>
            <a:pPr algn="ctr">
              <a:spcAft>
                <a:spcPts val="0"/>
              </a:spcAft>
            </a:pPr>
            <a:r>
              <a:rPr sz="2400" b="1" i="0">
                <a:solidFill>
                  <a:srgbClr val="FFFFFF"/>
                </a:solidFill>
                <a:latin typeface="Calibri"/>
              </a:rPr>
              <a:t>F = A</a:t>
            </a:r>
          </a:p>
          <a:p>
            <a:pPr algn="ctr">
              <a:spcAft>
                <a:spcPts val="0"/>
              </a:spcAft>
            </a:pPr>
            <a:r>
              <a:rPr sz="1300" b="0" i="1">
                <a:solidFill>
                  <a:srgbClr val="F2C9CC"/>
                </a:solidFill>
                <a:latin typeface="Calibri"/>
              </a:rPr>
              <a:t>Identity law</a:t>
            </a:r>
          </a:p>
        </p:txBody>
      </p:sp>
      <p:sp>
        <p:nvSpPr>
          <p:cNvPr id="25" name="TextBox 24"/>
          <p:cNvSpPr txBox="1"/>
          <p:nvPr/>
        </p:nvSpPr>
        <p:spPr>
          <a:xfrm>
            <a:off x="548640" y="5760720"/>
            <a:ext cx="11091672" cy="457200"/>
          </a:xfrm>
          <a:prstGeom prst="rect">
            <a:avLst/>
          </a:prstGeom>
          <a:noFill/>
        </p:spPr>
        <p:txBody>
          <a:bodyPr wrap="square" lIns="0" tIns="0" rIns="0" bIns="0" anchor="t">
            <a:spAutoFit/>
          </a:bodyPr>
          <a:lstStyle/>
          <a:p>
            <a:pPr algn="l">
              <a:spcAft>
                <a:spcPts val="0"/>
              </a:spcAft>
            </a:pPr>
            <a:r>
              <a:rPr sz="1700" b="1" i="0">
                <a:solidFill>
                  <a:srgbClr val="8E1B22"/>
                </a:solidFill>
                <a:latin typeface="Calibri"/>
              </a:rPr>
              <a:t>Tip: </a:t>
            </a:r>
            <a:r>
              <a:rPr sz="1700" b="0" i="0">
                <a:solidFill>
                  <a:srgbClr val="222222"/>
                </a:solidFill>
                <a:latin typeface="Calibri"/>
              </a:rPr>
              <a:t>look for a variable next to its complement (like B and B'). They often cancel out.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548640" y="429768"/>
            <a:ext cx="566928" cy="566928"/>
          </a:xfrm>
          <a:prstGeom prst="ellipse">
            <a:avLst/>
          </a:prstGeom>
          <a:solidFill>
            <a:srgbClr val="8E1B2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Calibri"/>
              </a:rPr>
              <a:t>5</a:t>
            </a:r>
          </a:p>
        </p:txBody>
      </p:sp>
      <p:sp>
        <p:nvSpPr>
          <p:cNvPr id="3" name="TextBox 2"/>
          <p:cNvSpPr txBox="1"/>
          <p:nvPr/>
        </p:nvSpPr>
        <p:spPr>
          <a:xfrm>
            <a:off x="7068312" y="182880"/>
            <a:ext cx="4572000" cy="274320"/>
          </a:xfrm>
          <a:prstGeom prst="rect">
            <a:avLst/>
          </a:prstGeom>
          <a:noFill/>
        </p:spPr>
        <p:txBody>
          <a:bodyPr wrap="square" lIns="0" tIns="0" rIns="0" bIns="0" anchor="t">
            <a:spAutoFit/>
          </a:bodyPr>
          <a:lstStyle/>
          <a:p>
            <a:pPr algn="r"/>
            <a:r>
              <a:rPr sz="1200" b="0">
                <a:solidFill>
                  <a:srgbClr val="6B6B6B"/>
                </a:solidFill>
                <a:latin typeface="Calibri"/>
              </a:rPr>
              <a:t>Topic 5 of 5  ·  Simplification</a:t>
            </a:r>
          </a:p>
        </p:txBody>
      </p:sp>
      <p:sp>
        <p:nvSpPr>
          <p:cNvPr id="4" name="TextBox 3"/>
          <p:cNvSpPr txBox="1"/>
          <p:nvPr/>
        </p:nvSpPr>
        <p:spPr>
          <a:xfrm>
            <a:off x="1298448" y="365760"/>
            <a:ext cx="10341864" cy="713232"/>
          </a:xfrm>
          <a:prstGeom prst="rect">
            <a:avLst/>
          </a:prstGeom>
          <a:noFill/>
        </p:spPr>
        <p:txBody>
          <a:bodyPr wrap="square" lIns="0" tIns="0" rIns="0" bIns="0" anchor="ctr">
            <a:spAutoFit/>
          </a:bodyPr>
          <a:lstStyle/>
          <a:p>
            <a:pPr algn="l"/>
            <a:r>
              <a:rPr sz="3400" b="1">
                <a:solidFill>
                  <a:srgbClr val="1B3A6B"/>
                </a:solidFill>
                <a:latin typeface="Calibri"/>
              </a:rPr>
              <a:t>Practice: Simplify These</a:t>
            </a:r>
          </a:p>
        </p:txBody>
      </p:sp>
      <p:sp>
        <p:nvSpPr>
          <p:cNvPr id="5" name="TextBox 4"/>
          <p:cNvSpPr txBox="1"/>
          <p:nvPr/>
        </p:nvSpPr>
        <p:spPr>
          <a:xfrm>
            <a:off x="548640" y="1280160"/>
            <a:ext cx="11091672" cy="457200"/>
          </a:xfrm>
          <a:prstGeom prst="rect">
            <a:avLst/>
          </a:prstGeom>
          <a:noFill/>
        </p:spPr>
        <p:txBody>
          <a:bodyPr wrap="square" lIns="0" tIns="0" rIns="0" bIns="0" anchor="t">
            <a:spAutoFit/>
          </a:bodyPr>
          <a:lstStyle/>
          <a:p>
            <a:pPr algn="l"/>
            <a:r>
              <a:rPr sz="1900" b="1">
                <a:solidFill>
                  <a:srgbClr val="222222"/>
                </a:solidFill>
                <a:latin typeface="Calibri"/>
              </a:rPr>
              <a:t>Simplify each expression. </a:t>
            </a:r>
            <a:r>
              <a:rPr sz="1900" b="0">
                <a:solidFill>
                  <a:srgbClr val="222222"/>
                </a:solidFill>
                <a:latin typeface="Calibri"/>
              </a:rPr>
              <a:t>Name the law you use at every step.</a:t>
            </a:r>
          </a:p>
        </p:txBody>
      </p:sp>
      <p:sp>
        <p:nvSpPr>
          <p:cNvPr id="6" name="Rounded Rectangle 5"/>
          <p:cNvSpPr/>
          <p:nvPr/>
        </p:nvSpPr>
        <p:spPr>
          <a:xfrm>
            <a:off x="548640" y="1874519"/>
            <a:ext cx="3520440" cy="1965960"/>
          </a:xfrm>
          <a:prstGeom prst="roundRect">
            <a:avLst>
              <a:gd name="adj" fmla="val 6000"/>
            </a:avLst>
          </a:prstGeom>
          <a:solidFill>
            <a:srgbClr val="F8E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103120"/>
            <a:ext cx="502920" cy="502920"/>
          </a:xfrm>
          <a:prstGeom prst="ellipse">
            <a:avLst/>
          </a:prstGeom>
          <a:solidFill>
            <a:srgbClr val="8E1B2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Calibri"/>
              </a:rPr>
              <a:t>P1</a:t>
            </a:r>
          </a:p>
        </p:txBody>
      </p:sp>
      <p:sp>
        <p:nvSpPr>
          <p:cNvPr id="8" name="TextBox 7"/>
          <p:cNvSpPr txBox="1"/>
          <p:nvPr/>
        </p:nvSpPr>
        <p:spPr>
          <a:xfrm>
            <a:off x="734569" y="2496313"/>
            <a:ext cx="3108960" cy="1005840"/>
          </a:xfrm>
          <a:prstGeom prst="rect">
            <a:avLst/>
          </a:prstGeom>
          <a:noFill/>
        </p:spPr>
        <p:txBody>
          <a:bodyPr wrap="square" lIns="0" tIns="0" rIns="0" bIns="0" anchor="ctr">
            <a:spAutoFit/>
          </a:bodyPr>
          <a:lstStyle/>
          <a:p>
            <a:pPr algn="ctr"/>
            <a:r>
              <a:rPr sz="2600" b="1" dirty="0">
                <a:solidFill>
                  <a:srgbClr val="6B6B6B"/>
                </a:solidFill>
                <a:latin typeface="Calibri"/>
              </a:rPr>
              <a:t>F = </a:t>
            </a:r>
            <a:r>
              <a:rPr sz="2600" b="1" dirty="0">
                <a:solidFill>
                  <a:srgbClr val="222222"/>
                </a:solidFill>
                <a:latin typeface="Calibri"/>
              </a:rPr>
              <a:t>A(A' + B)</a:t>
            </a:r>
          </a:p>
        </p:txBody>
      </p:sp>
      <p:sp>
        <p:nvSpPr>
          <p:cNvPr id="9" name="Rounded Rectangle 8"/>
          <p:cNvSpPr/>
          <p:nvPr/>
        </p:nvSpPr>
        <p:spPr>
          <a:xfrm>
            <a:off x="4334255" y="1874519"/>
            <a:ext cx="3520440" cy="1965960"/>
          </a:xfrm>
          <a:prstGeom prst="roundRect">
            <a:avLst>
              <a:gd name="adj" fmla="val 6000"/>
            </a:avLst>
          </a:prstGeom>
          <a:solidFill>
            <a:srgbClr val="ED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4562855" y="2103120"/>
            <a:ext cx="502920" cy="502920"/>
          </a:xfrm>
          <a:prstGeom prst="ellipse">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Calibri"/>
              </a:rPr>
              <a:t>P2</a:t>
            </a:r>
          </a:p>
        </p:txBody>
      </p:sp>
      <p:sp>
        <p:nvSpPr>
          <p:cNvPr id="11" name="TextBox 10"/>
          <p:cNvSpPr txBox="1"/>
          <p:nvPr/>
        </p:nvSpPr>
        <p:spPr>
          <a:xfrm>
            <a:off x="4562855" y="2651760"/>
            <a:ext cx="3108960" cy="1005840"/>
          </a:xfrm>
          <a:prstGeom prst="rect">
            <a:avLst/>
          </a:prstGeom>
          <a:noFill/>
        </p:spPr>
        <p:txBody>
          <a:bodyPr wrap="square" lIns="0" tIns="0" rIns="0" bIns="0" anchor="ctr">
            <a:spAutoFit/>
          </a:bodyPr>
          <a:lstStyle/>
          <a:p>
            <a:pPr algn="ctr"/>
            <a:r>
              <a:rPr sz="2600" b="1">
                <a:solidFill>
                  <a:srgbClr val="6B6B6B"/>
                </a:solidFill>
                <a:latin typeface="Calibri"/>
              </a:rPr>
              <a:t>F = </a:t>
            </a:r>
            <a:r>
              <a:rPr sz="2600" b="1">
                <a:solidFill>
                  <a:srgbClr val="222222"/>
                </a:solidFill>
                <a:latin typeface="Calibri"/>
              </a:rPr>
              <a:t>AB + A'B</a:t>
            </a:r>
          </a:p>
        </p:txBody>
      </p:sp>
      <p:sp>
        <p:nvSpPr>
          <p:cNvPr id="12" name="Rounded Rectangle 11"/>
          <p:cNvSpPr/>
          <p:nvPr/>
        </p:nvSpPr>
        <p:spPr>
          <a:xfrm>
            <a:off x="8119871" y="1874519"/>
            <a:ext cx="3520440" cy="1965960"/>
          </a:xfrm>
          <a:prstGeom prst="roundRect">
            <a:avLst>
              <a:gd name="adj" fmla="val 6000"/>
            </a:avLst>
          </a:prstGeom>
          <a:solidFill>
            <a:srgbClr val="F8E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8348471" y="2103120"/>
            <a:ext cx="502920" cy="502920"/>
          </a:xfrm>
          <a:prstGeom prst="ellipse">
            <a:avLst/>
          </a:prstGeom>
          <a:solidFill>
            <a:srgbClr val="8E1B2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Calibri"/>
              </a:rPr>
              <a:t>P3</a:t>
            </a:r>
          </a:p>
        </p:txBody>
      </p:sp>
      <p:sp>
        <p:nvSpPr>
          <p:cNvPr id="14" name="TextBox 13"/>
          <p:cNvSpPr txBox="1"/>
          <p:nvPr/>
        </p:nvSpPr>
        <p:spPr>
          <a:xfrm>
            <a:off x="8348471" y="2651760"/>
            <a:ext cx="3108960" cy="1005840"/>
          </a:xfrm>
          <a:prstGeom prst="rect">
            <a:avLst/>
          </a:prstGeom>
          <a:noFill/>
        </p:spPr>
        <p:txBody>
          <a:bodyPr wrap="square" lIns="0" tIns="0" rIns="0" bIns="0" anchor="ctr">
            <a:spAutoFit/>
          </a:bodyPr>
          <a:lstStyle/>
          <a:p>
            <a:pPr algn="ctr"/>
            <a:r>
              <a:rPr sz="2600" b="1">
                <a:solidFill>
                  <a:srgbClr val="6B6B6B"/>
                </a:solidFill>
                <a:latin typeface="Calibri"/>
              </a:rPr>
              <a:t>F = </a:t>
            </a:r>
            <a:r>
              <a:rPr sz="2600" b="1">
                <a:solidFill>
                  <a:srgbClr val="222222"/>
                </a:solidFill>
                <a:latin typeface="Calibri"/>
              </a:rPr>
              <a:t>(AB)' + A</a:t>
            </a:r>
          </a:p>
        </p:txBody>
      </p:sp>
      <p:sp>
        <p:nvSpPr>
          <p:cNvPr id="15" name="Rounded Rectangle 14"/>
          <p:cNvSpPr/>
          <p:nvPr/>
        </p:nvSpPr>
        <p:spPr>
          <a:xfrm>
            <a:off x="548640" y="4069079"/>
            <a:ext cx="3520440" cy="1965960"/>
          </a:xfrm>
          <a:prstGeom prst="roundRect">
            <a:avLst>
              <a:gd name="adj" fmla="val 6000"/>
            </a:avLst>
          </a:prstGeom>
          <a:solidFill>
            <a:srgbClr val="ED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777240" y="4297679"/>
            <a:ext cx="502920" cy="502920"/>
          </a:xfrm>
          <a:prstGeom prst="ellipse">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Calibri"/>
              </a:rPr>
              <a:t>P4</a:t>
            </a:r>
          </a:p>
        </p:txBody>
      </p:sp>
      <p:sp>
        <p:nvSpPr>
          <p:cNvPr id="17" name="TextBox 16"/>
          <p:cNvSpPr txBox="1"/>
          <p:nvPr/>
        </p:nvSpPr>
        <p:spPr>
          <a:xfrm>
            <a:off x="777240" y="4846319"/>
            <a:ext cx="3108960" cy="1005840"/>
          </a:xfrm>
          <a:prstGeom prst="rect">
            <a:avLst/>
          </a:prstGeom>
          <a:noFill/>
        </p:spPr>
        <p:txBody>
          <a:bodyPr wrap="square" lIns="0" tIns="0" rIns="0" bIns="0" anchor="ctr">
            <a:spAutoFit/>
          </a:bodyPr>
          <a:lstStyle/>
          <a:p>
            <a:pPr algn="ctr"/>
            <a:r>
              <a:rPr sz="2600" b="1">
                <a:solidFill>
                  <a:srgbClr val="6B6B6B"/>
                </a:solidFill>
                <a:latin typeface="Calibri"/>
              </a:rPr>
              <a:t>F = </a:t>
            </a:r>
            <a:r>
              <a:rPr sz="2600" b="1">
                <a:solidFill>
                  <a:srgbClr val="222222"/>
                </a:solidFill>
                <a:latin typeface="Calibri"/>
              </a:rPr>
              <a:t>(A + B')' + A'B'</a:t>
            </a:r>
          </a:p>
        </p:txBody>
      </p:sp>
      <p:sp>
        <p:nvSpPr>
          <p:cNvPr id="18" name="Rounded Rectangle 17"/>
          <p:cNvSpPr/>
          <p:nvPr/>
        </p:nvSpPr>
        <p:spPr>
          <a:xfrm>
            <a:off x="4334255" y="4069079"/>
            <a:ext cx="3520440" cy="1965960"/>
          </a:xfrm>
          <a:prstGeom prst="roundRect">
            <a:avLst>
              <a:gd name="adj" fmla="val 6000"/>
            </a:avLst>
          </a:prstGeom>
          <a:solidFill>
            <a:srgbClr val="F8E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4562855" y="4297679"/>
            <a:ext cx="502920" cy="502920"/>
          </a:xfrm>
          <a:prstGeom prst="ellipse">
            <a:avLst/>
          </a:prstGeom>
          <a:solidFill>
            <a:srgbClr val="8E1B2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Calibri"/>
              </a:rPr>
              <a:t>P5</a:t>
            </a:r>
          </a:p>
        </p:txBody>
      </p:sp>
      <p:sp>
        <p:nvSpPr>
          <p:cNvPr id="20" name="TextBox 19"/>
          <p:cNvSpPr txBox="1"/>
          <p:nvPr/>
        </p:nvSpPr>
        <p:spPr>
          <a:xfrm>
            <a:off x="4562855" y="4846319"/>
            <a:ext cx="3108960" cy="1005840"/>
          </a:xfrm>
          <a:prstGeom prst="rect">
            <a:avLst/>
          </a:prstGeom>
          <a:noFill/>
        </p:spPr>
        <p:txBody>
          <a:bodyPr wrap="square" lIns="0" tIns="0" rIns="0" bIns="0" anchor="ctr">
            <a:spAutoFit/>
          </a:bodyPr>
          <a:lstStyle/>
          <a:p>
            <a:pPr algn="ctr"/>
            <a:r>
              <a:rPr sz="2600" b="1">
                <a:solidFill>
                  <a:srgbClr val="6B6B6B"/>
                </a:solidFill>
                <a:latin typeface="Calibri"/>
              </a:rPr>
              <a:t>F = </a:t>
            </a:r>
            <a:r>
              <a:rPr sz="2600" b="1">
                <a:solidFill>
                  <a:srgbClr val="222222"/>
                </a:solidFill>
                <a:latin typeface="Calibri"/>
              </a:rPr>
              <a:t>A'B' + A'B + AB</a:t>
            </a:r>
          </a:p>
        </p:txBody>
      </p:sp>
      <p:sp>
        <p:nvSpPr>
          <p:cNvPr id="21" name="Rounded Rectangle 20"/>
          <p:cNvSpPr/>
          <p:nvPr/>
        </p:nvSpPr>
        <p:spPr>
          <a:xfrm>
            <a:off x="8119871" y="4069079"/>
            <a:ext cx="3520440" cy="1965960"/>
          </a:xfrm>
          <a:prstGeom prst="roundRect">
            <a:avLst>
              <a:gd name="adj" fmla="val 6000"/>
            </a:avLst>
          </a:prstGeom>
          <a:solidFill>
            <a:srgbClr val="ED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8348471" y="4297679"/>
            <a:ext cx="502920" cy="502920"/>
          </a:xfrm>
          <a:prstGeom prst="ellipse">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Calibri"/>
              </a:rPr>
              <a:t>P6</a:t>
            </a:r>
          </a:p>
        </p:txBody>
      </p:sp>
      <p:sp>
        <p:nvSpPr>
          <p:cNvPr id="23" name="TextBox 22"/>
          <p:cNvSpPr txBox="1"/>
          <p:nvPr/>
        </p:nvSpPr>
        <p:spPr>
          <a:xfrm>
            <a:off x="8348471" y="4846319"/>
            <a:ext cx="3108960" cy="1005840"/>
          </a:xfrm>
          <a:prstGeom prst="rect">
            <a:avLst/>
          </a:prstGeom>
          <a:noFill/>
        </p:spPr>
        <p:txBody>
          <a:bodyPr wrap="square" lIns="0" tIns="0" rIns="0" bIns="0" anchor="ctr">
            <a:spAutoFit/>
          </a:bodyPr>
          <a:lstStyle/>
          <a:p>
            <a:pPr algn="ctr"/>
            <a:r>
              <a:rPr sz="2600" b="1">
                <a:solidFill>
                  <a:srgbClr val="6B6B6B"/>
                </a:solidFill>
                <a:latin typeface="Calibri"/>
              </a:rPr>
              <a:t>F = </a:t>
            </a:r>
            <a:r>
              <a:rPr sz="2600" b="1">
                <a:solidFill>
                  <a:srgbClr val="222222"/>
                </a:solidFill>
                <a:latin typeface="Calibri"/>
              </a:rPr>
              <a:t>ABC + ABC' + AB'C</a:t>
            </a:r>
          </a:p>
        </p:txBody>
      </p:sp>
      <p:sp>
        <p:nvSpPr>
          <p:cNvPr id="24" name="TextBox 23"/>
          <p:cNvSpPr txBox="1"/>
          <p:nvPr/>
        </p:nvSpPr>
        <p:spPr>
          <a:xfrm>
            <a:off x="548640" y="6428232"/>
            <a:ext cx="5486400" cy="274320"/>
          </a:xfrm>
          <a:prstGeom prst="rect">
            <a:avLst/>
          </a:prstGeom>
          <a:noFill/>
        </p:spPr>
        <p:txBody>
          <a:bodyPr wrap="square" lIns="0" tIns="0" rIns="0" bIns="0" anchor="t">
            <a:spAutoFit/>
          </a:bodyPr>
          <a:lstStyle/>
          <a:p>
            <a:pPr algn="l"/>
            <a:r>
              <a:rPr sz="1100" b="0">
                <a:solidFill>
                  <a:srgbClr val="6B6B6B"/>
                </a:solidFill>
                <a:latin typeface="Calibri"/>
              </a:rPr>
              <a:t>CSE207  ·  Digital Logic Design  ·  Lecture 01</a:t>
            </a:r>
          </a:p>
        </p:txBody>
      </p:sp>
      <p:sp>
        <p:nvSpPr>
          <p:cNvPr id="25" name="TextBox 24"/>
          <p:cNvSpPr txBox="1"/>
          <p:nvPr/>
        </p:nvSpPr>
        <p:spPr>
          <a:xfrm>
            <a:off x="10725912" y="6428232"/>
            <a:ext cx="914400" cy="274320"/>
          </a:xfrm>
          <a:prstGeom prst="rect">
            <a:avLst/>
          </a:prstGeom>
          <a:noFill/>
        </p:spPr>
        <p:txBody>
          <a:bodyPr wrap="square" lIns="0" tIns="0" rIns="0" bIns="0" anchor="t">
            <a:spAutoFit/>
          </a:bodyPr>
          <a:lstStyle/>
          <a:p>
            <a:pPr algn="r"/>
            <a:r>
              <a:rPr sz="1100" b="0">
                <a:solidFill>
                  <a:srgbClr val="6B6B6B"/>
                </a:solidFill>
                <a:latin typeface="Calibri"/>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548640" y="429768"/>
            <a:ext cx="566928" cy="566928"/>
          </a:xfrm>
          <a:prstGeom prst="ellipse">
            <a:avLst/>
          </a:prstGeom>
          <a:solidFill>
            <a:srgbClr val="8E1B2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Calibri"/>
              </a:rPr>
              <a:t>5</a:t>
            </a:r>
          </a:p>
        </p:txBody>
      </p:sp>
      <p:sp>
        <p:nvSpPr>
          <p:cNvPr id="3" name="TextBox 2"/>
          <p:cNvSpPr txBox="1"/>
          <p:nvPr/>
        </p:nvSpPr>
        <p:spPr>
          <a:xfrm>
            <a:off x="7068312" y="182880"/>
            <a:ext cx="4572000" cy="274320"/>
          </a:xfrm>
          <a:prstGeom prst="rect">
            <a:avLst/>
          </a:prstGeom>
          <a:noFill/>
        </p:spPr>
        <p:txBody>
          <a:bodyPr wrap="square" lIns="0" tIns="0" rIns="0" bIns="0" anchor="t">
            <a:spAutoFit/>
          </a:bodyPr>
          <a:lstStyle/>
          <a:p>
            <a:pPr algn="r"/>
            <a:r>
              <a:rPr sz="1200" b="0">
                <a:solidFill>
                  <a:srgbClr val="6B6B6B"/>
                </a:solidFill>
                <a:latin typeface="Calibri"/>
              </a:rPr>
              <a:t>Topic 5 of 5  ·  Simplification</a:t>
            </a:r>
          </a:p>
        </p:txBody>
      </p:sp>
      <p:sp>
        <p:nvSpPr>
          <p:cNvPr id="4" name="TextBox 3"/>
          <p:cNvSpPr txBox="1"/>
          <p:nvPr/>
        </p:nvSpPr>
        <p:spPr>
          <a:xfrm>
            <a:off x="1298448" y="365760"/>
            <a:ext cx="10341864" cy="713232"/>
          </a:xfrm>
          <a:prstGeom prst="rect">
            <a:avLst/>
          </a:prstGeom>
          <a:noFill/>
        </p:spPr>
        <p:txBody>
          <a:bodyPr wrap="square" lIns="0" tIns="0" rIns="0" bIns="0" anchor="ctr">
            <a:spAutoFit/>
          </a:bodyPr>
          <a:lstStyle/>
          <a:p>
            <a:pPr algn="l"/>
            <a:r>
              <a:rPr sz="3400" b="1">
                <a:solidFill>
                  <a:srgbClr val="1B3A6B"/>
                </a:solidFill>
                <a:latin typeface="Calibri"/>
              </a:rPr>
              <a:t>Homework: Simplification</a:t>
            </a:r>
          </a:p>
        </p:txBody>
      </p:sp>
      <p:sp>
        <p:nvSpPr>
          <p:cNvPr id="5" name="TextBox 4"/>
          <p:cNvSpPr txBox="1"/>
          <p:nvPr/>
        </p:nvSpPr>
        <p:spPr>
          <a:xfrm>
            <a:off x="548640" y="1280160"/>
            <a:ext cx="11091672" cy="457200"/>
          </a:xfrm>
          <a:prstGeom prst="rect">
            <a:avLst/>
          </a:prstGeom>
          <a:noFill/>
        </p:spPr>
        <p:txBody>
          <a:bodyPr wrap="square" lIns="0" tIns="0" rIns="0" bIns="0" anchor="t">
            <a:spAutoFit/>
          </a:bodyPr>
          <a:lstStyle/>
          <a:p>
            <a:pPr algn="l"/>
            <a:r>
              <a:rPr sz="1900" b="1">
                <a:solidFill>
                  <a:srgbClr val="222222"/>
                </a:solidFill>
                <a:latin typeface="Calibri"/>
              </a:rPr>
              <a:t>Simplify each expression. </a:t>
            </a:r>
            <a:r>
              <a:rPr sz="1900" b="0">
                <a:solidFill>
                  <a:srgbClr val="222222"/>
                </a:solidFill>
                <a:latin typeface="Calibri"/>
              </a:rPr>
              <a:t>Show every step and write the law used.</a:t>
            </a:r>
          </a:p>
        </p:txBody>
      </p:sp>
      <p:sp>
        <p:nvSpPr>
          <p:cNvPr id="6" name="Rounded Rectangle 5"/>
          <p:cNvSpPr/>
          <p:nvPr/>
        </p:nvSpPr>
        <p:spPr>
          <a:xfrm>
            <a:off x="548640" y="1874519"/>
            <a:ext cx="3520440" cy="1965960"/>
          </a:xfrm>
          <a:prstGeom prst="roundRect">
            <a:avLst>
              <a:gd name="adj" fmla="val 6000"/>
            </a:avLst>
          </a:prstGeom>
          <a:solidFill>
            <a:srgbClr val="F8E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103120"/>
            <a:ext cx="502920" cy="502920"/>
          </a:xfrm>
          <a:prstGeom prst="ellipse">
            <a:avLst/>
          </a:prstGeom>
          <a:solidFill>
            <a:srgbClr val="8E1B2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Calibri"/>
              </a:rPr>
              <a:t>H1</a:t>
            </a:r>
          </a:p>
        </p:txBody>
      </p:sp>
      <p:sp>
        <p:nvSpPr>
          <p:cNvPr id="8" name="TextBox 7"/>
          <p:cNvSpPr txBox="1"/>
          <p:nvPr/>
        </p:nvSpPr>
        <p:spPr>
          <a:xfrm>
            <a:off x="777240" y="2651760"/>
            <a:ext cx="3108960" cy="1005840"/>
          </a:xfrm>
          <a:prstGeom prst="rect">
            <a:avLst/>
          </a:prstGeom>
          <a:noFill/>
        </p:spPr>
        <p:txBody>
          <a:bodyPr wrap="square" lIns="0" tIns="0" rIns="0" bIns="0" anchor="ctr">
            <a:spAutoFit/>
          </a:bodyPr>
          <a:lstStyle/>
          <a:p>
            <a:pPr algn="ctr"/>
            <a:r>
              <a:rPr sz="2600" b="1" dirty="0">
                <a:solidFill>
                  <a:srgbClr val="6B6B6B"/>
                </a:solidFill>
                <a:latin typeface="Calibri"/>
              </a:rPr>
              <a:t>F = </a:t>
            </a:r>
            <a:r>
              <a:rPr sz="2600" b="1" dirty="0">
                <a:solidFill>
                  <a:srgbClr val="222222"/>
                </a:solidFill>
                <a:latin typeface="Calibri"/>
              </a:rPr>
              <a:t>A + A'B'</a:t>
            </a:r>
          </a:p>
        </p:txBody>
      </p:sp>
      <p:sp>
        <p:nvSpPr>
          <p:cNvPr id="9" name="Rounded Rectangle 8"/>
          <p:cNvSpPr/>
          <p:nvPr/>
        </p:nvSpPr>
        <p:spPr>
          <a:xfrm>
            <a:off x="4334255" y="1874519"/>
            <a:ext cx="3520440" cy="1965960"/>
          </a:xfrm>
          <a:prstGeom prst="roundRect">
            <a:avLst>
              <a:gd name="adj" fmla="val 6000"/>
            </a:avLst>
          </a:prstGeom>
          <a:solidFill>
            <a:srgbClr val="ED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4562855" y="2103120"/>
            <a:ext cx="502920" cy="502920"/>
          </a:xfrm>
          <a:prstGeom prst="ellipse">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Calibri"/>
              </a:rPr>
              <a:t>H2</a:t>
            </a:r>
          </a:p>
        </p:txBody>
      </p:sp>
      <p:sp>
        <p:nvSpPr>
          <p:cNvPr id="11" name="TextBox 10"/>
          <p:cNvSpPr txBox="1"/>
          <p:nvPr/>
        </p:nvSpPr>
        <p:spPr>
          <a:xfrm>
            <a:off x="4562855" y="2651760"/>
            <a:ext cx="3108960" cy="1005840"/>
          </a:xfrm>
          <a:prstGeom prst="rect">
            <a:avLst/>
          </a:prstGeom>
          <a:noFill/>
        </p:spPr>
        <p:txBody>
          <a:bodyPr wrap="square" lIns="0" tIns="0" rIns="0" bIns="0" anchor="ctr">
            <a:spAutoFit/>
          </a:bodyPr>
          <a:lstStyle/>
          <a:p>
            <a:pPr algn="ctr"/>
            <a:r>
              <a:rPr sz="2600" b="1" dirty="0">
                <a:solidFill>
                  <a:srgbClr val="6B6B6B"/>
                </a:solidFill>
                <a:latin typeface="Calibri"/>
              </a:rPr>
              <a:t>F = </a:t>
            </a:r>
            <a:r>
              <a:rPr sz="2600" b="1" dirty="0">
                <a:solidFill>
                  <a:srgbClr val="222222"/>
                </a:solidFill>
                <a:latin typeface="Calibri"/>
              </a:rPr>
              <a:t>(A + B)(A + C)</a:t>
            </a:r>
          </a:p>
        </p:txBody>
      </p:sp>
      <p:sp>
        <p:nvSpPr>
          <p:cNvPr id="12" name="Rounded Rectangle 11"/>
          <p:cNvSpPr/>
          <p:nvPr/>
        </p:nvSpPr>
        <p:spPr>
          <a:xfrm>
            <a:off x="8119871" y="1874519"/>
            <a:ext cx="3520440" cy="1965960"/>
          </a:xfrm>
          <a:prstGeom prst="roundRect">
            <a:avLst>
              <a:gd name="adj" fmla="val 6000"/>
            </a:avLst>
          </a:prstGeom>
          <a:solidFill>
            <a:srgbClr val="F8E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8348471" y="2103120"/>
            <a:ext cx="502920" cy="502920"/>
          </a:xfrm>
          <a:prstGeom prst="ellipse">
            <a:avLst/>
          </a:prstGeom>
          <a:solidFill>
            <a:srgbClr val="8E1B2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Calibri"/>
              </a:rPr>
              <a:t>H3</a:t>
            </a:r>
          </a:p>
        </p:txBody>
      </p:sp>
      <p:sp>
        <p:nvSpPr>
          <p:cNvPr id="14" name="TextBox 13"/>
          <p:cNvSpPr txBox="1"/>
          <p:nvPr/>
        </p:nvSpPr>
        <p:spPr>
          <a:xfrm>
            <a:off x="8348471" y="2651760"/>
            <a:ext cx="3108960" cy="1005840"/>
          </a:xfrm>
          <a:prstGeom prst="rect">
            <a:avLst/>
          </a:prstGeom>
          <a:noFill/>
        </p:spPr>
        <p:txBody>
          <a:bodyPr wrap="square" lIns="0" tIns="0" rIns="0" bIns="0" anchor="ctr">
            <a:spAutoFit/>
          </a:bodyPr>
          <a:lstStyle/>
          <a:p>
            <a:pPr algn="ctr"/>
            <a:r>
              <a:rPr sz="2600" b="1">
                <a:solidFill>
                  <a:srgbClr val="6B6B6B"/>
                </a:solidFill>
                <a:latin typeface="Calibri"/>
              </a:rPr>
              <a:t>F = </a:t>
            </a:r>
            <a:r>
              <a:rPr sz="2600" b="1">
                <a:solidFill>
                  <a:srgbClr val="222222"/>
                </a:solidFill>
                <a:latin typeface="Calibri"/>
              </a:rPr>
              <a:t>A'B + AB' + AB</a:t>
            </a:r>
          </a:p>
        </p:txBody>
      </p:sp>
      <p:sp>
        <p:nvSpPr>
          <p:cNvPr id="15" name="Rounded Rectangle 14"/>
          <p:cNvSpPr/>
          <p:nvPr/>
        </p:nvSpPr>
        <p:spPr>
          <a:xfrm>
            <a:off x="548640" y="4069079"/>
            <a:ext cx="3520440" cy="1965960"/>
          </a:xfrm>
          <a:prstGeom prst="roundRect">
            <a:avLst>
              <a:gd name="adj" fmla="val 6000"/>
            </a:avLst>
          </a:prstGeom>
          <a:solidFill>
            <a:srgbClr val="ED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777240" y="4297679"/>
            <a:ext cx="502920" cy="502920"/>
          </a:xfrm>
          <a:prstGeom prst="ellipse">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Calibri"/>
              </a:rPr>
              <a:t>H4</a:t>
            </a:r>
          </a:p>
        </p:txBody>
      </p:sp>
      <p:sp>
        <p:nvSpPr>
          <p:cNvPr id="17" name="TextBox 16"/>
          <p:cNvSpPr txBox="1"/>
          <p:nvPr/>
        </p:nvSpPr>
        <p:spPr>
          <a:xfrm>
            <a:off x="777240" y="4846319"/>
            <a:ext cx="3108960" cy="1005840"/>
          </a:xfrm>
          <a:prstGeom prst="rect">
            <a:avLst/>
          </a:prstGeom>
          <a:noFill/>
        </p:spPr>
        <p:txBody>
          <a:bodyPr wrap="square" lIns="0" tIns="0" rIns="0" bIns="0" anchor="ctr">
            <a:spAutoFit/>
          </a:bodyPr>
          <a:lstStyle/>
          <a:p>
            <a:pPr algn="ctr"/>
            <a:r>
              <a:rPr sz="2600" b="1">
                <a:solidFill>
                  <a:srgbClr val="6B6B6B"/>
                </a:solidFill>
                <a:latin typeface="Calibri"/>
              </a:rPr>
              <a:t>F = </a:t>
            </a:r>
            <a:r>
              <a:rPr sz="2600" b="1">
                <a:solidFill>
                  <a:srgbClr val="222222"/>
                </a:solidFill>
                <a:latin typeface="Calibri"/>
              </a:rPr>
              <a:t>(A'B')' (A + B')</a:t>
            </a:r>
          </a:p>
        </p:txBody>
      </p:sp>
      <p:sp>
        <p:nvSpPr>
          <p:cNvPr id="18" name="Rounded Rectangle 17"/>
          <p:cNvSpPr/>
          <p:nvPr/>
        </p:nvSpPr>
        <p:spPr>
          <a:xfrm>
            <a:off x="4334255" y="4069079"/>
            <a:ext cx="3520440" cy="1965960"/>
          </a:xfrm>
          <a:prstGeom prst="roundRect">
            <a:avLst>
              <a:gd name="adj" fmla="val 6000"/>
            </a:avLst>
          </a:prstGeom>
          <a:solidFill>
            <a:srgbClr val="F8E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4562855" y="4297679"/>
            <a:ext cx="502920" cy="502920"/>
          </a:xfrm>
          <a:prstGeom prst="ellipse">
            <a:avLst/>
          </a:prstGeom>
          <a:solidFill>
            <a:srgbClr val="8E1B2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Calibri"/>
              </a:rPr>
              <a:t>H5</a:t>
            </a:r>
          </a:p>
        </p:txBody>
      </p:sp>
      <p:sp>
        <p:nvSpPr>
          <p:cNvPr id="20" name="TextBox 19"/>
          <p:cNvSpPr txBox="1"/>
          <p:nvPr/>
        </p:nvSpPr>
        <p:spPr>
          <a:xfrm>
            <a:off x="4562855" y="4846319"/>
            <a:ext cx="3108960" cy="1005840"/>
          </a:xfrm>
          <a:prstGeom prst="rect">
            <a:avLst/>
          </a:prstGeom>
          <a:noFill/>
        </p:spPr>
        <p:txBody>
          <a:bodyPr wrap="square" lIns="0" tIns="0" rIns="0" bIns="0" anchor="ctr">
            <a:spAutoFit/>
          </a:bodyPr>
          <a:lstStyle/>
          <a:p>
            <a:pPr algn="ctr"/>
            <a:r>
              <a:rPr sz="2600" b="1">
                <a:solidFill>
                  <a:srgbClr val="6B6B6B"/>
                </a:solidFill>
                <a:latin typeface="Calibri"/>
              </a:rPr>
              <a:t>F = </a:t>
            </a:r>
            <a:r>
              <a:rPr sz="2600" b="1">
                <a:solidFill>
                  <a:srgbClr val="222222"/>
                </a:solidFill>
                <a:latin typeface="Calibri"/>
              </a:rPr>
              <a:t>ABC + AB'C + A'BC</a:t>
            </a:r>
          </a:p>
        </p:txBody>
      </p:sp>
      <p:sp>
        <p:nvSpPr>
          <p:cNvPr id="21" name="Rounded Rectangle 20"/>
          <p:cNvSpPr/>
          <p:nvPr/>
        </p:nvSpPr>
        <p:spPr>
          <a:xfrm>
            <a:off x="8119871" y="4069079"/>
            <a:ext cx="3520440" cy="1965960"/>
          </a:xfrm>
          <a:prstGeom prst="roundRect">
            <a:avLst>
              <a:gd name="adj" fmla="val 6000"/>
            </a:avLst>
          </a:prstGeom>
          <a:solidFill>
            <a:srgbClr val="ED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8348471" y="4297679"/>
            <a:ext cx="502920" cy="502920"/>
          </a:xfrm>
          <a:prstGeom prst="ellipse">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Calibri"/>
              </a:rPr>
              <a:t>H6</a:t>
            </a:r>
          </a:p>
        </p:txBody>
      </p:sp>
      <p:sp>
        <p:nvSpPr>
          <p:cNvPr id="23" name="TextBox 22"/>
          <p:cNvSpPr txBox="1"/>
          <p:nvPr/>
        </p:nvSpPr>
        <p:spPr>
          <a:xfrm>
            <a:off x="8348471" y="4846319"/>
            <a:ext cx="3108960" cy="1005840"/>
          </a:xfrm>
          <a:prstGeom prst="rect">
            <a:avLst/>
          </a:prstGeom>
          <a:noFill/>
        </p:spPr>
        <p:txBody>
          <a:bodyPr wrap="square" lIns="0" tIns="0" rIns="0" bIns="0" anchor="ctr">
            <a:spAutoFit/>
          </a:bodyPr>
          <a:lstStyle/>
          <a:p>
            <a:pPr algn="ctr"/>
            <a:r>
              <a:rPr sz="2300" b="1">
                <a:solidFill>
                  <a:srgbClr val="6B6B6B"/>
                </a:solidFill>
                <a:latin typeface="Calibri"/>
              </a:rPr>
              <a:t>F = </a:t>
            </a:r>
            <a:r>
              <a:rPr sz="2300" b="1">
                <a:solidFill>
                  <a:srgbClr val="222222"/>
                </a:solidFill>
                <a:latin typeface="Calibri"/>
              </a:rPr>
              <a:t>(A + B + C)(A + B + C')</a:t>
            </a:r>
            <a:br/>
            <a:r>
              <a:rPr sz="2300" b="1">
                <a:solidFill>
                  <a:srgbClr val="222222"/>
                </a:solidFill>
                <a:latin typeface="Calibri"/>
              </a:rPr>
              <a:t>(A + B')</a:t>
            </a:r>
          </a:p>
        </p:txBody>
      </p:sp>
      <p:sp>
        <p:nvSpPr>
          <p:cNvPr id="24" name="TextBox 23"/>
          <p:cNvSpPr txBox="1"/>
          <p:nvPr/>
        </p:nvSpPr>
        <p:spPr>
          <a:xfrm>
            <a:off x="548640" y="6428232"/>
            <a:ext cx="5486400" cy="274320"/>
          </a:xfrm>
          <a:prstGeom prst="rect">
            <a:avLst/>
          </a:prstGeom>
          <a:noFill/>
        </p:spPr>
        <p:txBody>
          <a:bodyPr wrap="square" lIns="0" tIns="0" rIns="0" bIns="0" anchor="t">
            <a:spAutoFit/>
          </a:bodyPr>
          <a:lstStyle/>
          <a:p>
            <a:pPr algn="l"/>
            <a:r>
              <a:rPr sz="1100" b="0">
                <a:solidFill>
                  <a:srgbClr val="6B6B6B"/>
                </a:solidFill>
                <a:latin typeface="Calibri"/>
              </a:rPr>
              <a:t>CSE207  ·  Digital Logic Design  ·  Lecture 01</a:t>
            </a:r>
          </a:p>
        </p:txBody>
      </p:sp>
      <p:sp>
        <p:nvSpPr>
          <p:cNvPr id="25" name="TextBox 24"/>
          <p:cNvSpPr txBox="1"/>
          <p:nvPr/>
        </p:nvSpPr>
        <p:spPr>
          <a:xfrm>
            <a:off x="10725912" y="6428232"/>
            <a:ext cx="914400" cy="274320"/>
          </a:xfrm>
          <a:prstGeom prst="rect">
            <a:avLst/>
          </a:prstGeom>
          <a:noFill/>
        </p:spPr>
        <p:txBody>
          <a:bodyPr wrap="square" lIns="0" tIns="0" rIns="0" bIns="0" anchor="t">
            <a:spAutoFit/>
          </a:bodyPr>
          <a:lstStyle/>
          <a:p>
            <a:pPr algn="r"/>
            <a:r>
              <a:rPr sz="1100" b="0">
                <a:solidFill>
                  <a:srgbClr val="6B6B6B"/>
                </a:solidFill>
                <a:latin typeface="Calibri"/>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91672" cy="713232"/>
          </a:xfrm>
          <a:prstGeom prst="rect">
            <a:avLst/>
          </a:prstGeom>
          <a:noFill/>
        </p:spPr>
        <p:txBody>
          <a:bodyPr wrap="square" lIns="0" tIns="0" rIns="0" bIns="0" anchor="ctr">
            <a:spAutoFit/>
          </a:bodyPr>
          <a:lstStyle/>
          <a:p>
            <a:pPr algn="l">
              <a:spcAft>
                <a:spcPts val="0"/>
              </a:spcAft>
            </a:pPr>
            <a:r>
              <a:rPr sz="3400" b="1" i="0">
                <a:solidFill>
                  <a:srgbClr val="1B3A6B"/>
                </a:solidFill>
                <a:latin typeface="Calibri"/>
              </a:rPr>
              <a:t>Quick Check</a:t>
            </a:r>
          </a:p>
        </p:txBody>
      </p:sp>
      <p:sp>
        <p:nvSpPr>
          <p:cNvPr id="3" name="TextBox 2"/>
          <p:cNvSpPr txBox="1"/>
          <p:nvPr/>
        </p:nvSpPr>
        <p:spPr>
          <a:xfrm>
            <a:off x="548640" y="6428232"/>
            <a:ext cx="5486400" cy="274320"/>
          </a:xfrm>
          <a:prstGeom prst="rect">
            <a:avLst/>
          </a:prstGeom>
          <a:noFill/>
        </p:spPr>
        <p:txBody>
          <a:bodyPr wrap="square" lIns="0" tIns="0" rIns="0" bIns="0" anchor="t">
            <a:spAutoFit/>
          </a:bodyPr>
          <a:lstStyle/>
          <a:p>
            <a:pPr algn="l">
              <a:spcAft>
                <a:spcPts val="0"/>
              </a:spcAft>
            </a:pPr>
            <a:r>
              <a:rPr sz="1100" b="0" i="0">
                <a:solidFill>
                  <a:srgbClr val="6B6B6B"/>
                </a:solidFill>
                <a:latin typeface="Calibri"/>
              </a:rPr>
              <a:t>CSE207  ·  Digital Logic Design  ·  Lecture 01</a:t>
            </a:r>
          </a:p>
        </p:txBody>
      </p:sp>
      <p:sp>
        <p:nvSpPr>
          <p:cNvPr id="4" name="TextBox 3"/>
          <p:cNvSpPr txBox="1"/>
          <p:nvPr/>
        </p:nvSpPr>
        <p:spPr>
          <a:xfrm>
            <a:off x="10725912" y="6428232"/>
            <a:ext cx="914400" cy="274320"/>
          </a:xfrm>
          <a:prstGeom prst="rect">
            <a:avLst/>
          </a:prstGeom>
          <a:noFill/>
        </p:spPr>
        <p:txBody>
          <a:bodyPr wrap="square" lIns="0" tIns="0" rIns="0" bIns="0" anchor="t">
            <a:spAutoFit/>
          </a:bodyPr>
          <a:lstStyle/>
          <a:p>
            <a:pPr algn="r">
              <a:spcAft>
                <a:spcPts val="0"/>
              </a:spcAft>
            </a:pPr>
            <a:r>
              <a:rPr sz="1100" b="0" i="0">
                <a:solidFill>
                  <a:srgbClr val="6B6B6B"/>
                </a:solidFill>
                <a:latin typeface="Calibri"/>
              </a:rPr>
              <a:t>18</a:t>
            </a:r>
          </a:p>
        </p:txBody>
      </p:sp>
      <p:sp>
        <p:nvSpPr>
          <p:cNvPr id="5" name="Rounded Rectangle 4"/>
          <p:cNvSpPr/>
          <p:nvPr/>
        </p:nvSpPr>
        <p:spPr>
          <a:xfrm>
            <a:off x="548640" y="1371600"/>
            <a:ext cx="5440680" cy="2286000"/>
          </a:xfrm>
          <a:prstGeom prst="roundRect">
            <a:avLst>
              <a:gd name="adj" fmla="val 6000"/>
            </a:avLst>
          </a:prstGeom>
          <a:solidFill>
            <a:srgbClr val="F8E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68680" y="1691640"/>
            <a:ext cx="640080" cy="640080"/>
          </a:xfrm>
          <a:prstGeom prst="ellipse">
            <a:avLst/>
          </a:prstGeom>
          <a:solidFill>
            <a:srgbClr val="8E1B2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400" b="1">
                <a:solidFill>
                  <a:srgbClr val="FFFFFF"/>
                </a:solidFill>
                <a:latin typeface="Calibri"/>
              </a:rPr>
              <a:t>1</a:t>
            </a:r>
          </a:p>
        </p:txBody>
      </p:sp>
      <p:sp>
        <p:nvSpPr>
          <p:cNvPr id="7" name="TextBox 6"/>
          <p:cNvSpPr txBox="1"/>
          <p:nvPr/>
        </p:nvSpPr>
        <p:spPr>
          <a:xfrm>
            <a:off x="1783080" y="1645920"/>
            <a:ext cx="3931920" cy="1737360"/>
          </a:xfrm>
          <a:prstGeom prst="rect">
            <a:avLst/>
          </a:prstGeom>
          <a:noFill/>
        </p:spPr>
        <p:txBody>
          <a:bodyPr wrap="square" lIns="0" tIns="0" rIns="0" bIns="0" anchor="ctr">
            <a:spAutoFit/>
          </a:bodyPr>
          <a:lstStyle/>
          <a:p>
            <a:pPr algn="l">
              <a:spcAft>
                <a:spcPts val="0"/>
              </a:spcAft>
            </a:pPr>
            <a:r>
              <a:rPr sz="2100" b="0" i="0">
                <a:solidFill>
                  <a:srgbClr val="222222"/>
                </a:solidFill>
                <a:latin typeface="Calibri"/>
              </a:rPr>
              <a:t>Two switches are in parallel. A = 0 and B = 0. Is the lamp ON or OFF?</a:t>
            </a:r>
          </a:p>
        </p:txBody>
      </p:sp>
      <p:sp>
        <p:nvSpPr>
          <p:cNvPr id="8" name="Rounded Rectangle 7"/>
          <p:cNvSpPr/>
          <p:nvPr/>
        </p:nvSpPr>
        <p:spPr>
          <a:xfrm>
            <a:off x="6199631" y="1371600"/>
            <a:ext cx="5440680" cy="2286000"/>
          </a:xfrm>
          <a:prstGeom prst="roundRect">
            <a:avLst>
              <a:gd name="adj" fmla="val 6000"/>
            </a:avLst>
          </a:prstGeom>
          <a:solidFill>
            <a:srgbClr val="ED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6519671" y="1691640"/>
            <a:ext cx="640080" cy="640080"/>
          </a:xfrm>
          <a:prstGeom prst="ellipse">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400" b="1">
                <a:solidFill>
                  <a:srgbClr val="FFFFFF"/>
                </a:solidFill>
                <a:latin typeface="Calibri"/>
              </a:rPr>
              <a:t>2</a:t>
            </a:r>
          </a:p>
        </p:txBody>
      </p:sp>
      <p:sp>
        <p:nvSpPr>
          <p:cNvPr id="10" name="TextBox 9"/>
          <p:cNvSpPr txBox="1"/>
          <p:nvPr/>
        </p:nvSpPr>
        <p:spPr>
          <a:xfrm>
            <a:off x="7434071" y="1645920"/>
            <a:ext cx="3931920" cy="1737360"/>
          </a:xfrm>
          <a:prstGeom prst="rect">
            <a:avLst/>
          </a:prstGeom>
          <a:noFill/>
        </p:spPr>
        <p:txBody>
          <a:bodyPr wrap="square" lIns="0" tIns="0" rIns="0" bIns="0" anchor="ctr">
            <a:spAutoFit/>
          </a:bodyPr>
          <a:lstStyle/>
          <a:p>
            <a:pPr algn="l">
              <a:spcAft>
                <a:spcPts val="0"/>
              </a:spcAft>
            </a:pPr>
            <a:r>
              <a:rPr sz="2100" b="0" i="0">
                <a:solidFill>
                  <a:srgbClr val="222222"/>
                </a:solidFill>
                <a:latin typeface="Calibri"/>
              </a:rPr>
              <a:t>How many rows does a truth table with 4 inputs need?</a:t>
            </a:r>
          </a:p>
        </p:txBody>
      </p:sp>
      <p:sp>
        <p:nvSpPr>
          <p:cNvPr id="11" name="Rounded Rectangle 10"/>
          <p:cNvSpPr/>
          <p:nvPr/>
        </p:nvSpPr>
        <p:spPr>
          <a:xfrm>
            <a:off x="548640" y="3858768"/>
            <a:ext cx="5440680" cy="2286000"/>
          </a:xfrm>
          <a:prstGeom prst="roundRect">
            <a:avLst>
              <a:gd name="adj" fmla="val 6000"/>
            </a:avLst>
          </a:prstGeom>
          <a:solidFill>
            <a:srgbClr val="ED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68680" y="4178808"/>
            <a:ext cx="640080" cy="640080"/>
          </a:xfrm>
          <a:prstGeom prst="ellipse">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400" b="1">
                <a:solidFill>
                  <a:srgbClr val="FFFFFF"/>
                </a:solidFill>
                <a:latin typeface="Calibri"/>
              </a:rPr>
              <a:t>3</a:t>
            </a:r>
          </a:p>
        </p:txBody>
      </p:sp>
      <p:sp>
        <p:nvSpPr>
          <p:cNvPr id="13" name="TextBox 12"/>
          <p:cNvSpPr txBox="1"/>
          <p:nvPr/>
        </p:nvSpPr>
        <p:spPr>
          <a:xfrm>
            <a:off x="1783080" y="4133088"/>
            <a:ext cx="3931920" cy="1737360"/>
          </a:xfrm>
          <a:prstGeom prst="rect">
            <a:avLst/>
          </a:prstGeom>
          <a:noFill/>
        </p:spPr>
        <p:txBody>
          <a:bodyPr wrap="square" lIns="0" tIns="0" rIns="0" bIns="0" anchor="ctr">
            <a:spAutoFit/>
          </a:bodyPr>
          <a:lstStyle/>
          <a:p>
            <a:pPr algn="l">
              <a:spcAft>
                <a:spcPts val="0"/>
              </a:spcAft>
            </a:pPr>
            <a:r>
              <a:rPr sz="2100" b="0" i="0">
                <a:solidFill>
                  <a:srgbClr val="222222"/>
                </a:solidFill>
                <a:latin typeface="Calibri"/>
              </a:rPr>
              <a:t>Which gate gives 1 only when its two inputs are different?</a:t>
            </a:r>
          </a:p>
        </p:txBody>
      </p:sp>
      <p:sp>
        <p:nvSpPr>
          <p:cNvPr id="14" name="Rounded Rectangle 13"/>
          <p:cNvSpPr/>
          <p:nvPr/>
        </p:nvSpPr>
        <p:spPr>
          <a:xfrm>
            <a:off x="6199631" y="3858768"/>
            <a:ext cx="5440680" cy="2286000"/>
          </a:xfrm>
          <a:prstGeom prst="roundRect">
            <a:avLst>
              <a:gd name="adj" fmla="val 6000"/>
            </a:avLst>
          </a:prstGeom>
          <a:solidFill>
            <a:srgbClr val="F8E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519671" y="4178808"/>
            <a:ext cx="640080" cy="640080"/>
          </a:xfrm>
          <a:prstGeom prst="ellipse">
            <a:avLst/>
          </a:prstGeom>
          <a:solidFill>
            <a:srgbClr val="8E1B2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400" b="1">
                <a:solidFill>
                  <a:srgbClr val="FFFFFF"/>
                </a:solidFill>
                <a:latin typeface="Calibri"/>
              </a:rPr>
              <a:t>4</a:t>
            </a:r>
          </a:p>
        </p:txBody>
      </p:sp>
      <p:sp>
        <p:nvSpPr>
          <p:cNvPr id="16" name="TextBox 15"/>
          <p:cNvSpPr txBox="1"/>
          <p:nvPr/>
        </p:nvSpPr>
        <p:spPr>
          <a:xfrm>
            <a:off x="7434071" y="4133088"/>
            <a:ext cx="3931920" cy="1737360"/>
          </a:xfrm>
          <a:prstGeom prst="rect">
            <a:avLst/>
          </a:prstGeom>
          <a:noFill/>
        </p:spPr>
        <p:txBody>
          <a:bodyPr wrap="square" lIns="0" tIns="0" rIns="0" bIns="0" anchor="ctr">
            <a:spAutoFit/>
          </a:bodyPr>
          <a:lstStyle/>
          <a:p>
            <a:pPr algn="l">
              <a:spcAft>
                <a:spcPts val="0"/>
              </a:spcAft>
            </a:pPr>
            <a:r>
              <a:rPr sz="2100" b="0" i="0">
                <a:solidFill>
                  <a:srgbClr val="222222"/>
                </a:solidFill>
                <a:latin typeface="Calibri"/>
              </a:rPr>
              <a:t>Simplify:  F = A + AB</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8E1B22"/>
        </a:solidFill>
        <a:effectLst/>
      </p:bgPr>
    </p:bg>
    <p:spTree>
      <p:nvGrpSpPr>
        <p:cNvPr id="1" name=""/>
        <p:cNvGrpSpPr/>
        <p:nvPr/>
      </p:nvGrpSpPr>
      <p:grpSpPr>
        <a:xfrm>
          <a:off x="0" y="0"/>
          <a:ext cx="0" cy="0"/>
          <a:chOff x="0" y="0"/>
          <a:chExt cx="0" cy="0"/>
        </a:xfrm>
      </p:grpSpPr>
      <p:sp>
        <p:nvSpPr>
          <p:cNvPr id="2" name="TextBox 1"/>
          <p:cNvSpPr txBox="1"/>
          <p:nvPr/>
        </p:nvSpPr>
        <p:spPr>
          <a:xfrm>
            <a:off x="548640" y="457200"/>
            <a:ext cx="11091672" cy="731520"/>
          </a:xfrm>
          <a:prstGeom prst="rect">
            <a:avLst/>
          </a:prstGeom>
          <a:noFill/>
        </p:spPr>
        <p:txBody>
          <a:bodyPr wrap="square" lIns="0" tIns="0" rIns="0" bIns="0" anchor="t">
            <a:spAutoFit/>
          </a:bodyPr>
          <a:lstStyle/>
          <a:p>
            <a:pPr algn="l">
              <a:spcAft>
                <a:spcPts val="0"/>
              </a:spcAft>
            </a:pPr>
            <a:r>
              <a:rPr sz="3800" b="1" i="0">
                <a:solidFill>
                  <a:srgbClr val="FFFFFF"/>
                </a:solidFill>
                <a:latin typeface="Calibri"/>
              </a:rPr>
              <a:t>Today's Takeaways</a:t>
            </a:r>
          </a:p>
        </p:txBody>
      </p:sp>
      <p:sp>
        <p:nvSpPr>
          <p:cNvPr id="3" name="Oval 2"/>
          <p:cNvSpPr/>
          <p:nvPr/>
        </p:nvSpPr>
        <p:spPr>
          <a:xfrm>
            <a:off x="548640" y="1463040"/>
            <a:ext cx="548640" cy="5486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8E1B22"/>
                </a:solidFill>
                <a:latin typeface="Calibri"/>
              </a:rPr>
              <a:t>1</a:t>
            </a:r>
          </a:p>
        </p:txBody>
      </p:sp>
      <p:sp>
        <p:nvSpPr>
          <p:cNvPr id="4" name="TextBox 3"/>
          <p:cNvSpPr txBox="1"/>
          <p:nvPr/>
        </p:nvSpPr>
        <p:spPr>
          <a:xfrm>
            <a:off x="1325880" y="1417320"/>
            <a:ext cx="6126480" cy="685800"/>
          </a:xfrm>
          <a:prstGeom prst="rect">
            <a:avLst/>
          </a:prstGeom>
          <a:noFill/>
        </p:spPr>
        <p:txBody>
          <a:bodyPr wrap="square" lIns="0" tIns="0" rIns="0" bIns="0" anchor="ctr">
            <a:spAutoFit/>
          </a:bodyPr>
          <a:lstStyle/>
          <a:p>
            <a:pPr algn="l">
              <a:spcAft>
                <a:spcPts val="0"/>
              </a:spcAft>
            </a:pPr>
            <a:r>
              <a:rPr sz="1900" b="1" i="0">
                <a:solidFill>
                  <a:srgbClr val="FFFFFF"/>
                </a:solidFill>
                <a:latin typeface="Calibri"/>
              </a:rPr>
              <a:t>A switch is a bit: </a:t>
            </a:r>
            <a:r>
              <a:rPr sz="1900" b="0" i="0">
                <a:solidFill>
                  <a:srgbClr val="FFFFFF"/>
                </a:solidFill>
                <a:latin typeface="Calibri"/>
              </a:rPr>
              <a:t>open = 0, closed = 1.</a:t>
            </a:r>
          </a:p>
        </p:txBody>
      </p:sp>
      <p:sp>
        <p:nvSpPr>
          <p:cNvPr id="5" name="Oval 4"/>
          <p:cNvSpPr/>
          <p:nvPr/>
        </p:nvSpPr>
        <p:spPr>
          <a:xfrm>
            <a:off x="548640" y="2377439"/>
            <a:ext cx="548640" cy="5486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8E1B22"/>
                </a:solidFill>
                <a:latin typeface="Calibri"/>
              </a:rPr>
              <a:t>2</a:t>
            </a:r>
          </a:p>
        </p:txBody>
      </p:sp>
      <p:sp>
        <p:nvSpPr>
          <p:cNvPr id="6" name="TextBox 5"/>
          <p:cNvSpPr txBox="1"/>
          <p:nvPr/>
        </p:nvSpPr>
        <p:spPr>
          <a:xfrm>
            <a:off x="1325880" y="2331720"/>
            <a:ext cx="6126480" cy="685800"/>
          </a:xfrm>
          <a:prstGeom prst="rect">
            <a:avLst/>
          </a:prstGeom>
          <a:noFill/>
        </p:spPr>
        <p:txBody>
          <a:bodyPr wrap="square" lIns="0" tIns="0" rIns="0" bIns="0" anchor="ctr">
            <a:spAutoFit/>
          </a:bodyPr>
          <a:lstStyle/>
          <a:p>
            <a:pPr algn="l">
              <a:spcAft>
                <a:spcPts val="0"/>
              </a:spcAft>
            </a:pPr>
            <a:r>
              <a:rPr sz="1900" b="1" i="0">
                <a:solidFill>
                  <a:srgbClr val="FFFFFF"/>
                </a:solidFill>
                <a:latin typeface="Calibri"/>
              </a:rPr>
              <a:t>A truth table </a:t>
            </a:r>
            <a:r>
              <a:rPr sz="1900" b="0" i="0">
                <a:solidFill>
                  <a:srgbClr val="FFFFFF"/>
                </a:solidFill>
                <a:latin typeface="Calibri"/>
              </a:rPr>
              <a:t>lists all 2</a:t>
            </a:r>
            <a:r>
              <a:rPr sz="1900" b="0" i="0" baseline="30000">
                <a:solidFill>
                  <a:srgbClr val="FFFFFF"/>
                </a:solidFill>
                <a:latin typeface="Calibri"/>
              </a:rPr>
              <a:t>n</a:t>
            </a:r>
            <a:r>
              <a:rPr sz="1900" b="0" i="0">
                <a:solidFill>
                  <a:srgbClr val="FFFFFF"/>
                </a:solidFill>
                <a:latin typeface="Calibri"/>
              </a:rPr>
              <a:t> input cases.</a:t>
            </a:r>
          </a:p>
        </p:txBody>
      </p:sp>
      <p:sp>
        <p:nvSpPr>
          <p:cNvPr id="7" name="Oval 6"/>
          <p:cNvSpPr/>
          <p:nvPr/>
        </p:nvSpPr>
        <p:spPr>
          <a:xfrm>
            <a:off x="548640" y="3291839"/>
            <a:ext cx="548640" cy="5486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8E1B22"/>
                </a:solidFill>
                <a:latin typeface="Calibri"/>
              </a:rPr>
              <a:t>3</a:t>
            </a:r>
          </a:p>
        </p:txBody>
      </p:sp>
      <p:sp>
        <p:nvSpPr>
          <p:cNvPr id="8" name="TextBox 7"/>
          <p:cNvSpPr txBox="1"/>
          <p:nvPr/>
        </p:nvSpPr>
        <p:spPr>
          <a:xfrm>
            <a:off x="1325880" y="3246120"/>
            <a:ext cx="6126480" cy="685800"/>
          </a:xfrm>
          <a:prstGeom prst="rect">
            <a:avLst/>
          </a:prstGeom>
          <a:noFill/>
        </p:spPr>
        <p:txBody>
          <a:bodyPr wrap="square" lIns="0" tIns="0" rIns="0" bIns="0" anchor="ctr">
            <a:spAutoFit/>
          </a:bodyPr>
          <a:lstStyle/>
          <a:p>
            <a:pPr algn="l">
              <a:spcAft>
                <a:spcPts val="0"/>
              </a:spcAft>
            </a:pPr>
            <a:r>
              <a:rPr sz="1900" b="1" i="0">
                <a:solidFill>
                  <a:srgbClr val="FFFFFF"/>
                </a:solidFill>
                <a:latin typeface="Calibri"/>
              </a:rPr>
              <a:t>Gates: </a:t>
            </a:r>
            <a:r>
              <a:rPr sz="1900" b="0" i="0">
                <a:solidFill>
                  <a:srgbClr val="FFFFFF"/>
                </a:solidFill>
                <a:latin typeface="Calibri"/>
              </a:rPr>
              <a:t>AND = all, OR = any, NOT = flip. NAND &amp; NOR are universal.</a:t>
            </a:r>
          </a:p>
        </p:txBody>
      </p:sp>
      <p:sp>
        <p:nvSpPr>
          <p:cNvPr id="9" name="Oval 8"/>
          <p:cNvSpPr/>
          <p:nvPr/>
        </p:nvSpPr>
        <p:spPr>
          <a:xfrm>
            <a:off x="548640" y="4206240"/>
            <a:ext cx="548640" cy="5486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8E1B22"/>
                </a:solidFill>
                <a:latin typeface="Calibri"/>
              </a:rPr>
              <a:t>4</a:t>
            </a:r>
          </a:p>
        </p:txBody>
      </p:sp>
      <p:sp>
        <p:nvSpPr>
          <p:cNvPr id="10" name="TextBox 9"/>
          <p:cNvSpPr txBox="1"/>
          <p:nvPr/>
        </p:nvSpPr>
        <p:spPr>
          <a:xfrm>
            <a:off x="1325880" y="4160520"/>
            <a:ext cx="6126480" cy="685800"/>
          </a:xfrm>
          <a:prstGeom prst="rect">
            <a:avLst/>
          </a:prstGeom>
          <a:noFill/>
        </p:spPr>
        <p:txBody>
          <a:bodyPr wrap="square" lIns="0" tIns="0" rIns="0" bIns="0" anchor="ctr">
            <a:spAutoFit/>
          </a:bodyPr>
          <a:lstStyle/>
          <a:p>
            <a:pPr algn="l">
              <a:spcAft>
                <a:spcPts val="0"/>
              </a:spcAft>
            </a:pPr>
            <a:r>
              <a:rPr sz="1900" b="1" i="0">
                <a:solidFill>
                  <a:srgbClr val="FFFFFF"/>
                </a:solidFill>
                <a:latin typeface="Calibri"/>
              </a:rPr>
              <a:t>Boolean laws </a:t>
            </a:r>
            <a:r>
              <a:rPr sz="1900" b="0" i="0">
                <a:solidFill>
                  <a:srgbClr val="FFFFFF"/>
                </a:solidFill>
                <a:latin typeface="Calibri"/>
              </a:rPr>
              <a:t>let us rewrite expressions safely.</a:t>
            </a:r>
          </a:p>
        </p:txBody>
      </p:sp>
      <p:sp>
        <p:nvSpPr>
          <p:cNvPr id="11" name="Oval 10"/>
          <p:cNvSpPr/>
          <p:nvPr/>
        </p:nvSpPr>
        <p:spPr>
          <a:xfrm>
            <a:off x="548640" y="5120640"/>
            <a:ext cx="548640" cy="5486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8E1B22"/>
                </a:solidFill>
                <a:latin typeface="Calibri"/>
              </a:rPr>
              <a:t>5</a:t>
            </a:r>
          </a:p>
        </p:txBody>
      </p:sp>
      <p:sp>
        <p:nvSpPr>
          <p:cNvPr id="12" name="TextBox 11"/>
          <p:cNvSpPr txBox="1"/>
          <p:nvPr/>
        </p:nvSpPr>
        <p:spPr>
          <a:xfrm>
            <a:off x="1325880" y="5074920"/>
            <a:ext cx="6126480" cy="685800"/>
          </a:xfrm>
          <a:prstGeom prst="rect">
            <a:avLst/>
          </a:prstGeom>
          <a:noFill/>
        </p:spPr>
        <p:txBody>
          <a:bodyPr wrap="square" lIns="0" tIns="0" rIns="0" bIns="0" anchor="ctr">
            <a:spAutoFit/>
          </a:bodyPr>
          <a:lstStyle/>
          <a:p>
            <a:pPr algn="l">
              <a:spcAft>
                <a:spcPts val="0"/>
              </a:spcAft>
            </a:pPr>
            <a:r>
              <a:rPr sz="1900" b="1" i="0">
                <a:solidFill>
                  <a:srgbClr val="FFFFFF"/>
                </a:solidFill>
                <a:latin typeface="Calibri"/>
              </a:rPr>
              <a:t>Simpler expression </a:t>
            </a:r>
            <a:r>
              <a:rPr sz="1900" b="0" i="0">
                <a:solidFill>
                  <a:srgbClr val="FFFFFF"/>
                </a:solidFill>
                <a:latin typeface="Calibri"/>
              </a:rPr>
              <a:t>→ fewer gates → cheaper, faster circuit.</a:t>
            </a:r>
          </a:p>
        </p:txBody>
      </p:sp>
      <p:sp>
        <p:nvSpPr>
          <p:cNvPr id="13" name="Rounded Rectangle 12"/>
          <p:cNvSpPr/>
          <p:nvPr/>
        </p:nvSpPr>
        <p:spPr>
          <a:xfrm>
            <a:off x="7863840" y="1417320"/>
            <a:ext cx="3776472" cy="31089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138160" y="1417320"/>
            <a:ext cx="3291840" cy="3108960"/>
          </a:xfrm>
          <a:prstGeom prst="rect">
            <a:avLst/>
          </a:prstGeom>
          <a:noFill/>
        </p:spPr>
        <p:txBody>
          <a:bodyPr wrap="square" lIns="0" tIns="0" rIns="0" bIns="0" anchor="ctr">
            <a:spAutoFit/>
          </a:bodyPr>
          <a:lstStyle/>
          <a:p>
            <a:pPr algn="l">
              <a:spcAft>
                <a:spcPts val="800"/>
              </a:spcAft>
            </a:pPr>
            <a:r>
              <a:rPr sz="1400" b="1" i="0">
                <a:solidFill>
                  <a:srgbClr val="8E1B22"/>
                </a:solidFill>
                <a:latin typeface="Calibri"/>
              </a:rPr>
              <a:t>NEXT LECTURE</a:t>
            </a:r>
          </a:p>
          <a:p>
            <a:pPr algn="l">
              <a:spcAft>
                <a:spcPts val="400"/>
              </a:spcAft>
            </a:pPr>
            <a:r>
              <a:rPr sz="2100" b="1" i="0">
                <a:solidFill>
                  <a:srgbClr val="1B3A6B"/>
                </a:solidFill>
                <a:latin typeface="Calibri"/>
              </a:rPr>
              <a:t>Canonical &amp; Standard Forms</a:t>
            </a:r>
          </a:p>
          <a:p>
            <a:pPr algn="l">
              <a:spcAft>
                <a:spcPts val="800"/>
              </a:spcAft>
            </a:pPr>
            <a:r>
              <a:rPr sz="2100" b="1" i="0">
                <a:solidFill>
                  <a:srgbClr val="1B3A6B"/>
                </a:solidFill>
                <a:latin typeface="Calibri"/>
              </a:rPr>
              <a:t>Karnaugh Map (K-map) Method</a:t>
            </a:r>
          </a:p>
          <a:p>
            <a:pPr algn="l">
              <a:spcAft>
                <a:spcPts val="0"/>
              </a:spcAft>
            </a:pPr>
            <a:r>
              <a:rPr sz="1500" b="0" i="0">
                <a:solidFill>
                  <a:srgbClr val="6B6B6B"/>
                </a:solidFill>
                <a:latin typeface="Calibri"/>
              </a:rPr>
              <a:t>A faster, visual way to simplify Boolean functions.</a:t>
            </a:r>
          </a:p>
        </p:txBody>
      </p:sp>
      <p:sp>
        <p:nvSpPr>
          <p:cNvPr id="15" name="TextBox 14"/>
          <p:cNvSpPr txBox="1"/>
          <p:nvPr/>
        </p:nvSpPr>
        <p:spPr>
          <a:xfrm>
            <a:off x="7863840" y="4892040"/>
            <a:ext cx="3776472" cy="822960"/>
          </a:xfrm>
          <a:prstGeom prst="rect">
            <a:avLst/>
          </a:prstGeom>
          <a:noFill/>
        </p:spPr>
        <p:txBody>
          <a:bodyPr wrap="square" lIns="0" tIns="0" rIns="0" bIns="0" anchor="ctr">
            <a:spAutoFit/>
          </a:bodyPr>
          <a:lstStyle/>
          <a:p>
            <a:pPr algn="ctr">
              <a:spcAft>
                <a:spcPts val="0"/>
              </a:spcAft>
            </a:pPr>
            <a:r>
              <a:rPr sz="3600" b="1" i="0">
                <a:solidFill>
                  <a:srgbClr val="FFFFFF"/>
                </a:solidFill>
                <a:latin typeface="Calibri"/>
              </a:rP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2835</Words>
  <Application>Microsoft Office PowerPoint</Application>
  <PresentationFormat>Widescreen</PresentationFormat>
  <Paragraphs>473</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2005018 - Munzer Mahmood</cp:lastModifiedBy>
  <cp:revision>2</cp:revision>
  <dcterms:created xsi:type="dcterms:W3CDTF">2013-01-27T09:14:16Z</dcterms:created>
  <dcterms:modified xsi:type="dcterms:W3CDTF">2026-09-17T10:07:48Z</dcterms:modified>
  <cp:category/>
</cp:coreProperties>
</file>