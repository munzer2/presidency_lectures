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93D68"/>
          </a:solidFill>
          <a:ln w="12700">
            <a:solidFill>
              <a:srgbClr val="193D6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566928"/>
            <a:ext cx="1316736" cy="1316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084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93D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CSE208: Digital Logic Design Laboratory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02: Universal Gates — NAND &amp; NOR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3035808"/>
            <a:ext cx="4572000" cy="0"/>
          </a:xfrm>
          <a:prstGeom prst="line">
            <a:avLst/>
          </a:prstGeom>
          <a:noFill/>
          <a:ln w="19050">
            <a:solidFill>
              <a:srgbClr val="9119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Munzer Mahmood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3D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Presidency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Class 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170432"/>
            <a:ext cx="8924544" cy="41148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896112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89611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1170432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basic gates: NOT, AND, OR, NAND, NOR, XOR and XNOR — each described by a truth table.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trio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" y="220370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112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→ inverts the input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" y="2505456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140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→ all inputs are 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" y="2807208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715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→ at least one input is 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inverted pair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64608" y="220370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2112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= NOT(AND)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4608" y="2505456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0" y="24140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= NOT(OR)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64608" y="2807208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2715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have a bubble ( ○ ) at the output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" y="370332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" y="34290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1168" y="3429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Today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" y="370332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every other gate using only ONE type of gate?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Learning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today’s laboratory, you should be able to: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3624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362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3258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universal gate.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83794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37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80136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NAND and NOR are called universal gates.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31343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276856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NOT, AND and OR using only NAND gates.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78892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75234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NOT, OR and AND using only NOR gates.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26440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22783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 Morgan’s theorem to convert between gate forms.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739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703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simple Boolean expression using only NAND gates.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421538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4215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17880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universal-gate circuits using a simulator or the 7400 / 7402 ICs.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Universal Gate?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170432"/>
            <a:ext cx="8924544" cy="41148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896112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89611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1170432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gate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gate that can implement ANY Boolean function, without using any other type of gate.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17556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Boolean function can be written using only: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103120"/>
            <a:ext cx="2560320" cy="34747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     OR      NOT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if one gate can make NOT, AND and OR, it can make everything: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1752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or NOR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91256" y="3223260"/>
            <a:ext cx="47548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03320" y="301752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NOT, AND, 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0136" y="3223260"/>
            <a:ext cx="47548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172200" y="301752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Digital Circuit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" y="4023360"/>
            <a:ext cx="8924544" cy="347472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" y="374904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168" y="37490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" y="402336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and NOR are the two universal gates.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Universal Gates?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51790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426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type of IC is needed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88366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792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in mass production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" y="224942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fast in CMOS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see them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64608" y="151790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14264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ICs: 7400 (NAND), 7402 (NOR)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64608" y="188366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17922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Processors and memory chips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64608" y="224942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2157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/ ASIC 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" y="3291840"/>
            <a:ext cx="8924544" cy="41148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9728" y="301752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1168" y="30175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Know?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" y="3291840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Apollo Guidance Computer, which flew to the Moon, was built almost entirely from NOR gates.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Gate — Quick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0" cy="124690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2880360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0" name="Image 1" descr="Y = NOT(A·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85" y="2857500"/>
            <a:ext cx="819150" cy="388620"/>
          </a:xfrm>
          <a:prstGeom prst="rect">
            <a:avLst/>
          </a:prstGeom>
        </p:spPr>
      </p:pic>
      <p:pic>
        <p:nvPicPr>
          <p:cNvPr id="11" name="Image 2" descr="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503" y="1556004"/>
            <a:ext cx="137795" cy="302260"/>
          </a:xfrm>
          <a:prstGeom prst="rect">
            <a:avLst/>
          </a:prstGeom>
        </p:spPr>
      </p:pic>
      <p:pic>
        <p:nvPicPr>
          <p:cNvPr id="12" name="Image 3" descr="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022" y="1556004"/>
            <a:ext cx="137795" cy="302260"/>
          </a:xfrm>
          <a:prstGeom prst="rect">
            <a:avLst/>
          </a:prstGeom>
        </p:spPr>
      </p:pic>
      <p:pic>
        <p:nvPicPr>
          <p:cNvPr id="13" name="Image 4" descr="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542" y="1556004"/>
            <a:ext cx="137795" cy="3022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1206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58521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658368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51206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8521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58368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1206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8521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5836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1206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85216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5836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120640" y="160020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120640" y="1874520"/>
            <a:ext cx="219456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20640" y="297180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4805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= 0 only when all inputs are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Gate — Quick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0" cy="121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2880360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0" name="Image 1" descr="Y = NOT(A + 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60" y="2857500"/>
            <a:ext cx="990600" cy="388620"/>
          </a:xfrm>
          <a:prstGeom prst="rect">
            <a:avLst/>
          </a:prstGeom>
        </p:spPr>
      </p:pic>
      <p:pic>
        <p:nvPicPr>
          <p:cNvPr id="11" name="Image 2" descr="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503" y="1556004"/>
            <a:ext cx="137795" cy="302260"/>
          </a:xfrm>
          <a:prstGeom prst="rect">
            <a:avLst/>
          </a:prstGeom>
        </p:spPr>
      </p:pic>
      <p:pic>
        <p:nvPicPr>
          <p:cNvPr id="12" name="Image 3" descr="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022" y="1556004"/>
            <a:ext cx="137795" cy="302260"/>
          </a:xfrm>
          <a:prstGeom prst="rect">
            <a:avLst/>
          </a:prstGeom>
        </p:spPr>
      </p:pic>
      <p:pic>
        <p:nvPicPr>
          <p:cNvPr id="13" name="Image 4" descr="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542" y="1556004"/>
            <a:ext cx="137795" cy="3022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1206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58521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658368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51206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8521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58368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1206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8521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5836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1206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85216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5836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120640" y="160020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120640" y="1874520"/>
            <a:ext cx="219456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20640" y="297180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4805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= 1 only when all inputs are 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Gates with NAND Only: The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three basic gates in order — each one uses the previous result: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54096" y="1668780"/>
            <a:ext cx="56692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57600" y="137160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22976" y="1668780"/>
            <a:ext cx="56692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" y="2606040"/>
            <a:ext cx="8924544" cy="91440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" y="233172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1168" y="23317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" y="2606040"/>
            <a:ext cx="8741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connect both inputs of a NAND together.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NAND followed by a NOT (NAND inverter).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invert each input first, then NAND them.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" y="4069080"/>
            <a:ext cx="8924544" cy="347472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" y="379476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1168" y="379476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" y="406908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NOTs cancel each other:  NOT(NOT A) = 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Gate using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3566160" cy="1229710"/>
          </a:xfrm>
          <a:prstGeom prst="rect">
            <a:avLst/>
          </a:prstGeom>
        </p:spPr>
      </p:pic>
      <p:pic>
        <p:nvPicPr>
          <p:cNvPr id="9" name="Image 1" descr="Y = NOT(A·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173" y="963168"/>
            <a:ext cx="728133" cy="345440"/>
          </a:xfrm>
          <a:prstGeom prst="rect">
            <a:avLst/>
          </a:prstGeom>
        </p:spPr>
      </p:pic>
      <p:pic>
        <p:nvPicPr>
          <p:cNvPr id="10" name="Image 2" descr="Y = NOT(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773" y="1328928"/>
            <a:ext cx="524933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823" y="1821180"/>
            <a:ext cx="137795" cy="302260"/>
          </a:xfrm>
          <a:prstGeom prst="rect">
            <a:avLst/>
          </a:prstGeom>
        </p:spPr>
      </p:pic>
      <p:pic>
        <p:nvPicPr>
          <p:cNvPr id="12" name="Image 4" descr="A·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443" y="1821180"/>
            <a:ext cx="315595" cy="302260"/>
          </a:xfrm>
          <a:prstGeom prst="rect">
            <a:avLst/>
          </a:prstGeom>
        </p:spPr>
      </p:pic>
      <p:pic>
        <p:nvPicPr>
          <p:cNvPr id="13" name="Image 5" descr="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863" y="1821180"/>
            <a:ext cx="137795" cy="30226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39496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612648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8"/>
          <p:cNvSpPr txBox="1"/>
          <p:nvPr/>
        </p:nvSpPr>
        <p:spPr>
          <a:xfrm>
            <a:off x="685800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539496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612648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685800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5394960" y="187452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394960" y="2130552"/>
            <a:ext cx="219456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394960" y="2642616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9728" y="356616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9728" y="329184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201168" y="356616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both inputs together: A·A = A, so the NAND simply inverts A.  Gates used: 1 NAND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Gate using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4297680" cy="1153740"/>
          </a:xfrm>
          <a:prstGeom prst="rect">
            <a:avLst/>
          </a:prstGeom>
        </p:spPr>
      </p:pic>
      <p:pic>
        <p:nvPicPr>
          <p:cNvPr id="9" name="Image 1" descr="X = NOT(A·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493" y="917448"/>
            <a:ext cx="728133" cy="345440"/>
          </a:xfrm>
          <a:prstGeom prst="rect">
            <a:avLst/>
          </a:prstGeom>
        </p:spPr>
      </p:pic>
      <p:pic>
        <p:nvPicPr>
          <p:cNvPr id="10" name="Image 2" descr="Y = NOT(X) = A·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93" y="1283208"/>
            <a:ext cx="1083733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543" y="1729740"/>
            <a:ext cx="137795" cy="302260"/>
          </a:xfrm>
          <a:prstGeom prst="rect">
            <a:avLst/>
          </a:prstGeom>
        </p:spPr>
      </p:pic>
      <p:pic>
        <p:nvPicPr>
          <p:cNvPr id="12" name="Image 4" descr="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623" y="1729740"/>
            <a:ext cx="137795" cy="302260"/>
          </a:xfrm>
          <a:prstGeom prst="rect">
            <a:avLst/>
          </a:prstGeom>
        </p:spPr>
      </p:pic>
      <p:pic>
        <p:nvPicPr>
          <p:cNvPr id="13" name="Image 5" descr="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703" y="1729740"/>
            <a:ext cx="137795" cy="302260"/>
          </a:xfrm>
          <a:prstGeom prst="rect">
            <a:avLst/>
          </a:prstGeom>
        </p:spPr>
      </p:pic>
      <p:pic>
        <p:nvPicPr>
          <p:cNvPr id="14" name="Image 6" descr="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7783" y="1729740"/>
            <a:ext cx="137795" cy="30226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548640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612648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8"/>
          <p:cNvSpPr txBox="1"/>
          <p:nvPr/>
        </p:nvSpPr>
        <p:spPr>
          <a:xfrm>
            <a:off x="676656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9"/>
          <p:cNvSpPr txBox="1"/>
          <p:nvPr/>
        </p:nvSpPr>
        <p:spPr>
          <a:xfrm>
            <a:off x="740664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548640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612648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676656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740664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548640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612648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676656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40664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548640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12648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76656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740664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486400" y="1783080"/>
            <a:ext cx="2560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486400" y="2039112"/>
            <a:ext cx="256032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486400" y="3063240"/>
            <a:ext cx="2560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9728" y="356616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109728" y="329184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201168" y="356616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= NOT(AND). Invert it once more and we get AND back.  Gates used: 2 NAND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Gate using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3931920" cy="1585452"/>
          </a:xfrm>
          <a:prstGeom prst="rect">
            <a:avLst/>
          </a:prstGeom>
        </p:spPr>
      </p:pic>
      <p:pic>
        <p:nvPicPr>
          <p:cNvPr id="9" name="Image 1" descr="Y = NOT(NOT(A) · NOT(B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917448"/>
            <a:ext cx="853440" cy="345440"/>
          </a:xfrm>
          <a:prstGeom prst="rect">
            <a:avLst/>
          </a:prstGeom>
        </p:spPr>
      </p:pic>
      <p:pic>
        <p:nvPicPr>
          <p:cNvPr id="10" name="Image 2" descr="Y = A + B   (De Morgan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620" y="1283208"/>
            <a:ext cx="2159000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207" y="1729740"/>
            <a:ext cx="137795" cy="302260"/>
          </a:xfrm>
          <a:prstGeom prst="rect">
            <a:avLst/>
          </a:prstGeom>
        </p:spPr>
      </p:pic>
      <p:pic>
        <p:nvPicPr>
          <p:cNvPr id="12" name="Image 4" descr="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135" y="1729740"/>
            <a:ext cx="137795" cy="302260"/>
          </a:xfrm>
          <a:prstGeom prst="rect">
            <a:avLst/>
          </a:prstGeom>
        </p:spPr>
      </p:pic>
      <p:pic>
        <p:nvPicPr>
          <p:cNvPr id="13" name="Image 5" descr="NOT(A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877" y="1729740"/>
            <a:ext cx="148167" cy="302260"/>
          </a:xfrm>
          <a:prstGeom prst="rect">
            <a:avLst/>
          </a:prstGeom>
        </p:spPr>
      </p:pic>
      <p:pic>
        <p:nvPicPr>
          <p:cNvPr id="14" name="Image 6" descr="NOT(B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0805" y="1729740"/>
            <a:ext cx="148167" cy="302260"/>
          </a:xfrm>
          <a:prstGeom prst="rect">
            <a:avLst/>
          </a:prstGeom>
        </p:spPr>
      </p:pic>
      <p:pic>
        <p:nvPicPr>
          <p:cNvPr id="15" name="Image 7" descr="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2918" y="1729740"/>
            <a:ext cx="137795" cy="30226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5120640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7"/>
          <p:cNvSpPr txBox="1"/>
          <p:nvPr/>
        </p:nvSpPr>
        <p:spPr>
          <a:xfrm>
            <a:off x="5687568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6254496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6821424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0"/>
          <p:cNvSpPr txBox="1"/>
          <p:nvPr/>
        </p:nvSpPr>
        <p:spPr>
          <a:xfrm>
            <a:off x="7388352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1"/>
          <p:cNvSpPr txBox="1"/>
          <p:nvPr/>
        </p:nvSpPr>
        <p:spPr>
          <a:xfrm>
            <a:off x="5120640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5687568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6254496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6821424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7388352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5120640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5687568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6254496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6821424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7388352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5120640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5687568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6254496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821424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388352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5120640" y="1783080"/>
            <a:ext cx="2834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120640" y="2039112"/>
            <a:ext cx="283464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120640" y="3063240"/>
            <a:ext cx="2834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109728" y="370332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109728" y="34290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201168" y="3429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201168" y="370332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the INPUTS (not the output), then NAND them.  Gates used: 3 NAND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Analyze: OR using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OR-from-NAND circuit, suppose:</a:t>
            </a:r>
            <a:endParaRPr lang="en-US" sz="1400" dirty="0"/>
          </a:p>
        </p:txBody>
      </p:sp>
      <p:pic>
        <p:nvPicPr>
          <p:cNvPr id="9" name="Image 0" descr="A = 0,   B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520" y="1191768"/>
            <a:ext cx="1168400" cy="345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7739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</a:t>
            </a:r>
            <a:endParaRPr lang="en-US" sz="1400" dirty="0"/>
          </a:p>
        </p:txBody>
      </p:sp>
      <p:pic>
        <p:nvPicPr>
          <p:cNvPr id="12" name="Image 1" descr="NOT(A) = NAND(0, 0) =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80210"/>
            <a:ext cx="1658938" cy="323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1854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</a:t>
            </a:r>
            <a:endParaRPr lang="en-US" sz="1400" dirty="0"/>
          </a:p>
        </p:txBody>
      </p:sp>
      <p:pic>
        <p:nvPicPr>
          <p:cNvPr id="16" name="Image 2" descr="NOT(B) = NAND(1, 1) = 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091690"/>
            <a:ext cx="1658938" cy="3238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576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3:</a:t>
            </a:r>
            <a:endParaRPr lang="en-US" sz="1400" dirty="0"/>
          </a:p>
        </p:txBody>
      </p:sp>
      <p:pic>
        <p:nvPicPr>
          <p:cNvPr id="20" name="Image 3" descr="Y = NAND(1, 0) =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503170"/>
            <a:ext cx="1647825" cy="32385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576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30083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endParaRPr lang="en-US" sz="1400" dirty="0"/>
          </a:p>
        </p:txBody>
      </p:sp>
      <p:pic>
        <p:nvPicPr>
          <p:cNvPr id="24" name="Image 4" descr="A + B = 0 + 1 = 1  ✓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914650"/>
            <a:ext cx="1657350" cy="32385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6576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188720"/>
            <a:ext cx="3749040" cy="151171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9728" y="3977640"/>
            <a:ext cx="8924544" cy="347472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9728" y="370332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201168" y="37033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Skill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201168" y="397764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circuit gate by gate, then compare with the expected truth table.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as a Universal Gate —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40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gate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build it with NAND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NAND gates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 both inputs together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NAND → NOT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each input → NAND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(3 NAND) → NOT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4-gate circuit (see Challenge)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9728" y="3703320"/>
            <a:ext cx="8924544" cy="365760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" y="34290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1168" y="3429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1168" y="3703320"/>
            <a:ext cx="874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+ AND + OR from NAND alone  ⇒  NAND is universal.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Gate using NOR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3566160" cy="1208868"/>
          </a:xfrm>
          <a:prstGeom prst="rect">
            <a:avLst/>
          </a:prstGeom>
        </p:spPr>
      </p:pic>
      <p:pic>
        <p:nvPicPr>
          <p:cNvPr id="9" name="Image 1" descr="Y = NOT(A + 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973" y="963168"/>
            <a:ext cx="880533" cy="345440"/>
          </a:xfrm>
          <a:prstGeom prst="rect">
            <a:avLst/>
          </a:prstGeom>
        </p:spPr>
      </p:pic>
      <p:pic>
        <p:nvPicPr>
          <p:cNvPr id="10" name="Image 2" descr="Y = NOT(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773" y="1328928"/>
            <a:ext cx="524933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823" y="1821180"/>
            <a:ext cx="137795" cy="302260"/>
          </a:xfrm>
          <a:prstGeom prst="rect">
            <a:avLst/>
          </a:prstGeom>
        </p:spPr>
      </p:pic>
      <p:pic>
        <p:nvPicPr>
          <p:cNvPr id="12" name="Image 4" descr="A+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218" y="1821180"/>
            <a:ext cx="360045" cy="302260"/>
          </a:xfrm>
          <a:prstGeom prst="rect">
            <a:avLst/>
          </a:prstGeom>
        </p:spPr>
      </p:pic>
      <p:pic>
        <p:nvPicPr>
          <p:cNvPr id="13" name="Image 5" descr="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863" y="1821180"/>
            <a:ext cx="137795" cy="30226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39496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612648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8"/>
          <p:cNvSpPr txBox="1"/>
          <p:nvPr/>
        </p:nvSpPr>
        <p:spPr>
          <a:xfrm>
            <a:off x="6858000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539496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612648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685800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5394960" y="1874520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394960" y="2130552"/>
            <a:ext cx="219456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394960" y="2642616"/>
            <a:ext cx="2194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9728" y="356616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9728" y="329184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201168" y="356616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trick as NAND: tie both inputs together, since A + A = A.  Gates used: 1 NOR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Gate using NOR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4297680" cy="1123576"/>
          </a:xfrm>
          <a:prstGeom prst="rect">
            <a:avLst/>
          </a:prstGeom>
        </p:spPr>
      </p:pic>
      <p:pic>
        <p:nvPicPr>
          <p:cNvPr id="9" name="Image 1" descr="X = NOT(A + 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293" y="917448"/>
            <a:ext cx="880533" cy="345440"/>
          </a:xfrm>
          <a:prstGeom prst="rect">
            <a:avLst/>
          </a:prstGeom>
        </p:spPr>
      </p:pic>
      <p:pic>
        <p:nvPicPr>
          <p:cNvPr id="10" name="Image 2" descr="Y = NOT(X) = A + 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493" y="1283208"/>
            <a:ext cx="1236133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543" y="1729740"/>
            <a:ext cx="137795" cy="302260"/>
          </a:xfrm>
          <a:prstGeom prst="rect">
            <a:avLst/>
          </a:prstGeom>
        </p:spPr>
      </p:pic>
      <p:pic>
        <p:nvPicPr>
          <p:cNvPr id="12" name="Image 4" descr="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623" y="1729740"/>
            <a:ext cx="137795" cy="302260"/>
          </a:xfrm>
          <a:prstGeom prst="rect">
            <a:avLst/>
          </a:prstGeom>
        </p:spPr>
      </p:pic>
      <p:pic>
        <p:nvPicPr>
          <p:cNvPr id="13" name="Image 5" descr="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703" y="1729740"/>
            <a:ext cx="137795" cy="302260"/>
          </a:xfrm>
          <a:prstGeom prst="rect">
            <a:avLst/>
          </a:prstGeom>
        </p:spPr>
      </p:pic>
      <p:pic>
        <p:nvPicPr>
          <p:cNvPr id="14" name="Image 6" descr="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7783" y="1729740"/>
            <a:ext cx="137795" cy="30226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548640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612648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8"/>
          <p:cNvSpPr txBox="1"/>
          <p:nvPr/>
        </p:nvSpPr>
        <p:spPr>
          <a:xfrm>
            <a:off x="676656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9"/>
          <p:cNvSpPr txBox="1"/>
          <p:nvPr/>
        </p:nvSpPr>
        <p:spPr>
          <a:xfrm>
            <a:off x="740664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548640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612648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676656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7406640" y="2295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548640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612648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676656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406640" y="255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548640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12648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76656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7406640" y="2807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486400" y="1783080"/>
            <a:ext cx="2560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486400" y="2039112"/>
            <a:ext cx="256032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486400" y="3063240"/>
            <a:ext cx="2560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9728" y="356616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109728" y="329184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201168" y="356616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= NOT(OR). Invert it once more and we get OR back.  Gates used: 2 NOR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Gate using NOR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3931920" cy="1568585"/>
          </a:xfrm>
          <a:prstGeom prst="rect">
            <a:avLst/>
          </a:prstGeom>
        </p:spPr>
      </p:pic>
      <p:pic>
        <p:nvPicPr>
          <p:cNvPr id="9" name="Image 1" descr="Y = NOT(NOT(A) + NOT(B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917448"/>
            <a:ext cx="904240" cy="345440"/>
          </a:xfrm>
          <a:prstGeom prst="rect">
            <a:avLst/>
          </a:prstGeom>
        </p:spPr>
      </p:pic>
      <p:pic>
        <p:nvPicPr>
          <p:cNvPr id="10" name="Image 2" descr="Y = A·B   (De Morgan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820" y="1283208"/>
            <a:ext cx="2006600" cy="345440"/>
          </a:xfrm>
          <a:prstGeom prst="rect">
            <a:avLst/>
          </a:prstGeom>
        </p:spPr>
      </p:pic>
      <p:pic>
        <p:nvPicPr>
          <p:cNvPr id="11" name="Image 3" descr="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207" y="1729740"/>
            <a:ext cx="137795" cy="302260"/>
          </a:xfrm>
          <a:prstGeom prst="rect">
            <a:avLst/>
          </a:prstGeom>
        </p:spPr>
      </p:pic>
      <p:pic>
        <p:nvPicPr>
          <p:cNvPr id="12" name="Image 4" descr="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135" y="1729740"/>
            <a:ext cx="137795" cy="302260"/>
          </a:xfrm>
          <a:prstGeom prst="rect">
            <a:avLst/>
          </a:prstGeom>
        </p:spPr>
      </p:pic>
      <p:pic>
        <p:nvPicPr>
          <p:cNvPr id="13" name="Image 5" descr="NOT(A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877" y="1729740"/>
            <a:ext cx="148167" cy="302260"/>
          </a:xfrm>
          <a:prstGeom prst="rect">
            <a:avLst/>
          </a:prstGeom>
        </p:spPr>
      </p:pic>
      <p:pic>
        <p:nvPicPr>
          <p:cNvPr id="14" name="Image 6" descr="NOT(B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0805" y="1729740"/>
            <a:ext cx="148167" cy="302260"/>
          </a:xfrm>
          <a:prstGeom prst="rect">
            <a:avLst/>
          </a:prstGeom>
        </p:spPr>
      </p:pic>
      <p:pic>
        <p:nvPicPr>
          <p:cNvPr id="15" name="Image 7" descr="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2918" y="1729740"/>
            <a:ext cx="137795" cy="30226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5120640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7"/>
          <p:cNvSpPr txBox="1"/>
          <p:nvPr/>
        </p:nvSpPr>
        <p:spPr>
          <a:xfrm>
            <a:off x="5687568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6254496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6821424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0"/>
          <p:cNvSpPr txBox="1"/>
          <p:nvPr/>
        </p:nvSpPr>
        <p:spPr>
          <a:xfrm>
            <a:off x="7388352" y="2039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1"/>
          <p:cNvSpPr txBox="1"/>
          <p:nvPr/>
        </p:nvSpPr>
        <p:spPr>
          <a:xfrm>
            <a:off x="5120640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5687568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6254496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6821424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7388352" y="2295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5120640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5687568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6254496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6821424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7388352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5120640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5687568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6254496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821424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388352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5120640" y="1783080"/>
            <a:ext cx="2834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120640" y="2039112"/>
            <a:ext cx="283464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120640" y="3063240"/>
            <a:ext cx="2834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109728" y="370332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109728" y="34290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201168" y="3429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201168" y="370332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the INPUTS, then NOR them.  Gates used: 3 NOR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Analyze: AND using NOR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AND-from-NOR circuit, suppose:</a:t>
            </a:r>
            <a:endParaRPr lang="en-US" sz="1400" dirty="0"/>
          </a:p>
        </p:txBody>
      </p:sp>
      <p:pic>
        <p:nvPicPr>
          <p:cNvPr id="9" name="Image 0" descr="A = 1,   B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520" y="1191768"/>
            <a:ext cx="1168400" cy="345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7739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</a:t>
            </a:r>
            <a:endParaRPr lang="en-US" sz="1400" dirty="0"/>
          </a:p>
        </p:txBody>
      </p:sp>
      <p:pic>
        <p:nvPicPr>
          <p:cNvPr id="12" name="Image 1" descr="NOT(A) = NOR(1, 1) =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80210"/>
            <a:ext cx="1541463" cy="323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1854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</a:t>
            </a:r>
            <a:endParaRPr lang="en-US" sz="1400" dirty="0"/>
          </a:p>
        </p:txBody>
      </p:sp>
      <p:pic>
        <p:nvPicPr>
          <p:cNvPr id="16" name="Image 2" descr="NOT(B) = NOR(1, 1) = 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091690"/>
            <a:ext cx="1541463" cy="3238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576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3:</a:t>
            </a:r>
            <a:endParaRPr lang="en-US" sz="1400" dirty="0"/>
          </a:p>
        </p:txBody>
      </p:sp>
      <p:pic>
        <p:nvPicPr>
          <p:cNvPr id="20" name="Image 3" descr="Y = NOR(0, 0) =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503170"/>
            <a:ext cx="1530350" cy="32385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576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30083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endParaRPr lang="en-US" sz="1400" dirty="0"/>
          </a:p>
        </p:txBody>
      </p:sp>
      <p:pic>
        <p:nvPicPr>
          <p:cNvPr id="24" name="Image 4" descr="A·B = 1·1 = 1  ✓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914650"/>
            <a:ext cx="1371600" cy="32385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6576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188720"/>
            <a:ext cx="3749040" cy="149562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9728" y="3977640"/>
            <a:ext cx="8924544" cy="347472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9728" y="370332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201168" y="37033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201168" y="397764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trace for A = 1, B = 0. What is Y?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vs NOR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gate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Using NAND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Using NOR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gate  (tie inputs)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gate  (tie inputs)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gates  (NAND → NOT)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gates  (NOT inputs → NOR)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gates  (NOT inputs → NAND)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gates  (NOR → NOT)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9728" y="3108960"/>
            <a:ext cx="8924544" cy="384048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" y="283464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1168" y="28346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1168" y="310896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and NOR are mirror images (duals): swap AND ↔ OR and the recipes swap too.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" y="393192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9728" y="36576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1168" y="36576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Trick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01168" y="393192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you get in 2 steps is the one inside the name: NAND → AND,  NOR → 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Morgan’s Theorem — The Key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170432"/>
            <a:ext cx="4343400" cy="50292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896112"/>
            <a:ext cx="4343400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896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11704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pic>
        <p:nvPicPr>
          <p:cNvPr id="12" name="Image 0" descr="NOT(A·B) = NOT(A) + NOT(B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493" y="1188720"/>
            <a:ext cx="1245870" cy="3886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90872" y="1170432"/>
            <a:ext cx="4343400" cy="50292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896112"/>
            <a:ext cx="4343400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82312" y="896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82312" y="11704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pic>
        <p:nvPicPr>
          <p:cNvPr id="17" name="Image 1" descr="NOT(A + B) = NOT(A) · NOT(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487" y="1188720"/>
            <a:ext cx="136017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432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 =  OR with inverted inputs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 =  AND with inverted inputs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3749040" cy="847241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3749040" cy="856923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9728" y="3886200"/>
            <a:ext cx="8924544" cy="347472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9728" y="361188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01168" y="361188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201168" y="388620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bar, change the sign:  AND ↔ OR.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Boolean Function using only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Boolean function can be written as a Sum of Products (SOP), so every function can be built from NAND: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28016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SOP form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expand if needed, e.g.  A(B + C) = AB + AC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160934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AND–OR circuit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AND per product term, one OR at the output.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193852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every gate with NAND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AND–OR becomes NAND–NAND.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226771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Complemented input?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make NOT A with a NAND whose inputs are tied.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63347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596896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Single-literal term?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lone variable (like C) must enter the output NAND inverted.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AND–OR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NAND–NAND  (same function!)</a:t>
            </a:r>
            <a:endParaRPr lang="en-US" sz="13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73552"/>
            <a:ext cx="3017520" cy="142841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397764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3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273552"/>
            <a:ext cx="3017520" cy="14117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Y = AB + CD using only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double inversion, then De Morgan:</a:t>
            </a:r>
            <a:endParaRPr lang="en-US" sz="1400" dirty="0"/>
          </a:p>
        </p:txBody>
      </p:sp>
      <p:pic>
        <p:nvPicPr>
          <p:cNvPr id="9" name="Image 0" descr="Y = AB + C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28344"/>
            <a:ext cx="1163320" cy="345440"/>
          </a:xfrm>
          <a:prstGeom prst="rect">
            <a:avLst/>
          </a:prstGeom>
        </p:spPr>
      </p:pic>
      <p:pic>
        <p:nvPicPr>
          <p:cNvPr id="10" name="Image 1" descr="Y = NOT(NOT(AB + CD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94104"/>
            <a:ext cx="1187027" cy="345440"/>
          </a:xfrm>
          <a:prstGeom prst="rect">
            <a:avLst/>
          </a:prstGeom>
        </p:spPr>
      </p:pic>
      <p:pic>
        <p:nvPicPr>
          <p:cNvPr id="11" name="Image 2" descr="Y = NOT(NOT(AB) · NOT(CD)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59864"/>
            <a:ext cx="1148080" cy="3454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bar-term is a NAND gate → 3 NAND gates in total.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60120"/>
            <a:ext cx="3657600" cy="171115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09728" y="3840480"/>
            <a:ext cx="8924544" cy="384048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109728" y="356616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201168" y="356616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201168" y="3840480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AND–OR (sum of products) circuit  ⇒  replace every gate with NAND  ⇒  NAND–NAND circuit.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Verify Example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Suppose:</a:t>
            </a:r>
            <a:endParaRPr lang="en-US" sz="1400" dirty="0"/>
          </a:p>
        </p:txBody>
      </p:sp>
      <p:pic>
        <p:nvPicPr>
          <p:cNvPr id="9" name="Image 0" descr="A = 1,  B = 1,  C = 0,  D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2624"/>
            <a:ext cx="2394373" cy="345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7739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NAND:</a:t>
            </a:r>
            <a:endParaRPr lang="en-US" sz="1400" dirty="0"/>
          </a:p>
        </p:txBody>
      </p:sp>
      <p:pic>
        <p:nvPicPr>
          <p:cNvPr id="12" name="Image 1" descr="NOT(AB) = NAND(1, 1) =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80210"/>
            <a:ext cx="1785938" cy="323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1854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NAND:</a:t>
            </a:r>
            <a:endParaRPr lang="en-US" sz="1400" dirty="0"/>
          </a:p>
        </p:txBody>
      </p:sp>
      <p:pic>
        <p:nvPicPr>
          <p:cNvPr id="16" name="Image 2" descr="NOT(CD) = NAND(0, 1) =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091690"/>
            <a:ext cx="1808163" cy="3238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576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2560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NAND:</a:t>
            </a:r>
            <a:endParaRPr lang="en-US" sz="1400" dirty="0"/>
          </a:p>
        </p:txBody>
      </p:sp>
      <p:pic>
        <p:nvPicPr>
          <p:cNvPr id="20" name="Image 3" descr="Y = NAND(0, 1) =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503170"/>
            <a:ext cx="1647825" cy="32385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576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30083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endParaRPr lang="en-US" sz="1400" dirty="0"/>
          </a:p>
        </p:txBody>
      </p:sp>
      <p:pic>
        <p:nvPicPr>
          <p:cNvPr id="24" name="Image 4" descr="AB + CD = 1 + 0 = 1  ✓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914650"/>
            <a:ext cx="1933575" cy="32385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6576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960120"/>
            <a:ext cx="3474720" cy="16256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9728" y="3977640"/>
            <a:ext cx="8924544" cy="347472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9728" y="370332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201168" y="37033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Skill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201168" y="397764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4-input circuit has 2⁴ = 16 rows — verify all of them in the lab.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A Complemented Input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SOP form, but one term uses NOT A:</a:t>
            </a:r>
            <a:endParaRPr lang="en-US" sz="1400" dirty="0"/>
          </a:p>
        </p:txBody>
      </p:sp>
      <p:pic>
        <p:nvPicPr>
          <p:cNvPr id="9" name="Image 0" descr="F = NOT(A)B + 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7488"/>
            <a:ext cx="1151467" cy="345440"/>
          </a:xfrm>
          <a:prstGeom prst="rect">
            <a:avLst/>
          </a:prstGeom>
        </p:spPr>
      </p:pic>
      <p:pic>
        <p:nvPicPr>
          <p:cNvPr id="10" name="Image 1" descr="F = NOT(NOT(NOT(A)B + AC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67256"/>
            <a:ext cx="1175173" cy="345440"/>
          </a:xfrm>
          <a:prstGeom prst="rect">
            <a:avLst/>
          </a:prstGeom>
        </p:spPr>
      </p:pic>
      <p:pic>
        <p:nvPicPr>
          <p:cNvPr id="11" name="Image 2" descr="F = NOT(NOT(NOT(A)B) · NOT(AC)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78736"/>
            <a:ext cx="1136227" cy="3454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26883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6576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6517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A: NAND with tied inputs  (1)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65760" y="299923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576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29626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terms: two NANDs  (2)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6576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32735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NAND  (1)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432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4 NAND gates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4023360" cy="148045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9728" y="4343400"/>
            <a:ext cx="8924544" cy="329184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9728" y="406908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1168" y="406908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201168" y="4343400"/>
            <a:ext cx="8741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complemented input costs one extra NAND (inputs tied together).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Verify Example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Suppose:</a:t>
            </a:r>
            <a:endParaRPr lang="en-US" sz="1400" dirty="0"/>
          </a:p>
        </p:txBody>
      </p:sp>
      <p:pic>
        <p:nvPicPr>
          <p:cNvPr id="9" name="Image 0" descr="A = 0,  B = 1,  C =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2624"/>
            <a:ext cx="1755987" cy="345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7282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691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Inverter:</a:t>
            </a:r>
            <a:endParaRPr lang="en-US" sz="1400" dirty="0"/>
          </a:p>
        </p:txBody>
      </p:sp>
      <p:pic>
        <p:nvPicPr>
          <p:cNvPr id="12" name="Image 1" descr="NOT(A) = NAND(0, 0) =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34490"/>
            <a:ext cx="1658938" cy="323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11226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075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P:</a:t>
            </a:r>
            <a:endParaRPr lang="en-US" sz="1400" dirty="0"/>
          </a:p>
        </p:txBody>
      </p:sp>
      <p:pic>
        <p:nvPicPr>
          <p:cNvPr id="16" name="Image 2" descr="P = NAND(1, 1) = 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018538"/>
            <a:ext cx="1647825" cy="3238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5760" y="2112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65760" y="249631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24597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Q:</a:t>
            </a:r>
            <a:endParaRPr lang="en-US" sz="1400" dirty="0"/>
          </a:p>
        </p:txBody>
      </p:sp>
      <p:pic>
        <p:nvPicPr>
          <p:cNvPr id="20" name="Image 3" descr="Q = NAND(0, 0) =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402586"/>
            <a:ext cx="1668463" cy="32385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5760" y="2496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288036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2843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</p:txBody>
      </p:sp>
      <p:pic>
        <p:nvPicPr>
          <p:cNvPr id="24" name="Image 4" descr="F = NAND(0, 1) = 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786634"/>
            <a:ext cx="1636713" cy="32385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65760" y="2880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65760" y="326440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85800" y="3227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endParaRPr lang="en-US" sz="1400" dirty="0"/>
          </a:p>
        </p:txBody>
      </p:sp>
      <p:pic>
        <p:nvPicPr>
          <p:cNvPr id="28" name="Image 5" descr="NOT(A)B + AC = 1 + 0 = 1  ✓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3170682"/>
            <a:ext cx="1933575" cy="32385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6576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30" name="Image 6" descr="P = NOT(NOT(A)B),    Q = NOT(AC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871" y="879348"/>
            <a:ext cx="1403138" cy="302260"/>
          </a:xfrm>
          <a:prstGeom prst="rect">
            <a:avLst/>
          </a:prstGeom>
        </p:spPr>
      </p:pic>
      <p:pic>
        <p:nvPicPr>
          <p:cNvPr id="31" name="Image 7" descr="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495" y="1235964"/>
            <a:ext cx="137795" cy="302260"/>
          </a:xfrm>
          <a:prstGeom prst="rect">
            <a:avLst/>
          </a:prstGeom>
        </p:spPr>
      </p:pic>
      <p:pic>
        <p:nvPicPr>
          <p:cNvPr id="32" name="Image 8" descr="B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5559" y="1235964"/>
            <a:ext cx="137795" cy="302260"/>
          </a:xfrm>
          <a:prstGeom prst="rect">
            <a:avLst/>
          </a:prstGeom>
        </p:spPr>
      </p:pic>
      <p:pic>
        <p:nvPicPr>
          <p:cNvPr id="33" name="Image 9" descr="C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437" y="1235964"/>
            <a:ext cx="148167" cy="302260"/>
          </a:xfrm>
          <a:prstGeom prst="rect">
            <a:avLst/>
          </a:prstGeom>
        </p:spPr>
      </p:pic>
      <p:pic>
        <p:nvPicPr>
          <p:cNvPr id="34" name="Image 10" descr="NOT(A)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4501" y="1235964"/>
            <a:ext cx="148167" cy="302260"/>
          </a:xfrm>
          <a:prstGeom prst="rect">
            <a:avLst/>
          </a:prstGeom>
        </p:spPr>
      </p:pic>
      <p:pic>
        <p:nvPicPr>
          <p:cNvPr id="35" name="Image 11" descr="P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1751" y="1235964"/>
            <a:ext cx="137795" cy="302260"/>
          </a:xfrm>
          <a:prstGeom prst="rect">
            <a:avLst/>
          </a:prstGeom>
        </p:spPr>
      </p:pic>
      <p:pic>
        <p:nvPicPr>
          <p:cNvPr id="36" name="Image 12" descr="Q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4184" y="1235964"/>
            <a:ext cx="157057" cy="302260"/>
          </a:xfrm>
          <a:prstGeom prst="rect">
            <a:avLst/>
          </a:prstGeom>
        </p:spPr>
      </p:pic>
      <p:pic>
        <p:nvPicPr>
          <p:cNvPr id="37" name="Image 13" descr="F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1064" y="1235964"/>
            <a:ext cx="127423" cy="30226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5166360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5678424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Text 24"/>
          <p:cNvSpPr txBox="1"/>
          <p:nvPr/>
        </p:nvSpPr>
        <p:spPr>
          <a:xfrm>
            <a:off x="6190488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1" name="Text 25"/>
          <p:cNvSpPr txBox="1"/>
          <p:nvPr/>
        </p:nvSpPr>
        <p:spPr>
          <a:xfrm>
            <a:off x="6702552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26"/>
          <p:cNvSpPr txBox="1"/>
          <p:nvPr/>
        </p:nvSpPr>
        <p:spPr>
          <a:xfrm>
            <a:off x="7214616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27"/>
          <p:cNvSpPr txBox="1"/>
          <p:nvPr/>
        </p:nvSpPr>
        <p:spPr>
          <a:xfrm>
            <a:off x="7726680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28"/>
          <p:cNvSpPr txBox="1"/>
          <p:nvPr/>
        </p:nvSpPr>
        <p:spPr>
          <a:xfrm>
            <a:off x="8238744" y="1554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Text 29"/>
          <p:cNvSpPr txBox="1"/>
          <p:nvPr/>
        </p:nvSpPr>
        <p:spPr>
          <a:xfrm>
            <a:off x="5166360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6" name="Text 30"/>
          <p:cNvSpPr txBox="1"/>
          <p:nvPr/>
        </p:nvSpPr>
        <p:spPr>
          <a:xfrm>
            <a:off x="5678424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6190488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32"/>
          <p:cNvSpPr txBox="1"/>
          <p:nvPr/>
        </p:nvSpPr>
        <p:spPr>
          <a:xfrm>
            <a:off x="6702552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7214616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34"/>
          <p:cNvSpPr txBox="1"/>
          <p:nvPr/>
        </p:nvSpPr>
        <p:spPr>
          <a:xfrm>
            <a:off x="7726680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38744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Text 36"/>
          <p:cNvSpPr txBox="1"/>
          <p:nvPr/>
        </p:nvSpPr>
        <p:spPr>
          <a:xfrm>
            <a:off x="5166360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Text 37"/>
          <p:cNvSpPr txBox="1"/>
          <p:nvPr/>
        </p:nvSpPr>
        <p:spPr>
          <a:xfrm>
            <a:off x="5678424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4" name="Text 38"/>
          <p:cNvSpPr txBox="1"/>
          <p:nvPr/>
        </p:nvSpPr>
        <p:spPr>
          <a:xfrm>
            <a:off x="6190488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55" name="Text 39"/>
          <p:cNvSpPr txBox="1"/>
          <p:nvPr/>
        </p:nvSpPr>
        <p:spPr>
          <a:xfrm>
            <a:off x="6702552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Text 40"/>
          <p:cNvSpPr txBox="1"/>
          <p:nvPr/>
        </p:nvSpPr>
        <p:spPr>
          <a:xfrm>
            <a:off x="7214616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57" name="Text 41"/>
          <p:cNvSpPr txBox="1"/>
          <p:nvPr/>
        </p:nvSpPr>
        <p:spPr>
          <a:xfrm>
            <a:off x="7726680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Text 42"/>
          <p:cNvSpPr txBox="1"/>
          <p:nvPr/>
        </p:nvSpPr>
        <p:spPr>
          <a:xfrm>
            <a:off x="8238744" y="2103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Text 43"/>
          <p:cNvSpPr txBox="1"/>
          <p:nvPr/>
        </p:nvSpPr>
        <p:spPr>
          <a:xfrm>
            <a:off x="5166360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Text 44"/>
          <p:cNvSpPr txBox="1"/>
          <p:nvPr/>
        </p:nvSpPr>
        <p:spPr>
          <a:xfrm>
            <a:off x="5678424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Text 45"/>
          <p:cNvSpPr txBox="1"/>
          <p:nvPr/>
        </p:nvSpPr>
        <p:spPr>
          <a:xfrm>
            <a:off x="6190488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46"/>
          <p:cNvSpPr txBox="1"/>
          <p:nvPr/>
        </p:nvSpPr>
        <p:spPr>
          <a:xfrm>
            <a:off x="6702552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3" name="Text 47"/>
          <p:cNvSpPr txBox="1"/>
          <p:nvPr/>
        </p:nvSpPr>
        <p:spPr>
          <a:xfrm>
            <a:off x="7214616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Text 48"/>
          <p:cNvSpPr txBox="1"/>
          <p:nvPr/>
        </p:nvSpPr>
        <p:spPr>
          <a:xfrm>
            <a:off x="7726680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5" name="Text 49"/>
          <p:cNvSpPr txBox="1"/>
          <p:nvPr/>
        </p:nvSpPr>
        <p:spPr>
          <a:xfrm>
            <a:off x="8238744" y="23774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6" name="Text 50"/>
          <p:cNvSpPr txBox="1"/>
          <p:nvPr/>
        </p:nvSpPr>
        <p:spPr>
          <a:xfrm>
            <a:off x="5166360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51"/>
          <p:cNvSpPr txBox="1"/>
          <p:nvPr/>
        </p:nvSpPr>
        <p:spPr>
          <a:xfrm>
            <a:off x="5678424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8" name="Text 52"/>
          <p:cNvSpPr txBox="1"/>
          <p:nvPr/>
        </p:nvSpPr>
        <p:spPr>
          <a:xfrm>
            <a:off x="6190488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9" name="Text 53"/>
          <p:cNvSpPr txBox="1"/>
          <p:nvPr/>
        </p:nvSpPr>
        <p:spPr>
          <a:xfrm>
            <a:off x="6702552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0" name="Text 54"/>
          <p:cNvSpPr txBox="1"/>
          <p:nvPr/>
        </p:nvSpPr>
        <p:spPr>
          <a:xfrm>
            <a:off x="7214616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Text 55"/>
          <p:cNvSpPr txBox="1"/>
          <p:nvPr/>
        </p:nvSpPr>
        <p:spPr>
          <a:xfrm>
            <a:off x="7726680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56"/>
          <p:cNvSpPr txBox="1"/>
          <p:nvPr/>
        </p:nvSpPr>
        <p:spPr>
          <a:xfrm>
            <a:off x="8238744" y="26517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3" name="Text 57"/>
          <p:cNvSpPr txBox="1"/>
          <p:nvPr/>
        </p:nvSpPr>
        <p:spPr>
          <a:xfrm>
            <a:off x="5166360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4" name="Text 58"/>
          <p:cNvSpPr txBox="1"/>
          <p:nvPr/>
        </p:nvSpPr>
        <p:spPr>
          <a:xfrm>
            <a:off x="5678424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5" name="Text 59"/>
          <p:cNvSpPr txBox="1"/>
          <p:nvPr/>
        </p:nvSpPr>
        <p:spPr>
          <a:xfrm>
            <a:off x="6190488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60"/>
          <p:cNvSpPr txBox="1"/>
          <p:nvPr/>
        </p:nvSpPr>
        <p:spPr>
          <a:xfrm>
            <a:off x="6702552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7" name="Text 61"/>
          <p:cNvSpPr txBox="1"/>
          <p:nvPr/>
        </p:nvSpPr>
        <p:spPr>
          <a:xfrm>
            <a:off x="7214616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8" name="Text 62"/>
          <p:cNvSpPr txBox="1"/>
          <p:nvPr/>
        </p:nvSpPr>
        <p:spPr>
          <a:xfrm>
            <a:off x="7726680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9" name="Text 63"/>
          <p:cNvSpPr txBox="1"/>
          <p:nvPr/>
        </p:nvSpPr>
        <p:spPr>
          <a:xfrm>
            <a:off x="8238744" y="29260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Text 64"/>
          <p:cNvSpPr txBox="1"/>
          <p:nvPr/>
        </p:nvSpPr>
        <p:spPr>
          <a:xfrm>
            <a:off x="5166360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1" name="Text 65"/>
          <p:cNvSpPr txBox="1"/>
          <p:nvPr/>
        </p:nvSpPr>
        <p:spPr>
          <a:xfrm>
            <a:off x="5678424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2" name="Text 66"/>
          <p:cNvSpPr txBox="1"/>
          <p:nvPr/>
        </p:nvSpPr>
        <p:spPr>
          <a:xfrm>
            <a:off x="6190488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83" name="Text 67"/>
          <p:cNvSpPr txBox="1"/>
          <p:nvPr/>
        </p:nvSpPr>
        <p:spPr>
          <a:xfrm>
            <a:off x="6702552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84" name="Text 68"/>
          <p:cNvSpPr txBox="1"/>
          <p:nvPr/>
        </p:nvSpPr>
        <p:spPr>
          <a:xfrm>
            <a:off x="7214616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5" name="Text 69"/>
          <p:cNvSpPr txBox="1"/>
          <p:nvPr/>
        </p:nvSpPr>
        <p:spPr>
          <a:xfrm>
            <a:off x="7726680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6" name="Text 70"/>
          <p:cNvSpPr txBox="1"/>
          <p:nvPr/>
        </p:nvSpPr>
        <p:spPr>
          <a:xfrm>
            <a:off x="8238744" y="32004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87" name="Text 71"/>
          <p:cNvSpPr txBox="1"/>
          <p:nvPr/>
        </p:nvSpPr>
        <p:spPr>
          <a:xfrm>
            <a:off x="5166360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8" name="Text 72"/>
          <p:cNvSpPr txBox="1"/>
          <p:nvPr/>
        </p:nvSpPr>
        <p:spPr>
          <a:xfrm>
            <a:off x="5678424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9" name="Text 73"/>
          <p:cNvSpPr txBox="1"/>
          <p:nvPr/>
        </p:nvSpPr>
        <p:spPr>
          <a:xfrm>
            <a:off x="6190488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0" name="Text 74"/>
          <p:cNvSpPr txBox="1"/>
          <p:nvPr/>
        </p:nvSpPr>
        <p:spPr>
          <a:xfrm>
            <a:off x="6702552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91" name="Text 75"/>
          <p:cNvSpPr txBox="1"/>
          <p:nvPr/>
        </p:nvSpPr>
        <p:spPr>
          <a:xfrm>
            <a:off x="7214616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2" name="Text 76"/>
          <p:cNvSpPr txBox="1"/>
          <p:nvPr/>
        </p:nvSpPr>
        <p:spPr>
          <a:xfrm>
            <a:off x="7726680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93" name="Text 77"/>
          <p:cNvSpPr txBox="1"/>
          <p:nvPr/>
        </p:nvSpPr>
        <p:spPr>
          <a:xfrm>
            <a:off x="8238744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4" name="Shape 78"/>
          <p:cNvSpPr/>
          <p:nvPr/>
        </p:nvSpPr>
        <p:spPr>
          <a:xfrm>
            <a:off x="5166360" y="1280160"/>
            <a:ext cx="35844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5" name="Shape 79"/>
          <p:cNvSpPr/>
          <p:nvPr/>
        </p:nvSpPr>
        <p:spPr>
          <a:xfrm>
            <a:off x="5166360" y="1554480"/>
            <a:ext cx="358444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6" name="Shape 80"/>
          <p:cNvSpPr/>
          <p:nvPr/>
        </p:nvSpPr>
        <p:spPr>
          <a:xfrm>
            <a:off x="5166360" y="3749040"/>
            <a:ext cx="35844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7" name="Text 81"/>
          <p:cNvSpPr txBox="1"/>
          <p:nvPr/>
        </p:nvSpPr>
        <p:spPr>
          <a:xfrm>
            <a:off x="51663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inputs → 2³ = 8 rows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Classwork: Implement using only NAND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each function using ONLY NAND gates: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2057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0" descr="F = NOT(A)B +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5628"/>
            <a:ext cx="1143000" cy="388620"/>
          </a:xfrm>
          <a:prstGeom prst="rect">
            <a:avLst/>
          </a:prstGeom>
        </p:spPr>
      </p:pic>
      <p:pic>
        <p:nvPicPr>
          <p:cNvPr id="12" name="Image 1" descr="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285" y="1252728"/>
            <a:ext cx="118110" cy="259080"/>
          </a:xfrm>
          <a:prstGeom prst="rect">
            <a:avLst/>
          </a:prstGeom>
        </p:spPr>
      </p:pic>
      <p:pic>
        <p:nvPicPr>
          <p:cNvPr id="13" name="Image 2" descr="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765" y="1252728"/>
            <a:ext cx="118110" cy="259080"/>
          </a:xfrm>
          <a:prstGeom prst="rect">
            <a:avLst/>
          </a:prstGeom>
        </p:spPr>
      </p:pic>
      <p:pic>
        <p:nvPicPr>
          <p:cNvPr id="14" name="Image 3" descr="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800" y="1252728"/>
            <a:ext cx="127000" cy="259080"/>
          </a:xfrm>
          <a:prstGeom prst="rect">
            <a:avLst/>
          </a:prstGeom>
        </p:spPr>
      </p:pic>
      <p:pic>
        <p:nvPicPr>
          <p:cNvPr id="15" name="Image 4" descr="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750" y="1252728"/>
            <a:ext cx="109220" cy="2590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51460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292608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333756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3749040" y="1517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251460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292608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333756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3749040" y="173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251460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292608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333756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3749040" y="1956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251460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292608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333756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3749040" y="21762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251460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292608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333756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3749040" y="2395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51460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292608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333756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3749040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251460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292608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333756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3749040" y="2834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251460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292608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333756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3749040" y="3054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2514600" y="1298448"/>
            <a:ext cx="1783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2514600" y="1517904"/>
            <a:ext cx="178308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514600" y="3273552"/>
            <a:ext cx="1783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48463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1500" dirty="0"/>
          </a:p>
        </p:txBody>
      </p:sp>
      <p:sp>
        <p:nvSpPr>
          <p:cNvPr id="52" name="Shape 45"/>
          <p:cNvSpPr/>
          <p:nvPr/>
        </p:nvSpPr>
        <p:spPr>
          <a:xfrm>
            <a:off x="4892040" y="1600200"/>
            <a:ext cx="2057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53" name="Image 5" descr="F = AB + NOT(C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595628"/>
            <a:ext cx="1143000" cy="388620"/>
          </a:xfrm>
          <a:prstGeom prst="rect">
            <a:avLst/>
          </a:prstGeom>
        </p:spPr>
      </p:pic>
      <p:pic>
        <p:nvPicPr>
          <p:cNvPr id="54" name="Image 6" descr="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3285" y="1252728"/>
            <a:ext cx="118110" cy="259080"/>
          </a:xfrm>
          <a:prstGeom prst="rect">
            <a:avLst/>
          </a:prstGeom>
        </p:spPr>
      </p:pic>
      <p:pic>
        <p:nvPicPr>
          <p:cNvPr id="55" name="Image 7" descr="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765" y="1252728"/>
            <a:ext cx="118110" cy="259080"/>
          </a:xfrm>
          <a:prstGeom prst="rect">
            <a:avLst/>
          </a:prstGeom>
        </p:spPr>
      </p:pic>
      <p:pic>
        <p:nvPicPr>
          <p:cNvPr id="56" name="Image 8" descr="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0" y="1252728"/>
            <a:ext cx="127000" cy="259080"/>
          </a:xfrm>
          <a:prstGeom prst="rect">
            <a:avLst/>
          </a:prstGeom>
        </p:spPr>
      </p:pic>
      <p:pic>
        <p:nvPicPr>
          <p:cNvPr id="57" name="Image 9" descr="F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0750" y="1252728"/>
            <a:ext cx="109220" cy="25908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708660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Text 47"/>
          <p:cNvSpPr txBox="1"/>
          <p:nvPr/>
        </p:nvSpPr>
        <p:spPr>
          <a:xfrm>
            <a:off x="749808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0" name="Text 48"/>
          <p:cNvSpPr txBox="1"/>
          <p:nvPr/>
        </p:nvSpPr>
        <p:spPr>
          <a:xfrm>
            <a:off x="7909560" y="1517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Text 49"/>
          <p:cNvSpPr txBox="1"/>
          <p:nvPr/>
        </p:nvSpPr>
        <p:spPr>
          <a:xfrm>
            <a:off x="8321040" y="1517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2" name="Text 50"/>
          <p:cNvSpPr txBox="1"/>
          <p:nvPr/>
        </p:nvSpPr>
        <p:spPr>
          <a:xfrm>
            <a:off x="708660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Text 51"/>
          <p:cNvSpPr txBox="1"/>
          <p:nvPr/>
        </p:nvSpPr>
        <p:spPr>
          <a:xfrm>
            <a:off x="749808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4" name="Text 52"/>
          <p:cNvSpPr txBox="1"/>
          <p:nvPr/>
        </p:nvSpPr>
        <p:spPr>
          <a:xfrm>
            <a:off x="790956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5" name="Text 53"/>
          <p:cNvSpPr txBox="1"/>
          <p:nvPr/>
        </p:nvSpPr>
        <p:spPr>
          <a:xfrm>
            <a:off x="8321040" y="173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6" name="Text 54"/>
          <p:cNvSpPr txBox="1"/>
          <p:nvPr/>
        </p:nvSpPr>
        <p:spPr>
          <a:xfrm>
            <a:off x="708660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Text 55"/>
          <p:cNvSpPr txBox="1"/>
          <p:nvPr/>
        </p:nvSpPr>
        <p:spPr>
          <a:xfrm>
            <a:off x="749808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8" name="Text 56"/>
          <p:cNvSpPr txBox="1"/>
          <p:nvPr/>
        </p:nvSpPr>
        <p:spPr>
          <a:xfrm>
            <a:off x="7909560" y="1956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Text 57"/>
          <p:cNvSpPr txBox="1"/>
          <p:nvPr/>
        </p:nvSpPr>
        <p:spPr>
          <a:xfrm>
            <a:off x="8321040" y="1956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0" name="Text 58"/>
          <p:cNvSpPr txBox="1"/>
          <p:nvPr/>
        </p:nvSpPr>
        <p:spPr>
          <a:xfrm>
            <a:off x="708660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Text 59"/>
          <p:cNvSpPr txBox="1"/>
          <p:nvPr/>
        </p:nvSpPr>
        <p:spPr>
          <a:xfrm>
            <a:off x="749808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2" name="Text 60"/>
          <p:cNvSpPr txBox="1"/>
          <p:nvPr/>
        </p:nvSpPr>
        <p:spPr>
          <a:xfrm>
            <a:off x="7909560" y="2176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61"/>
          <p:cNvSpPr txBox="1"/>
          <p:nvPr/>
        </p:nvSpPr>
        <p:spPr>
          <a:xfrm>
            <a:off x="8321040" y="21762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4" name="Text 62"/>
          <p:cNvSpPr txBox="1"/>
          <p:nvPr/>
        </p:nvSpPr>
        <p:spPr>
          <a:xfrm>
            <a:off x="708660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Text 63"/>
          <p:cNvSpPr txBox="1"/>
          <p:nvPr/>
        </p:nvSpPr>
        <p:spPr>
          <a:xfrm>
            <a:off x="749808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76" name="Text 64"/>
          <p:cNvSpPr txBox="1"/>
          <p:nvPr/>
        </p:nvSpPr>
        <p:spPr>
          <a:xfrm>
            <a:off x="7909560" y="23957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Text 65"/>
          <p:cNvSpPr txBox="1"/>
          <p:nvPr/>
        </p:nvSpPr>
        <p:spPr>
          <a:xfrm>
            <a:off x="8321040" y="2395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8" name="Text 66"/>
          <p:cNvSpPr txBox="1"/>
          <p:nvPr/>
        </p:nvSpPr>
        <p:spPr>
          <a:xfrm>
            <a:off x="708660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Text 67"/>
          <p:cNvSpPr txBox="1"/>
          <p:nvPr/>
        </p:nvSpPr>
        <p:spPr>
          <a:xfrm>
            <a:off x="749808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0" name="Text 68"/>
          <p:cNvSpPr txBox="1"/>
          <p:nvPr/>
        </p:nvSpPr>
        <p:spPr>
          <a:xfrm>
            <a:off x="7909560" y="26151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69"/>
          <p:cNvSpPr txBox="1"/>
          <p:nvPr/>
        </p:nvSpPr>
        <p:spPr>
          <a:xfrm>
            <a:off x="8321040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2" name="Text 70"/>
          <p:cNvSpPr txBox="1"/>
          <p:nvPr/>
        </p:nvSpPr>
        <p:spPr>
          <a:xfrm>
            <a:off x="708660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3" name="Text 71"/>
          <p:cNvSpPr txBox="1"/>
          <p:nvPr/>
        </p:nvSpPr>
        <p:spPr>
          <a:xfrm>
            <a:off x="749808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4" name="Text 72"/>
          <p:cNvSpPr txBox="1"/>
          <p:nvPr/>
        </p:nvSpPr>
        <p:spPr>
          <a:xfrm>
            <a:off x="7909560" y="2834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5" name="Text 73"/>
          <p:cNvSpPr txBox="1"/>
          <p:nvPr/>
        </p:nvSpPr>
        <p:spPr>
          <a:xfrm>
            <a:off x="8321040" y="2834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6" name="Text 74"/>
          <p:cNvSpPr txBox="1"/>
          <p:nvPr/>
        </p:nvSpPr>
        <p:spPr>
          <a:xfrm>
            <a:off x="708660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7" name="Text 75"/>
          <p:cNvSpPr txBox="1"/>
          <p:nvPr/>
        </p:nvSpPr>
        <p:spPr>
          <a:xfrm>
            <a:off x="749808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Text 76"/>
          <p:cNvSpPr txBox="1"/>
          <p:nvPr/>
        </p:nvSpPr>
        <p:spPr>
          <a:xfrm>
            <a:off x="7909560" y="30540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Text 77"/>
          <p:cNvSpPr txBox="1"/>
          <p:nvPr/>
        </p:nvSpPr>
        <p:spPr>
          <a:xfrm>
            <a:off x="8321040" y="3054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0" name="Shape 78"/>
          <p:cNvSpPr/>
          <p:nvPr/>
        </p:nvSpPr>
        <p:spPr>
          <a:xfrm>
            <a:off x="7086600" y="1298448"/>
            <a:ext cx="1783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7086600" y="1517904"/>
            <a:ext cx="178308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7086600" y="3273552"/>
            <a:ext cx="1783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109728" y="3566160"/>
            <a:ext cx="8924544" cy="658368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4" name="Shape 82"/>
          <p:cNvSpPr/>
          <p:nvPr/>
        </p:nvSpPr>
        <p:spPr>
          <a:xfrm>
            <a:off x="109728" y="3291840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95" name="Text 83"/>
          <p:cNvSpPr txBox="1"/>
          <p:nvPr/>
        </p:nvSpPr>
        <p:spPr>
          <a:xfrm>
            <a:off x="201168" y="32918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problem</a:t>
            </a:r>
            <a:endParaRPr lang="en-US" sz="1400" dirty="0"/>
          </a:p>
        </p:txBody>
      </p:sp>
      <p:sp>
        <p:nvSpPr>
          <p:cNvPr id="96" name="Text 84"/>
          <p:cNvSpPr txBox="1"/>
          <p:nvPr/>
        </p:nvSpPr>
        <p:spPr>
          <a:xfrm>
            <a:off x="201168" y="3566160"/>
            <a:ext cx="8741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Rewrite F in NAND-only form.    2  Draw the circuit.    3  Count the NAND gates.    4  Fill the truth table and verify in Logisim.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the complemented input (NOT A), and the single-literal terms C and NOT C — a term that is just one variable.</a:t>
            </a:r>
            <a:endParaRPr lang="en-US" sz="1200" dirty="0"/>
          </a:p>
        </p:txBody>
      </p:sp>
      <p:sp>
        <p:nvSpPr>
          <p:cNvPr id="97" name="Shape 85"/>
          <p:cNvSpPr/>
          <p:nvPr/>
        </p:nvSpPr>
        <p:spPr>
          <a:xfrm>
            <a:off x="109728" y="4572000"/>
            <a:ext cx="8924544" cy="274320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8" name="Shape 86"/>
          <p:cNvSpPr/>
          <p:nvPr/>
        </p:nvSpPr>
        <p:spPr>
          <a:xfrm>
            <a:off x="109728" y="429768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99" name="Text 87"/>
          <p:cNvSpPr txBox="1"/>
          <p:nvPr/>
        </p:nvSpPr>
        <p:spPr>
          <a:xfrm>
            <a:off x="201168" y="429768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400" dirty="0"/>
          </a:p>
        </p:txBody>
      </p:sp>
      <p:sp>
        <p:nvSpPr>
          <p:cNvPr id="100" name="Text 88"/>
          <p:cNvSpPr txBox="1"/>
          <p:nvPr/>
        </p:nvSpPr>
        <p:spPr>
          <a:xfrm>
            <a:off x="201168" y="45720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problems need a different number of gates. Why?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Classwork — Solution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40</a:t>
            </a:r>
            <a:endParaRPr lang="en-US" sz="900" dirty="0"/>
          </a:p>
        </p:txBody>
      </p:sp>
      <p:pic>
        <p:nvPicPr>
          <p:cNvPr id="8" name="Image 0" descr="F = NOT(A)B +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1728"/>
            <a:ext cx="1016000" cy="345440"/>
          </a:xfrm>
          <a:prstGeom prst="rect">
            <a:avLst/>
          </a:prstGeom>
        </p:spPr>
      </p:pic>
      <p:pic>
        <p:nvPicPr>
          <p:cNvPr id="9" name="Image 1" descr="F = NOT(NOT(NOT(A)B + C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1496"/>
            <a:ext cx="1039707" cy="345440"/>
          </a:xfrm>
          <a:prstGeom prst="rect">
            <a:avLst/>
          </a:prstGeom>
        </p:spPr>
      </p:pic>
      <p:pic>
        <p:nvPicPr>
          <p:cNvPr id="10" name="Image 2" descr="F = NOT(NOT(NOT(A)B) · NOT(C)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12976"/>
            <a:ext cx="1000760" cy="3454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65760" y="22768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2240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A:</a:t>
            </a:r>
            <a:endParaRPr lang="en-US" sz="1300" dirty="0"/>
          </a:p>
        </p:txBody>
      </p:sp>
      <p:pic>
        <p:nvPicPr>
          <p:cNvPr id="13" name="Image 3" descr="NOT(A) = NAND(A, A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196084"/>
            <a:ext cx="1294977" cy="3022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65760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65760" y="267919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85800" y="2642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300" dirty="0"/>
          </a:p>
        </p:txBody>
      </p:sp>
      <p:pic>
        <p:nvPicPr>
          <p:cNvPr id="17" name="Image 4" descr="NOT(NOT(A)B) = NAND(NOT(A), B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2598420"/>
            <a:ext cx="1434253" cy="3022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65760" y="2679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365760" y="308152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85800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C:</a:t>
            </a:r>
            <a:endParaRPr lang="en-US" sz="1300" dirty="0"/>
          </a:p>
        </p:txBody>
      </p:sp>
      <p:pic>
        <p:nvPicPr>
          <p:cNvPr id="21" name="Image 5" descr="NOT(C) = NAND(C, C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000756"/>
            <a:ext cx="1326092" cy="3022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65760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365760" y="348386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85800" y="34472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00" dirty="0"/>
          </a:p>
        </p:txBody>
      </p:sp>
      <p:pic>
        <p:nvPicPr>
          <p:cNvPr id="25" name="Image 6" descr="F = NAND(NOT(NOT(A)B), NOT(C)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3403092"/>
            <a:ext cx="1434253" cy="3022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65760" y="3483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868680"/>
            <a:ext cx="3931920" cy="1361704"/>
          </a:xfrm>
          <a:prstGeom prst="rect">
            <a:avLst/>
          </a:prstGeom>
        </p:spPr>
      </p:pic>
      <p:pic>
        <p:nvPicPr>
          <p:cNvPr id="28" name="Image 8" descr="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8184" y="2561082"/>
            <a:ext cx="127953" cy="280670"/>
          </a:xfrm>
          <a:prstGeom prst="rect">
            <a:avLst/>
          </a:prstGeom>
        </p:spPr>
      </p:pic>
      <p:pic>
        <p:nvPicPr>
          <p:cNvPr id="29" name="Image 9" descr="B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704" y="2561082"/>
            <a:ext cx="127953" cy="280670"/>
          </a:xfrm>
          <a:prstGeom prst="rect">
            <a:avLst/>
          </a:prstGeom>
        </p:spPr>
      </p:pic>
      <p:pic>
        <p:nvPicPr>
          <p:cNvPr id="30" name="Image 10" descr="C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408" y="2561082"/>
            <a:ext cx="137583" cy="280670"/>
          </a:xfrm>
          <a:prstGeom prst="rect">
            <a:avLst/>
          </a:prstGeom>
        </p:spPr>
      </p:pic>
      <p:pic>
        <p:nvPicPr>
          <p:cNvPr id="31" name="Image 11" descr="F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7559" y="2561082"/>
            <a:ext cx="118322" cy="28067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486400" y="2852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19"/>
          <p:cNvSpPr txBox="1"/>
          <p:nvPr/>
        </p:nvSpPr>
        <p:spPr>
          <a:xfrm>
            <a:off x="6217920" y="2852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20"/>
          <p:cNvSpPr txBox="1"/>
          <p:nvPr/>
        </p:nvSpPr>
        <p:spPr>
          <a:xfrm>
            <a:off x="6949440" y="2852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7680960" y="2852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5486400" y="30998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Text 23"/>
          <p:cNvSpPr txBox="1"/>
          <p:nvPr/>
        </p:nvSpPr>
        <p:spPr>
          <a:xfrm>
            <a:off x="6217920" y="30998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6949440" y="30998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7680960" y="30998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26"/>
          <p:cNvSpPr txBox="1"/>
          <p:nvPr/>
        </p:nvSpPr>
        <p:spPr>
          <a:xfrm>
            <a:off x="5486400" y="33467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6217920" y="33467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6949440" y="33467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Text 29"/>
          <p:cNvSpPr txBox="1"/>
          <p:nvPr/>
        </p:nvSpPr>
        <p:spPr>
          <a:xfrm>
            <a:off x="7680960" y="33467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5486400" y="35935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6217920" y="35935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32"/>
          <p:cNvSpPr txBox="1"/>
          <p:nvPr/>
        </p:nvSpPr>
        <p:spPr>
          <a:xfrm>
            <a:off x="6949440" y="35935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33"/>
          <p:cNvSpPr txBox="1"/>
          <p:nvPr/>
        </p:nvSpPr>
        <p:spPr>
          <a:xfrm>
            <a:off x="7680960" y="35935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34"/>
          <p:cNvSpPr txBox="1"/>
          <p:nvPr/>
        </p:nvSpPr>
        <p:spPr>
          <a:xfrm>
            <a:off x="5486400" y="38404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35"/>
          <p:cNvSpPr txBox="1"/>
          <p:nvPr/>
        </p:nvSpPr>
        <p:spPr>
          <a:xfrm>
            <a:off x="6217920" y="38404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6949440" y="38404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37"/>
          <p:cNvSpPr txBox="1"/>
          <p:nvPr/>
        </p:nvSpPr>
        <p:spPr>
          <a:xfrm>
            <a:off x="7680960" y="38404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38"/>
          <p:cNvSpPr txBox="1"/>
          <p:nvPr/>
        </p:nvSpPr>
        <p:spPr>
          <a:xfrm>
            <a:off x="5486400" y="40873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39"/>
          <p:cNvSpPr txBox="1"/>
          <p:nvPr/>
        </p:nvSpPr>
        <p:spPr>
          <a:xfrm>
            <a:off x="6217920" y="40873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Text 40"/>
          <p:cNvSpPr txBox="1"/>
          <p:nvPr/>
        </p:nvSpPr>
        <p:spPr>
          <a:xfrm>
            <a:off x="6949440" y="40873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7680960" y="40873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5486400" y="4334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6217920" y="4334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44"/>
          <p:cNvSpPr txBox="1"/>
          <p:nvPr/>
        </p:nvSpPr>
        <p:spPr>
          <a:xfrm>
            <a:off x="6949440" y="4334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45"/>
          <p:cNvSpPr txBox="1"/>
          <p:nvPr/>
        </p:nvSpPr>
        <p:spPr>
          <a:xfrm>
            <a:off x="7680960" y="4334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5486400" y="45811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217920" y="45811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48"/>
          <p:cNvSpPr txBox="1"/>
          <p:nvPr/>
        </p:nvSpPr>
        <p:spPr>
          <a:xfrm>
            <a:off x="6949440" y="45811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Text 49"/>
          <p:cNvSpPr txBox="1"/>
          <p:nvPr/>
        </p:nvSpPr>
        <p:spPr>
          <a:xfrm>
            <a:off x="7680960" y="45811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50"/>
          <p:cNvSpPr/>
          <p:nvPr/>
        </p:nvSpPr>
        <p:spPr>
          <a:xfrm>
            <a:off x="5486400" y="2606040"/>
            <a:ext cx="2926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5486400" y="2852928"/>
            <a:ext cx="292608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66" name="Shape 52"/>
          <p:cNvSpPr/>
          <p:nvPr/>
        </p:nvSpPr>
        <p:spPr>
          <a:xfrm>
            <a:off x="5486400" y="4828032"/>
            <a:ext cx="2926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109728" y="4114800"/>
            <a:ext cx="4754880" cy="59436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8" name="Shape 54"/>
          <p:cNvSpPr/>
          <p:nvPr/>
        </p:nvSpPr>
        <p:spPr>
          <a:xfrm>
            <a:off x="109728" y="3840480"/>
            <a:ext cx="4754880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201168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0" name="Text 56"/>
          <p:cNvSpPr txBox="1"/>
          <p:nvPr/>
        </p:nvSpPr>
        <p:spPr>
          <a:xfrm>
            <a:off x="201168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NAND gates. C is a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single-literal term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 has no first-level NAND, so nothing inverts it. Invert it yourself.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term were NOT C, you would wire C straight in: no extra gate.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Classwork — Solution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40</a:t>
            </a:r>
            <a:endParaRPr lang="en-US" sz="900" dirty="0"/>
          </a:p>
        </p:txBody>
      </p:sp>
      <p:pic>
        <p:nvPicPr>
          <p:cNvPr id="8" name="Image 0" descr="F = AB + NOT(C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71728"/>
            <a:ext cx="1016000" cy="345440"/>
          </a:xfrm>
          <a:prstGeom prst="rect">
            <a:avLst/>
          </a:prstGeom>
        </p:spPr>
      </p:pic>
      <p:pic>
        <p:nvPicPr>
          <p:cNvPr id="9" name="Image 1" descr="F = NOT(NOT(AB + NOT(C))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9784"/>
            <a:ext cx="1039707" cy="345440"/>
          </a:xfrm>
          <a:prstGeom prst="rect">
            <a:avLst/>
          </a:prstGeom>
        </p:spPr>
      </p:pic>
      <p:pic>
        <p:nvPicPr>
          <p:cNvPr id="10" name="Image 2" descr="F = NOT(NOT(AB) · NOT(NOT(C))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76984"/>
            <a:ext cx="1000760" cy="345440"/>
          </a:xfrm>
          <a:prstGeom prst="rect">
            <a:avLst/>
          </a:prstGeom>
        </p:spPr>
      </p:pic>
      <p:pic>
        <p:nvPicPr>
          <p:cNvPr id="11" name="Image 3" descr="F = NOT(NOT(AB) · C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15896"/>
            <a:ext cx="977053" cy="3454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2004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bars over C cancel, so C goes in directly.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365760" y="29626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8580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300" dirty="0"/>
          </a:p>
        </p:txBody>
      </p:sp>
      <p:pic>
        <p:nvPicPr>
          <p:cNvPr id="15" name="Image 4" descr="NOT(AB) = NAND(A, B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881884"/>
            <a:ext cx="1413510" cy="3022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65760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365760" y="336499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85800" y="3328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00" dirty="0"/>
          </a:p>
        </p:txBody>
      </p:sp>
      <p:pic>
        <p:nvPicPr>
          <p:cNvPr id="19" name="Image 5" descr="F = NAND(NOT(AB), C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284220"/>
            <a:ext cx="1413510" cy="3022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65760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914400"/>
            <a:ext cx="3931920" cy="1629249"/>
          </a:xfrm>
          <a:prstGeom prst="rect">
            <a:avLst/>
          </a:prstGeom>
        </p:spPr>
      </p:pic>
      <p:pic>
        <p:nvPicPr>
          <p:cNvPr id="22" name="Image 7" descr="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84" y="2332482"/>
            <a:ext cx="127953" cy="280670"/>
          </a:xfrm>
          <a:prstGeom prst="rect">
            <a:avLst/>
          </a:prstGeom>
        </p:spPr>
      </p:pic>
      <p:pic>
        <p:nvPicPr>
          <p:cNvPr id="23" name="Image 8" descr="B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704" y="2332482"/>
            <a:ext cx="127953" cy="280670"/>
          </a:xfrm>
          <a:prstGeom prst="rect">
            <a:avLst/>
          </a:prstGeom>
        </p:spPr>
      </p:pic>
      <p:pic>
        <p:nvPicPr>
          <p:cNvPr id="24" name="Image 9" descr="C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6408" y="2332482"/>
            <a:ext cx="137583" cy="280670"/>
          </a:xfrm>
          <a:prstGeom prst="rect">
            <a:avLst/>
          </a:prstGeom>
        </p:spPr>
      </p:pic>
      <p:pic>
        <p:nvPicPr>
          <p:cNvPr id="25" name="Image 10" descr="F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7559" y="2332482"/>
            <a:ext cx="118322" cy="28067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5486400" y="26243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6217920" y="26243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15"/>
          <p:cNvSpPr txBox="1"/>
          <p:nvPr/>
        </p:nvSpPr>
        <p:spPr>
          <a:xfrm>
            <a:off x="6949440" y="26243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7680960" y="26243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5486400" y="28712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18"/>
          <p:cNvSpPr txBox="1"/>
          <p:nvPr/>
        </p:nvSpPr>
        <p:spPr>
          <a:xfrm>
            <a:off x="6217920" y="28712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19"/>
          <p:cNvSpPr txBox="1"/>
          <p:nvPr/>
        </p:nvSpPr>
        <p:spPr>
          <a:xfrm>
            <a:off x="6949440" y="28712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0"/>
          <p:cNvSpPr txBox="1"/>
          <p:nvPr/>
        </p:nvSpPr>
        <p:spPr>
          <a:xfrm>
            <a:off x="7680960" y="28712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21"/>
          <p:cNvSpPr txBox="1"/>
          <p:nvPr/>
        </p:nvSpPr>
        <p:spPr>
          <a:xfrm>
            <a:off x="5486400" y="31181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6217920" y="31181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6949440" y="31181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7680960" y="31181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5486400" y="3364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6217920" y="3364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6949440" y="3364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7680960" y="3364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5486400" y="36118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217920" y="36118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6949440" y="36118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7680960" y="36118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5486400" y="38587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6217920" y="38587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6949440" y="38587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36"/>
          <p:cNvSpPr txBox="1"/>
          <p:nvPr/>
        </p:nvSpPr>
        <p:spPr>
          <a:xfrm>
            <a:off x="7680960" y="38587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5486400" y="41056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6217920" y="41056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6949440" y="41056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Text 40"/>
          <p:cNvSpPr txBox="1"/>
          <p:nvPr/>
        </p:nvSpPr>
        <p:spPr>
          <a:xfrm>
            <a:off x="7680960" y="41056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41"/>
          <p:cNvSpPr txBox="1"/>
          <p:nvPr/>
        </p:nvSpPr>
        <p:spPr>
          <a:xfrm>
            <a:off x="5486400" y="43525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6217920" y="43525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6949440" y="43525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7680960" y="43525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45"/>
          <p:cNvSpPr/>
          <p:nvPr/>
        </p:nvSpPr>
        <p:spPr>
          <a:xfrm>
            <a:off x="5486400" y="2377440"/>
            <a:ext cx="2926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5486400" y="2624328"/>
            <a:ext cx="292608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5486400" y="4599432"/>
            <a:ext cx="2926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109728" y="4114800"/>
            <a:ext cx="4754880" cy="59436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109728" y="3840480"/>
            <a:ext cx="4754880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63" name="Text 50"/>
          <p:cNvSpPr txBox="1"/>
          <p:nvPr/>
        </p:nvSpPr>
        <p:spPr>
          <a:xfrm>
            <a:off x="201168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64" name="Text 51"/>
          <p:cNvSpPr txBox="1"/>
          <p:nvPr/>
        </p:nvSpPr>
        <p:spPr>
          <a:xfrm>
            <a:off x="201168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NAND gates. NOT C is a single-literal term that is </a:t>
            </a:r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complemented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two inversions cancel.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Problem 1, where C needed an extra NAND as an inverter.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XOR using 4 NAND Gates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40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754880" cy="1799656"/>
          </a:xfrm>
          <a:prstGeom prst="rect">
            <a:avLst/>
          </a:prstGeom>
        </p:spPr>
      </p:pic>
      <p:pic>
        <p:nvPicPr>
          <p:cNvPr id="9" name="Image 1" descr="X = NOT(A·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6394"/>
            <a:ext cx="682625" cy="323850"/>
          </a:xfrm>
          <a:prstGeom prst="rect">
            <a:avLst/>
          </a:prstGeom>
        </p:spPr>
      </p:pic>
      <p:pic>
        <p:nvPicPr>
          <p:cNvPr id="10" name="Image 2" descr="P = NOT(A·X),   Q = NOT(B·X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6434"/>
            <a:ext cx="1560513" cy="323850"/>
          </a:xfrm>
          <a:prstGeom prst="rect">
            <a:avLst/>
          </a:prstGeom>
        </p:spPr>
      </p:pic>
      <p:pic>
        <p:nvPicPr>
          <p:cNvPr id="11" name="Image 3" descr="Y = NOT(P·Q) = A ⊕ 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506474"/>
            <a:ext cx="1419225" cy="323850"/>
          </a:xfrm>
          <a:prstGeom prst="rect">
            <a:avLst/>
          </a:prstGeom>
        </p:spPr>
      </p:pic>
      <p:pic>
        <p:nvPicPr>
          <p:cNvPr id="12" name="Image 4" descr="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243" y="1912620"/>
            <a:ext cx="137795" cy="302260"/>
          </a:xfrm>
          <a:prstGeom prst="rect">
            <a:avLst/>
          </a:prstGeom>
        </p:spPr>
      </p:pic>
      <p:pic>
        <p:nvPicPr>
          <p:cNvPr id="13" name="Image 5" descr="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163" y="1912620"/>
            <a:ext cx="137795" cy="302260"/>
          </a:xfrm>
          <a:prstGeom prst="rect">
            <a:avLst/>
          </a:prstGeom>
        </p:spPr>
      </p:pic>
      <p:pic>
        <p:nvPicPr>
          <p:cNvPr id="14" name="Image 6" descr="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083" y="1912620"/>
            <a:ext cx="137795" cy="302260"/>
          </a:xfrm>
          <a:prstGeom prst="rect">
            <a:avLst/>
          </a:prstGeom>
        </p:spPr>
      </p:pic>
      <p:pic>
        <p:nvPicPr>
          <p:cNvPr id="15" name="Image 7" descr="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003" y="1912620"/>
            <a:ext cx="137795" cy="302260"/>
          </a:xfrm>
          <a:prstGeom prst="rect">
            <a:avLst/>
          </a:prstGeom>
        </p:spPr>
      </p:pic>
      <p:pic>
        <p:nvPicPr>
          <p:cNvPr id="16" name="Image 8" descr="Q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5292" y="1912620"/>
            <a:ext cx="157057" cy="302260"/>
          </a:xfrm>
          <a:prstGeom prst="rect">
            <a:avLst/>
          </a:prstGeom>
        </p:spPr>
      </p:pic>
      <p:pic>
        <p:nvPicPr>
          <p:cNvPr id="17" name="Image 9" descr="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7843" y="1912620"/>
            <a:ext cx="137795" cy="302260"/>
          </a:xfrm>
          <a:prstGeom prst="rect">
            <a:avLst/>
          </a:prstGeom>
        </p:spPr>
      </p:pic>
      <p:sp>
        <p:nvSpPr>
          <p:cNvPr id="18" name="Text 6"/>
          <p:cNvSpPr txBox="1"/>
          <p:nvPr/>
        </p:nvSpPr>
        <p:spPr>
          <a:xfrm>
            <a:off x="544068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7"/>
          <p:cNvSpPr txBox="1"/>
          <p:nvPr/>
        </p:nvSpPr>
        <p:spPr>
          <a:xfrm>
            <a:off x="594360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8"/>
          <p:cNvSpPr txBox="1"/>
          <p:nvPr/>
        </p:nvSpPr>
        <p:spPr>
          <a:xfrm>
            <a:off x="644652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9"/>
          <p:cNvSpPr txBox="1"/>
          <p:nvPr/>
        </p:nvSpPr>
        <p:spPr>
          <a:xfrm>
            <a:off x="694944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0"/>
          <p:cNvSpPr txBox="1"/>
          <p:nvPr/>
        </p:nvSpPr>
        <p:spPr>
          <a:xfrm>
            <a:off x="745236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1"/>
          <p:cNvSpPr txBox="1"/>
          <p:nvPr/>
        </p:nvSpPr>
        <p:spPr>
          <a:xfrm>
            <a:off x="795528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12"/>
          <p:cNvSpPr txBox="1"/>
          <p:nvPr/>
        </p:nvSpPr>
        <p:spPr>
          <a:xfrm>
            <a:off x="544068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13"/>
          <p:cNvSpPr txBox="1"/>
          <p:nvPr/>
        </p:nvSpPr>
        <p:spPr>
          <a:xfrm>
            <a:off x="594360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14"/>
          <p:cNvSpPr txBox="1"/>
          <p:nvPr/>
        </p:nvSpPr>
        <p:spPr>
          <a:xfrm>
            <a:off x="644652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15"/>
          <p:cNvSpPr txBox="1"/>
          <p:nvPr/>
        </p:nvSpPr>
        <p:spPr>
          <a:xfrm>
            <a:off x="694944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745236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795528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544068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594360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644652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694944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745236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7955280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544068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594360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644652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694944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28"/>
          <p:cNvSpPr txBox="1"/>
          <p:nvPr/>
        </p:nvSpPr>
        <p:spPr>
          <a:xfrm>
            <a:off x="745236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7955280" y="2990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5440680" y="1965960"/>
            <a:ext cx="30175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5440680" y="2221992"/>
            <a:ext cx="3017520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5440680" y="3246120"/>
            <a:ext cx="30175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109728" y="4114800"/>
            <a:ext cx="8924544" cy="347472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109728" y="384048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201168" y="384048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48" name="Text 36"/>
          <p:cNvSpPr txBox="1"/>
          <p:nvPr/>
        </p:nvSpPr>
        <p:spPr>
          <a:xfrm>
            <a:off x="201168" y="4114800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in the simulator and confirm the output is 1 only when the inputs are different.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ICs: 7400 and 7402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7400 — Quad 2-input NAND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7402 — Quad 2-input NOR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023360" cy="20116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023360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9728" y="3886200"/>
            <a:ext cx="8924544" cy="502920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9728" y="361188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01168" y="361188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01168" y="3886200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pinouts are DIFFERENT! On the 7402 the output comes FIRST (pin 1 = 1Y). Pin 14 = VCC, pin 7 = GND on both.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Digital Logic Simulator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 in Logisim Evolution: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600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circuit.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8424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984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19476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input pins A and B.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2951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ONLY NAND (or only NOR) gates.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679192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79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6426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universal-gate version.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2666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9900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an output pin / LED.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3741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3374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337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all input combinations.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721608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685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the target gate’s truth table.</a:t>
            </a:r>
            <a:endParaRPr lang="en-US" sz="13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63040"/>
            <a:ext cx="3566160" cy="14379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Laboratory Mistakes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96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9601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inputs: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NOT, BOTH inputs must go to A — not just 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453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417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inputs: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a NAND / NOR input unconnected.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19110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1911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8745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IC: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7400 is NAND, 7402 is NOR — check the chip label.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3682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23317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Pinout: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7402 output is on pin 1, not pin 3.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8254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27889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order: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 from NAND, invert the inputs, not the output.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282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2461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VCC to pin 14 and GND to pin 7.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systematically — one gate at a time.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NAND gates are needed to build a NOT gate?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think about what happens when both inputs are the same.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NAND gates are needed to build a NOT gate?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think about what happens when both inputs are the same.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069080"/>
            <a:ext cx="1828800" cy="548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inputs of a NOR gate are connected to 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</a:t>
            </a:r>
            <a:endParaRPr lang="en-US" sz="1600" dirty="0"/>
          </a:p>
        </p:txBody>
      </p:sp>
      <p:pic>
        <p:nvPicPr>
          <p:cNvPr id="10" name="Image 0" descr="A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083" y="2072640"/>
            <a:ext cx="613833" cy="431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</a:t>
            </a:r>
            <a:endParaRPr lang="en-US" sz="1600" dirty="0"/>
          </a:p>
        </p:txBody>
      </p:sp>
      <p:pic>
        <p:nvPicPr>
          <p:cNvPr id="12" name="Image 1" descr="Y = 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83" y="2987040"/>
            <a:ext cx="613833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inputs of a NOR gate are connected to 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</a:t>
            </a:r>
            <a:endParaRPr lang="en-US" sz="1600" dirty="0"/>
          </a:p>
        </p:txBody>
      </p:sp>
      <p:pic>
        <p:nvPicPr>
          <p:cNvPr id="10" name="Image 0" descr="A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083" y="2072640"/>
            <a:ext cx="613833" cy="431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</a:t>
            </a:r>
            <a:endParaRPr lang="en-US" sz="1600" dirty="0"/>
          </a:p>
        </p:txBody>
      </p:sp>
      <p:pic>
        <p:nvPicPr>
          <p:cNvPr id="12" name="Image 1" descr="Y = 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83" y="2987040"/>
            <a:ext cx="613833" cy="431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4069080"/>
            <a:ext cx="1828800" cy="548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a universal gate?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17739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1854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596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0" y="30083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a universal gate?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177393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18541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596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0" y="300837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069080"/>
            <a:ext cx="1828800" cy="548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</a:t>
            </a:r>
            <a:endParaRPr lang="en-US" sz="2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minimum number of NAND gates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to build an OR gate?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invert A, invert B, then …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 #4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minimum number of NAND gates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to build an OR gate?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invert A, invert B, then …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69080"/>
            <a:ext cx="1828800" cy="548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170432"/>
            <a:ext cx="8924544" cy="365760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896112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89611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1170432"/>
            <a:ext cx="874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Adder &amp; Half Subtractor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1737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use logic gates to construct arithmetic circuits. For a half adder:</a:t>
            </a:r>
            <a:endParaRPr lang="en-US" sz="1400" dirty="0"/>
          </a:p>
        </p:txBody>
      </p:sp>
      <p:pic>
        <p:nvPicPr>
          <p:cNvPr id="13" name="Image 0" descr="Sum = A ⊕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4773" y="2089404"/>
            <a:ext cx="1354455" cy="388620"/>
          </a:xfrm>
          <a:prstGeom prst="rect">
            <a:avLst/>
          </a:prstGeom>
        </p:spPr>
      </p:pic>
      <p:pic>
        <p:nvPicPr>
          <p:cNvPr id="14" name="Image 1" descr="Carry = 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358" y="2500884"/>
            <a:ext cx="1137285" cy="3886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9728" y="3474720"/>
            <a:ext cx="8924544" cy="411480"/>
          </a:xfrm>
          <a:prstGeom prst="rect">
            <a:avLst/>
          </a:prstGeom>
          <a:solidFill>
            <a:srgbClr val="F8E5E5"/>
          </a:solidFill>
          <a:ln w="12700">
            <a:solidFill>
              <a:srgbClr val="F8E5E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9728" y="3200400"/>
            <a:ext cx="8924544" cy="274320"/>
          </a:xfrm>
          <a:prstGeom prst="rect">
            <a:avLst/>
          </a:prstGeom>
          <a:solidFill>
            <a:srgbClr val="BF0000"/>
          </a:solidFill>
          <a:ln w="12700">
            <a:solidFill>
              <a:srgbClr val="BF0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01168" y="320040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01168" y="3474720"/>
            <a:ext cx="8741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(4 NAND) + one more NAND as NOT gives a complete half adder from only 5 NAND gates!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996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9601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universal gate can implement any Boolean function.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453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417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and NOR are the two universal gates.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19110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1911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18745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tie both inputs of a NAND or NOR together.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23682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3317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NAND:  AND = 2 gates,  OR = 3 gates.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28254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7889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NOR:  OR = 2 gates,  AND = 3 gates.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3282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2461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Morgan’s theorem links the NAND and NOR forms.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7398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3703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AND–OR circuits convert directly into NAND–NAND circuits.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be able to answer: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3624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362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3258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gate “universal”?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8196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7830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build a NOT gate from a NAND gate?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2768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2402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OR need 3 NAND gates but only 2 NOR gates?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7340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6974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both of De Morgan’s theorems.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1912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1546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build Y = AB + CD using only NAND gates?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64845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118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the 7400 and 7402 pinouts?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Task — Experiment 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170432"/>
            <a:ext cx="8924544" cy="310896"/>
          </a:xfrm>
          <a:prstGeom prst="rect">
            <a:avLst/>
          </a:prstGeom>
          <a:solidFill>
            <a:srgbClr val="F0E7E7"/>
          </a:solidFill>
          <a:ln w="12700">
            <a:solidFill>
              <a:srgbClr val="F0E7E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896112"/>
            <a:ext cx="8924544" cy="274320"/>
          </a:xfrm>
          <a:prstGeom prst="rect">
            <a:avLst/>
          </a:prstGeom>
          <a:solidFill>
            <a:srgbClr val="6C1218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89611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of Basic Gates using Universal Gates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1170432"/>
            <a:ext cx="8741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and verify, using ONLY the given gate type: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(NAND only)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" y="206654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19751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" y="2359152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267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" y="2651760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(NOR only)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10128" y="206654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19751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10128" y="2359152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2267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2651760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(NAND only)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2066544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9751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AB + CD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36208" y="2359152"/>
            <a:ext cx="91440" cy="91440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2267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(bonus)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282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246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diagrams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61188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5753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tables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941064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576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904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observations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0" y="3282696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3246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0" y="3611880"/>
            <a:ext cx="201168" cy="201168"/>
          </a:xfrm>
          <a:prstGeom prst="ellipse">
            <a:avLst/>
          </a:prstGeom>
          <a:solidFill>
            <a:srgbClr val="91191F"/>
          </a:solidFill>
          <a:ln w="12700">
            <a:solidFill>
              <a:srgbClr val="6C121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35753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6583680" cy="182880"/>
          </a:xfrm>
          <a:prstGeom prst="rect">
            <a:avLst/>
          </a:prstGeom>
          <a:solidFill>
            <a:srgbClr val="4C1114"/>
          </a:solidFill>
          <a:ln w="12700">
            <a:solidFill>
              <a:srgbClr val="4C11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960620"/>
            <a:ext cx="2560320" cy="182880"/>
          </a:xfrm>
          <a:prstGeom prst="rect">
            <a:avLst/>
          </a:prstGeom>
          <a:solidFill>
            <a:srgbClr val="91191F"/>
          </a:solidFill>
          <a:ln w="12700">
            <a:solidFill>
              <a:srgbClr val="9119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" y="49606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CSE208 — Digital Logic Design Laboratory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49606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5029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Gate Can Build Them All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     or      NOR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880360"/>
            <a:ext cx="5120640" cy="3657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Gate  →  NOT, AND, OR  →  Any Digital Circuit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 everything from one gate!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CSE208 Class 02: Universal Gates</dc:title>
  <dc:subject>PptxGenJS Presentation</dc:subject>
  <dc:creator>Munzer Mahmood</dc:creator>
  <cp:lastModifiedBy>Munzer Mahmood</cp:lastModifiedBy>
  <cp:revision>1</cp:revision>
  <dcterms:created xsi:type="dcterms:W3CDTF">2026-09-22T17:52:14Z</dcterms:created>
  <dcterms:modified xsi:type="dcterms:W3CDTF">2026-09-22T17:52:14Z</dcterms:modified>
</cp:coreProperties>
</file>