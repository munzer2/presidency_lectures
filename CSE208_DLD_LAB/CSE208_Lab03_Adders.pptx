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recap of universal gates. The three gates we actually need today are XOR, AND and 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adder is the heart of the ALU. Subtraction is addition of the 2's complement; multiplication is repeated shifted addition.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fourth case: the result needs two bits. The right bit is the Sum, the left bit is the Carry.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 the example column by column on the board. The rightmost column has no carry-in; every other column has three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C and S together as a 2-bit binary number: it always equals A +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from the CSE207 theory lecture. A minterm is 1 for exactly one row, so ORing the minterms of the 1-rows reproduces the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SOP method here so students can reuse it for the full adder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 back to the column example: from the second column on, we must add three 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 the 1s in each row: an odd count gives S = 1, two or more gives Cout =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 by A: the bracket for A-bar is B XOR Cin, and the bracket for A is its complement, XNOR.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m7 is shared by all three groups, which is allowed. Each pair of cells eliminates one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second form reuses A XOR B from the Sum, which leads directly to the two-half-adder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 and X can never both be 1, so a plain OR is enough to combine the two carries.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E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" y="1874519"/>
            <a:ext cx="3017520" cy="3017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-1-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377440"/>
            <a:ext cx="2011680" cy="2011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80560" y="132588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C9CC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783080"/>
            <a:ext cx="722376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Adders: Half &amp; Full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3429000"/>
            <a:ext cx="7132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F2C9CC"/>
                </a:solidFill>
                <a:latin typeface="Calibri"/>
              </a:rPr>
              <a:t>Adding bits with logic gates — the circuit at the heart of every processor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4572000"/>
            <a:ext cx="7132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Munzer Mahmood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Lecturer, Department of Computer Science and Engineering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Presidency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Recap  ·  Class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B3A6B"/>
                </a:solidFill>
                <a:latin typeface="Calibri"/>
              </a:rPr>
              <a:t>Last class you learned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938528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5120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Universal gates: NAND and NOR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40864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231136"/>
            <a:ext cx="5120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NOT = 1 gate (tie the inputs together)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43200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633472"/>
            <a:ext cx="5120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AND = 2 NAND,  OR = 3 NAND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145536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035808"/>
            <a:ext cx="5120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XOR = 4 NAND (the Challenge)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547872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438144"/>
            <a:ext cx="5120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Any AND–OR circuit becomes NAND–NAND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280160"/>
            <a:ext cx="5330952" cy="210312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481328"/>
            <a:ext cx="4782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  <a:latin typeface="Calibri"/>
              </a:rPr>
              <a:t>Last class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965960"/>
            <a:ext cx="478231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</a:rPr>
              <a:t>Gates  →  any Boolean function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611880"/>
            <a:ext cx="5330952" cy="210312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813048"/>
            <a:ext cx="4782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8E1B22"/>
                </a:solidFill>
                <a:latin typeface="Calibri"/>
              </a:rPr>
              <a:t>Today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297680"/>
            <a:ext cx="478231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</a:rPr>
              <a:t>Gates  →  binary arithmetic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The three gates we need today: XOR, AND and 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Today's 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By the end of today's laboratory, you should be able to: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19072"/>
            <a:ext cx="98298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Apply the rules of binary addition, including the carry.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59152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591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340864"/>
            <a:ext cx="98298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Define a half adder and derive its truth table.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980944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8094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962656"/>
            <a:ext cx="98298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Use minterms and the SOP method to derive its Sum and Carry.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02736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60273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584448"/>
            <a:ext cx="98298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Explain why a half adder is not enough for multi-bit addition.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224528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2245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206240"/>
            <a:ext cx="98298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Define a full adder and derive its Sum and Carry-out expressions.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828032"/>
            <a:ext cx="98298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Build a full adder using two half adders and an OR gate.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5468112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681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449824"/>
            <a:ext cx="98298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Verify adders using a simulator or the 7486, 7408 and 7432 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Why Do We Need Adders?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Addition is the most basic arithmetic operation inside every processor — almost everything else is built on top of it: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21408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8E1B22"/>
                </a:solidFill>
                <a:latin typeface="Calibri"/>
              </a:rPr>
              <a:t>Subtraction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Add the 2's complement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9202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2121408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Multiplication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260604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Repeated, shifted addition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9202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2121408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8E1B22"/>
                </a:solidFill>
                <a:latin typeface="Calibri"/>
              </a:rPr>
              <a:t>Counters &amp; addresses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60604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Add 1, or add an offset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13672" y="3749039"/>
            <a:ext cx="2103120" cy="566928"/>
          </a:xfrm>
          <a:prstGeom prst="roundRect">
            <a:avLst>
              <a:gd name="adj" fmla="val 14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13672" y="3749039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8E1B22"/>
                </a:solidFill>
                <a:latin typeface="Calibri"/>
              </a:rPr>
              <a:t>Adder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89944" y="4032503"/>
            <a:ext cx="237744" cy="0"/>
          </a:xfrm>
          <a:prstGeom prst="line">
            <a:avLst/>
          </a:prstGeom>
          <a:ln w="19050">
            <a:solidFill>
              <a:srgbClr val="6B6B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800840" y="3749039"/>
            <a:ext cx="2103120" cy="566928"/>
          </a:xfrm>
          <a:prstGeom prst="roundRect">
            <a:avLst>
              <a:gd name="adj" fmla="val 14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00840" y="3749039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B3A6B"/>
                </a:solidFill>
                <a:latin typeface="Calibri"/>
              </a:rPr>
              <a:t>ALU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77112" y="4032503"/>
            <a:ext cx="237744" cy="0"/>
          </a:xfrm>
          <a:prstGeom prst="line">
            <a:avLst/>
          </a:prstGeom>
          <a:ln w="19050">
            <a:solidFill>
              <a:srgbClr val="6B6B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88008" y="3749039"/>
            <a:ext cx="2103120" cy="566928"/>
          </a:xfrm>
          <a:prstGeom prst="roundRect">
            <a:avLst>
              <a:gd name="adj" fmla="val 14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8008" y="3749039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8E1B22"/>
                </a:solidFill>
                <a:latin typeface="Calibri"/>
              </a:rPr>
              <a:t>CPU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64280" y="4032503"/>
            <a:ext cx="237744" cy="0"/>
          </a:xfrm>
          <a:prstGeom prst="line">
            <a:avLst/>
          </a:prstGeom>
          <a:ln w="19050">
            <a:solidFill>
              <a:srgbClr val="6B6B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775176" y="3749039"/>
            <a:ext cx="2103120" cy="566928"/>
          </a:xfrm>
          <a:prstGeom prst="roundRect">
            <a:avLst>
              <a:gd name="adj" fmla="val 14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5176" y="3749039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B3A6B"/>
                </a:solidFill>
                <a:latin typeface="Calibri"/>
              </a:rPr>
              <a:t>Computer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92040"/>
            <a:ext cx="11091672" cy="68580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4892040"/>
            <a:ext cx="1054303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Build a circuit that adds two single bits — then copy it to add numbers of any size.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Every arithmetic instruction a processor runs starts 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The four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Binary Addition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Adding two 1-bit numbers has only four cases: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B3A6B"/>
                </a:solidFill>
                <a:latin typeface="Calibri"/>
              </a:rPr>
              <a:t>0 + 0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Carry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9067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Sum =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73736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96596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B3A6B"/>
                </a:solidFill>
                <a:latin typeface="Calibri"/>
              </a:rPr>
              <a:t>0 + 1 =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6974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Carry =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09067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Sum =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3736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96596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B3A6B"/>
                </a:solidFill>
                <a:latin typeface="Calibri"/>
              </a:rPr>
              <a:t>1 + 0 =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6974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Carry =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09067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Sum =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73736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96596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8E1B22"/>
                </a:solidFill>
                <a:latin typeface="Calibri"/>
              </a:rPr>
              <a:t>1 + 1 = 10</a:t>
            </a:r>
            <a:r>
              <a:rPr sz="3000" b="1" i="0" baseline="-25000">
                <a:solidFill>
                  <a:srgbClr val="8E1B22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974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8E1B22"/>
                </a:solidFill>
                <a:latin typeface="Calibri"/>
              </a:rPr>
              <a:t>Carry =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09067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Sum = 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31920"/>
            <a:ext cx="5440680" cy="150876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4133087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8E1B22"/>
                </a:solidFill>
                <a:latin typeface="Calibri"/>
              </a:rPr>
              <a:t>Two outputs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480559"/>
            <a:ext cx="489204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The result can need 2 bits: the right bit is the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Sum (S)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, the left bit is the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Carry (C)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3931920"/>
            <a:ext cx="5440680" cy="150876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133087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Why 1 + 1 = 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4480559"/>
            <a:ext cx="489204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In decimal 1 + 1 = 2, and 2 in binary is 10 — write 0, carry 1 to the next column.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Two inputs, two outputs — that is exactly a half adder.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Why one circuit is not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Adding Multi-bit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32504" y="1325880"/>
            <a:ext cx="585216" cy="2743200"/>
          </a:xfrm>
          <a:prstGeom prst="roundRect">
            <a:avLst>
              <a:gd name="adj" fmla="val 10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94560" y="1325880"/>
            <a:ext cx="1874519" cy="2743200"/>
          </a:xfrm>
          <a:prstGeom prst="roundRect">
            <a:avLst>
              <a:gd name="adj" fmla="val 10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1">
                <a:solidFill>
                  <a:srgbClr val="8E1B22"/>
                </a:solidFill>
                <a:latin typeface="Calibri"/>
              </a:rPr>
              <a:t>Carry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 i="1">
                <a:solidFill>
                  <a:srgbClr val="222222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50592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 i="1">
                <a:solidFill>
                  <a:srgbClr val="222222"/>
                </a:solidFill>
                <a:latin typeface="Calibri"/>
              </a:rPr>
              <a:t>+ 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5468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Sum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199" y="1417320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1417320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5496" y="1417320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1417320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50792" y="1417320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199" y="192024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12848" y="192024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25496" y="192024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38144" y="192024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2" y="192024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199" y="245059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245059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25496" y="245059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38144" y="245059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50792" y="245059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199" y="31546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B3A6B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31546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B3A6B"/>
                </a:solidFill>
                <a:latin typeface="Calibri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25496" y="31546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B3A6B"/>
                </a:solidFill>
                <a:latin typeface="Calibri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38144" y="31546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B3A6B"/>
                </a:solidFill>
                <a:latin typeface="Calibri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50792" y="31546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B3A6B"/>
                </a:solidFill>
                <a:latin typeface="Calibri"/>
              </a:rPr>
              <a:t>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600200" y="3017520"/>
            <a:ext cx="3017520" cy="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754880" y="19202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6B6B6B"/>
                </a:solidFill>
                <a:latin typeface="Calibri"/>
              </a:rPr>
              <a:t>(11)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245059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6B6B6B"/>
                </a:solidFill>
                <a:latin typeface="Calibri"/>
              </a:rPr>
              <a:t>(6)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1546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6B6B6B"/>
                </a:solidFill>
                <a:latin typeface="Calibri"/>
              </a:rPr>
              <a:t>(17)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85032" y="4114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B3A6B"/>
                </a:solidFill>
                <a:latin typeface="Calibri"/>
              </a:rPr>
              <a:t>2 bits 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67128" y="411480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8E1B22"/>
                </a:solidFill>
                <a:latin typeface="Calibri"/>
              </a:rPr>
              <a:t>3 bits in</a:t>
            </a:r>
          </a:p>
        </p:txBody>
      </p:sp>
      <p:sp>
        <p:nvSpPr>
          <p:cNvPr id="38" name="Oval 37"/>
          <p:cNvSpPr/>
          <p:nvPr/>
        </p:nvSpPr>
        <p:spPr>
          <a:xfrm>
            <a:off x="6035040" y="1417320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0" y="1417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1399032"/>
            <a:ext cx="48920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Rightmost column: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A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0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+ B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0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— only 2 bits, nothing carries in.</a:t>
            </a:r>
          </a:p>
        </p:txBody>
      </p:sp>
      <p:sp>
        <p:nvSpPr>
          <p:cNvPr id="41" name="Oval 40"/>
          <p:cNvSpPr/>
          <p:nvPr/>
        </p:nvSpPr>
        <p:spPr>
          <a:xfrm>
            <a:off x="6035040" y="2423160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0" y="24231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2404872"/>
            <a:ext cx="48920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Every other column: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A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i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+ B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i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+ carry-in — 3 bits.</a:t>
            </a:r>
          </a:p>
        </p:txBody>
      </p:sp>
      <p:sp>
        <p:nvSpPr>
          <p:cNvPr id="44" name="Oval 43"/>
          <p:cNvSpPr/>
          <p:nvPr/>
        </p:nvSpPr>
        <p:spPr>
          <a:xfrm>
            <a:off x="6035040" y="3429000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0" y="3429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410712"/>
            <a:ext cx="48920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Each column gives a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Sum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bit and a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Carry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into the next column.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4892040"/>
            <a:ext cx="11091672" cy="68580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59" y="4892040"/>
            <a:ext cx="1054303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 inputs  ⇒  Half Adder            3 inputs  ⇒  Full Adder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One small circuit, repeated once per bit.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Topic 1  ·  Half 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The Half 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35608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8E1B22"/>
                </a:solidFill>
                <a:latin typeface="Calibri"/>
              </a:rP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105430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A 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half adder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is a combinational circuit that adds two 1-bit inputs, A and B, and produces two outputs: a 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Sum (S)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and a 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Carry (C)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pic>
        <p:nvPicPr>
          <p:cNvPr id="9" name="Picture 8" descr="ha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97480"/>
            <a:ext cx="3648456" cy="1580997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943600" y="2852928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743200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Inputs: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A, B  (2 bits)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0" y="3355848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246120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Outputs: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S (sum bit), C (carry bit)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0" y="3858768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749039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Result: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A + B = (C S)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2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— a 2-bit number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4434840"/>
            <a:ext cx="5696712" cy="118872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4636007"/>
            <a:ext cx="5148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Why “half”?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983479"/>
            <a:ext cx="51480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It adds only two bits — there is no input for a carry coming from a previous column.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Every addition starts here: two bits in, two bits 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Topic 1  ·  Half 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Half Adder — Truth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4023360" cy="50292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32588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32588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32588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828800"/>
            <a:ext cx="1005840" cy="502920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828800"/>
            <a:ext cx="1005840" cy="502920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2880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82880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182880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8E1B22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82880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8E1B22"/>
                </a:solidFill>
                <a:latin typeface="Calibri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331720"/>
            <a:ext cx="4023360" cy="502920"/>
          </a:xfrm>
          <a:prstGeom prst="rect">
            <a:avLst/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0" y="2331720"/>
            <a:ext cx="1005840" cy="502920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66160" y="2331720"/>
            <a:ext cx="1005840" cy="502920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33172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33172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33172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8E1B22"/>
                </a:solidFill>
                <a:latin typeface="Calibr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233172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834640"/>
            <a:ext cx="1005840" cy="502920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66160" y="2834640"/>
            <a:ext cx="1005840" cy="502920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83464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283464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283464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8E1B22"/>
                </a:solidFill>
                <a:latin typeface="Calibri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283464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337560"/>
            <a:ext cx="4023360" cy="502920"/>
          </a:xfrm>
          <a:prstGeom prst="rect">
            <a:avLst/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0" y="3337560"/>
            <a:ext cx="1005840" cy="502920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66160" y="3337560"/>
            <a:ext cx="1005840" cy="502920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33756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333756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333756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333756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8E1B22"/>
                </a:solidFill>
                <a:latin typeface="Calibri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062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6B6B6B"/>
                </a:solidFill>
                <a:latin typeface="Calibri"/>
              </a:rPr>
              <a:t>C S read together = A + 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37760" y="1325880"/>
            <a:ext cx="6702552" cy="14630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0" y="1527048"/>
            <a:ext cx="6153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8E1B22"/>
                </a:solidFill>
                <a:latin typeface="Calibri"/>
              </a:rPr>
              <a:t>Look at column 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0" y="1874519"/>
            <a:ext cx="61539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S = 1 when the inputs are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different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 →  XOR</a:t>
            </a:r>
          </a:p>
        </p:txBody>
      </p:sp>
      <p:pic>
        <p:nvPicPr>
          <p:cNvPr id="41" name="Picture 40" descr="eq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776" y="2212848"/>
            <a:ext cx="1085088" cy="28956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4937760" y="3063240"/>
            <a:ext cx="6702552" cy="146304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0" y="3264408"/>
            <a:ext cx="6153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Look at column 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2080" y="3611880"/>
            <a:ext cx="61539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C = 1 only when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both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inputs are 1  →  AND</a:t>
            </a:r>
          </a:p>
        </p:txBody>
      </p:sp>
      <p:pic>
        <p:nvPicPr>
          <p:cNvPr id="45" name="Picture 44" descr="eq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4176" y="3950208"/>
            <a:ext cx="1542288" cy="289560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4937760" y="4800600"/>
            <a:ext cx="6702552" cy="73152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12080" y="4800600"/>
            <a:ext cx="615391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Half adder = one XOR gate + one AND gate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Two gates. That is the whole circuit.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Quick Note: What Is a Minterm?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11091672" cy="105156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35608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1054303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A 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minterm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is an AND term containing 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every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input variable — it equals 1 for 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exactly one row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of the truth table, and 0 for all the others.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51760"/>
            <a:ext cx="4480560" cy="4572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517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65176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Minterm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65176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Symbol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3108960"/>
            <a:ext cx="1645920" cy="457200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089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1089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10896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8E1B22"/>
                </a:solidFill>
                <a:latin typeface="Calibri"/>
              </a:rPr>
              <a:t>A̅ B̅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10896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m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4480560" cy="457200"/>
          </a:xfrm>
          <a:prstGeom prst="rect">
            <a:avLst/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77440" y="3566160"/>
            <a:ext cx="1645920" cy="457200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5661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5661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56616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8E1B22"/>
                </a:solidFill>
                <a:latin typeface="Calibri"/>
              </a:rPr>
              <a:t>A̅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56616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m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4023360"/>
            <a:ext cx="1645920" cy="457200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0233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0233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402336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8E1B22"/>
                </a:solidFill>
                <a:latin typeface="Calibri"/>
              </a:rPr>
              <a:t>A B̅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402336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m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480560"/>
            <a:ext cx="4480560" cy="457200"/>
          </a:xfrm>
          <a:prstGeom prst="rect">
            <a:avLst/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77440" y="4480560"/>
            <a:ext cx="1645920" cy="457200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4805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4805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448056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8E1B22"/>
                </a:solidFill>
                <a:latin typeface="Calibri"/>
              </a:rPr>
              <a:t>A 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448056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m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52160" y="2651760"/>
            <a:ext cx="5788152" cy="137160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2852928"/>
            <a:ext cx="5239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8E1B22"/>
                </a:solidFill>
                <a:latin typeface="Calibri"/>
              </a:rPr>
              <a:t>The rule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3200400"/>
            <a:ext cx="52395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variable is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1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 →  write it plain  (A)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variable is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0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 →  write it complemented  (A̅)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52160" y="4206240"/>
            <a:ext cx="5788152" cy="128016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4407407"/>
            <a:ext cx="5239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Why we need 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4754879"/>
            <a:ext cx="5239512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OR together the minterms of every row where the output is 1 — that is the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SOP form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Same idea as the theory lecture — here we apply it to the adder's Sum and Carry.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Technique  ·  SOP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Deriving the Expressions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Use the Sum of Products (SOP) method: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19072"/>
            <a:ext cx="4251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Write the minterm of every row where the output is 1.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06039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0603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587751"/>
            <a:ext cx="4251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OR those minterms together.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56432"/>
            <a:ext cx="4251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Simplify and recognise the gate.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371600"/>
            <a:ext cx="5605272" cy="182880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5727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8E1B22"/>
                </a:solidFill>
                <a:latin typeface="Calibri"/>
              </a:rPr>
              <a:t>S = 1 in rows 01 and 10</a:t>
            </a:r>
          </a:p>
        </p:txBody>
      </p:sp>
      <p:pic>
        <p:nvPicPr>
          <p:cNvPr id="18" name="Picture 17" descr="eq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828" y="2057400"/>
            <a:ext cx="1350264" cy="307848"/>
          </a:xfrm>
          <a:prstGeom prst="rect">
            <a:avLst/>
          </a:prstGeom>
        </p:spPr>
      </p:pic>
      <p:pic>
        <p:nvPicPr>
          <p:cNvPr id="19" name="Picture 18" descr="eq_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416" y="2578608"/>
            <a:ext cx="1085088" cy="28956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35040" y="3383280"/>
            <a:ext cx="5605272" cy="137160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58444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C = 1 only in row 11</a:t>
            </a:r>
          </a:p>
        </p:txBody>
      </p:sp>
      <p:pic>
        <p:nvPicPr>
          <p:cNvPr id="22" name="Picture 21" descr="eq_0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8388" y="4069080"/>
            <a:ext cx="771144" cy="28956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48640" y="5029200"/>
            <a:ext cx="11091672" cy="73152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5029200"/>
            <a:ext cx="1054303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A̅B + AB̅ is exactly the XOR function — 1 when the inputs are different.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Recognising XOR saves four gates over the raw SOP circuit.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Topic 1  ·  Half 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Half Adder — Logic Circuit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11</a:t>
            </a:r>
          </a:p>
        </p:txBody>
      </p:sp>
      <p:pic>
        <p:nvPicPr>
          <p:cNvPr id="6" name="Picture 5" descr="ha_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013301" cy="194584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1325880"/>
            <a:ext cx="5330952" cy="237744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5330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Boolean expressions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0832" y="2103120"/>
            <a:ext cx="1597152" cy="582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q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6864" y="2249424"/>
            <a:ext cx="1085088" cy="2895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337804" y="2880360"/>
            <a:ext cx="1283208" cy="582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q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3836" y="3026664"/>
            <a:ext cx="771144" cy="2895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309360" y="3931920"/>
            <a:ext cx="5330952" cy="160020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133087"/>
            <a:ext cx="4782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8E1B22"/>
                </a:solidFill>
                <a:latin typeface="Calibri"/>
              </a:rPr>
              <a:t>In the laboratory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480559"/>
            <a:ext cx="4782312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One gate of the </a:t>
            </a:r>
            <a:r>
              <a:rPr sz="1700" b="1" i="0">
                <a:solidFill>
                  <a:srgbClr val="222222"/>
                </a:solidFill>
                <a:latin typeface="Calibri"/>
              </a:rPr>
              <a:t>7486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 (XOR) and one gate of the </a:t>
            </a:r>
            <a:r>
              <a:rPr sz="1700" b="1" i="0">
                <a:solidFill>
                  <a:srgbClr val="222222"/>
                </a:solidFill>
                <a:latin typeface="Calibri"/>
              </a:rPr>
              <a:t>7408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 (AND). A and B go to </a:t>
            </a:r>
            <a:r>
              <a:rPr sz="1700" b="1" i="0">
                <a:solidFill>
                  <a:srgbClr val="222222"/>
                </a:solidFill>
                <a:latin typeface="Calibri"/>
              </a:rPr>
              <a:t>both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 gates.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Gates used: 1 XOR + 1 AND.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Let's Trace It: Half 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Given the half adder circuit, suppose: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120640" cy="68580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q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488" y="1874519"/>
            <a:ext cx="1456944" cy="28956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9748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XOR:</a:t>
            </a:r>
          </a:p>
        </p:txBody>
      </p:sp>
      <p:pic>
        <p:nvPicPr>
          <p:cNvPr id="12" name="Picture 11" descr="eq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2804160"/>
            <a:ext cx="1216152" cy="24384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548640" y="3410712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107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10712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AND:</a:t>
            </a:r>
          </a:p>
        </p:txBody>
      </p:sp>
      <p:pic>
        <p:nvPicPr>
          <p:cNvPr id="16" name="Picture 15" descr="eq_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3517392"/>
            <a:ext cx="1103376" cy="24384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548640" y="4123944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2394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123944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Check:</a:t>
            </a:r>
          </a:p>
        </p:txBody>
      </p:sp>
      <p:pic>
        <p:nvPicPr>
          <p:cNvPr id="20" name="Picture 19" descr="eq_0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560" y="4224528"/>
            <a:ext cx="2862072" cy="256032"/>
          </a:xfrm>
          <a:prstGeom prst="rect">
            <a:avLst/>
          </a:prstGeom>
        </p:spPr>
      </p:pic>
      <p:pic>
        <p:nvPicPr>
          <p:cNvPr id="21" name="Picture 20" descr="ha_val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1828800"/>
            <a:ext cx="4013301" cy="1945843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548640" y="498348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5184648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Try it yourself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532120"/>
            <a:ext cx="105430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Repeat the trace for A = 0, B = 1. What are S and C?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Topic 1  ·  Half 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Limitation of the Half 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13</a:t>
            </a:r>
          </a:p>
        </p:txBody>
      </p:sp>
      <p:pic>
        <p:nvPicPr>
          <p:cNvPr id="6" name="Picture 5" descr="ha_lim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3648456" cy="2553919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760720" y="1847088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737360"/>
            <a:ext cx="5577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A half adder has only 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2 inputs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5760720" y="2715768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606039"/>
            <a:ext cx="5577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From the 2nd column on we must add 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3 bits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: A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i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, B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i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and the carry-in.</a:t>
            </a:r>
          </a:p>
        </p:txBody>
      </p:sp>
      <p:sp>
        <p:nvSpPr>
          <p:cNvPr id="11" name="Oval 10"/>
          <p:cNvSpPr/>
          <p:nvPr/>
        </p:nvSpPr>
        <p:spPr>
          <a:xfrm>
            <a:off x="5760720" y="3584448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3474720"/>
            <a:ext cx="5577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So it works only for the 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least significant bit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92040"/>
            <a:ext cx="11091672" cy="77724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4892040"/>
            <a:ext cx="1054303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Add a third input for the incoming carry  →  the Full Adder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One missing wire is the whole difference.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Topic 2  ·  Full 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The Full 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11091672" cy="128016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35608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10543032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A 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full adder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adds three 1-bit inputs — A, B and a carry-in (C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) — and produces a 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Sum (S)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and a 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carry-out (C</a:t>
            </a:r>
            <a:r>
              <a:rPr sz="1900" b="1" i="0" baseline="-25000">
                <a:solidFill>
                  <a:srgbClr val="222222"/>
                </a:solidFill>
                <a:latin typeface="Calibri"/>
              </a:rPr>
              <a:t>out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)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pic>
        <p:nvPicPr>
          <p:cNvPr id="9" name="Picture 8" descr="fa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06040"/>
            <a:ext cx="3648456" cy="1824228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943600" y="2807208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697480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Inputs: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A, B, C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 (3 bits)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0" y="3310128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200400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Outputs: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S, C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out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0" y="3813048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703320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Largest result: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1 + 1 + 1 = 3 = 11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2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— still 2 bits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4343400"/>
            <a:ext cx="5696712" cy="12344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4544568"/>
            <a:ext cx="5148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8E1B22"/>
                </a:solidFill>
                <a:latin typeface="Calibri"/>
              </a:rPr>
              <a:t>The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892040"/>
            <a:ext cx="5148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The C</a:t>
            </a:r>
            <a:r>
              <a:rPr sz="1700" b="0" i="0" baseline="-25000">
                <a:solidFill>
                  <a:srgbClr val="222222"/>
                </a:solidFill>
                <a:latin typeface="Calibri"/>
              </a:rPr>
              <a:t>out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 of one column becomes the C</a:t>
            </a:r>
            <a:r>
              <a:rPr sz="17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 of the next column.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Three bits in, two bits out — enough for every column.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Topic 2  ·  Full 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Full Adder — Truth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029200" cy="40233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325880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325880"/>
            <a:ext cx="868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C</a:t>
            </a:r>
            <a:r>
              <a:rPr sz="1700" b="1" i="0" baseline="-25000">
                <a:solidFill>
                  <a:srgbClr val="FFFFFF"/>
                </a:solidFill>
                <a:latin typeface="Calibri"/>
              </a:rPr>
              <a:t>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325880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325880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C</a:t>
            </a:r>
            <a:r>
              <a:rPr sz="1700" b="1" i="0" baseline="-25000">
                <a:solidFill>
                  <a:srgbClr val="FFFFFF"/>
                </a:solidFill>
                <a:latin typeface="Calibri"/>
              </a:rPr>
              <a:t>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325880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1728216"/>
            <a:ext cx="91440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00600" y="1728216"/>
            <a:ext cx="77724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728216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1728216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1728216"/>
            <a:ext cx="868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1728216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1728216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1728216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130552"/>
            <a:ext cx="5029200" cy="402336"/>
          </a:xfrm>
          <a:prstGeom prst="rect">
            <a:avLst/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86200" y="2130552"/>
            <a:ext cx="91440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00600" y="2130552"/>
            <a:ext cx="77724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130552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2130552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2130552"/>
            <a:ext cx="868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2130552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2130552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2130552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86200" y="2532888"/>
            <a:ext cx="91440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00600" y="2532888"/>
            <a:ext cx="77724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532888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2532888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2532888"/>
            <a:ext cx="868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2532888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2532888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2532888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2935224"/>
            <a:ext cx="5029200" cy="402336"/>
          </a:xfrm>
          <a:prstGeom prst="rect">
            <a:avLst/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2935224"/>
            <a:ext cx="91440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00600" y="2935224"/>
            <a:ext cx="77724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2935224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" y="2935224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20" y="2935224"/>
            <a:ext cx="868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71800" y="2935224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2935224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600" y="2935224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86200" y="3337560"/>
            <a:ext cx="91440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337560"/>
            <a:ext cx="77724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3337560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25880" y="3337560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3120" y="3337560"/>
            <a:ext cx="868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71800" y="3337560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86200" y="3337560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3337560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3739896"/>
            <a:ext cx="5029200" cy="402336"/>
          </a:xfrm>
          <a:prstGeom prst="rect">
            <a:avLst/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886200" y="3739896"/>
            <a:ext cx="91440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00600" y="3739896"/>
            <a:ext cx="77724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3739896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25880" y="3739896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03120" y="3739896"/>
            <a:ext cx="868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71800" y="3739896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86200" y="3739896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00600" y="3739896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86200" y="4142232"/>
            <a:ext cx="91440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800600" y="4142232"/>
            <a:ext cx="77724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4142232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25880" y="4142232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03120" y="4142232"/>
            <a:ext cx="868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71800" y="4142232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86200" y="4142232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00600" y="4142232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" y="4544568"/>
            <a:ext cx="5029200" cy="402336"/>
          </a:xfrm>
          <a:prstGeom prst="rect">
            <a:avLst/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886200" y="4544568"/>
            <a:ext cx="91440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800600" y="4544568"/>
            <a:ext cx="77724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4544568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25880" y="4544568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03120" y="4544568"/>
            <a:ext cx="868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971800" y="4544568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544568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00600" y="4544568"/>
            <a:ext cx="777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" y="51206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6B6B6B"/>
                </a:solidFill>
                <a:latin typeface="Calibri"/>
              </a:rPr>
              <a:t>Total = A + B + C</a:t>
            </a:r>
            <a:r>
              <a:rPr sz="1500" b="0" i="1" baseline="-25000">
                <a:solidFill>
                  <a:srgbClr val="6B6B6B"/>
                </a:solidFill>
                <a:latin typeface="Calibri"/>
              </a:rPr>
              <a:t>in</a:t>
            </a:r>
            <a:r>
              <a:rPr sz="1500" b="0" i="1">
                <a:solidFill>
                  <a:srgbClr val="6B6B6B"/>
                </a:solidFill>
                <a:latin typeface="Calibri"/>
              </a:rPr>
              <a:t> written in decimal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852160" y="1325880"/>
            <a:ext cx="5788152" cy="128016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26480" y="1527048"/>
            <a:ext cx="5239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8E1B22"/>
                </a:solidFill>
                <a:latin typeface="Calibri"/>
              </a:rPr>
              <a:t>Look at column 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26480" y="1874519"/>
            <a:ext cx="5239512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S = 1 when an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odd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number of inputs are 1.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852160" y="2743200"/>
            <a:ext cx="5788152" cy="128016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26480" y="2944368"/>
            <a:ext cx="5239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Look at column C</a:t>
            </a:r>
            <a:r>
              <a:rPr sz="2000" b="1" i="0" baseline="-25000">
                <a:solidFill>
                  <a:srgbClr val="1B3A6B"/>
                </a:solidFill>
                <a:latin typeface="Calibri"/>
              </a:rPr>
              <a:t>out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26480" y="3291840"/>
            <a:ext cx="5239512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C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out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= 1 when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two or more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inputs are 1 (a majority).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852160" y="4160520"/>
            <a:ext cx="5788152" cy="118872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0" y="4160520"/>
            <a:ext cx="5239512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 = Σm(1, 2, 4, 7)</a:t>
            </a:r>
          </a:p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</a:t>
            </a:r>
            <a:r>
              <a:rPr sz="2000" b="1" i="0" baseline="-25000">
                <a:solidFill>
                  <a:srgbClr val="FFFFFF"/>
                </a:solidFill>
                <a:latin typeface="Calibri"/>
              </a:rPr>
              <a:t>out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 = Σm(3, 5, 6, 7)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Eight rows — verify every one of them in the lab.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Topic 2  ·  Full 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Full Adder — Deriving the Sum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16</a:t>
            </a:r>
          </a:p>
        </p:txBody>
      </p:sp>
      <p:pic>
        <p:nvPicPr>
          <p:cNvPr id="6" name="Picture 5" descr="eq_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3416808" cy="316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371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B6B6B"/>
                </a:solidFill>
                <a:latin typeface="Calibri"/>
              </a:rPr>
              <a:t>minterms 1, 2, 4, 7</a:t>
            </a:r>
          </a:p>
        </p:txBody>
      </p:sp>
      <p:pic>
        <p:nvPicPr>
          <p:cNvPr id="8" name="Picture 7" descr="eq_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039112"/>
            <a:ext cx="3395472" cy="3230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0" y="2084831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B6B6B"/>
                </a:solidFill>
                <a:latin typeface="Calibri"/>
              </a:rPr>
              <a:t>group by A</a:t>
            </a:r>
          </a:p>
        </p:txBody>
      </p:sp>
      <p:pic>
        <p:nvPicPr>
          <p:cNvPr id="10" name="Picture 9" descr="eq_0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752344"/>
            <a:ext cx="2697480" cy="338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03920" y="2798063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B6B6B"/>
                </a:solidFill>
                <a:latin typeface="Calibri"/>
              </a:rPr>
              <a:t>XOR and XNOR</a:t>
            </a:r>
          </a:p>
        </p:txBody>
      </p:sp>
      <p:pic>
        <p:nvPicPr>
          <p:cNvPr id="12" name="Picture 11" descr="eq_0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465576"/>
            <a:ext cx="1682496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03920" y="351129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B6B6B"/>
                </a:solidFill>
                <a:latin typeface="Calibri"/>
              </a:rPr>
              <a:t>the XOR pattern again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51960"/>
            <a:ext cx="5486400" cy="86868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q_01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54580" y="4453128"/>
            <a:ext cx="1874519" cy="30784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309360" y="4251960"/>
            <a:ext cx="5330952" cy="86868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453128"/>
            <a:ext cx="4782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</a:p>
        </p:txBody>
      </p:sp>
      <p:sp>
        <p:nvSpPr>
          <p:cNvPr id="18" name="TextBox 17"/>
          <p:cNvSpPr txBox="1"/>
          <p:nvPr/>
        </p:nvSpPr>
        <p:spPr>
          <a:xfrm>
            <a:off x="6583680" y="4471416"/>
            <a:ext cx="4782312" cy="5120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The Sum is a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3-input XOR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— 1 when an odd number of inputs are 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No K-map needed — the pattern gives the answer directly.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Topic 2  ·  K-map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Can We Simplify 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17</a:t>
            </a:r>
          </a:p>
        </p:txBody>
      </p:sp>
      <p:pic>
        <p:nvPicPr>
          <p:cNvPr id="6" name="Picture 5" descr="kmap_s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3770071" cy="2432304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0" y="1938528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1828800"/>
            <a:ext cx="5852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The 1s form a 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checkerboard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— no two 1s are adjacent.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2807208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2697480"/>
            <a:ext cx="5852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No group of 2 or 4 is possible, so the SOP 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cannot be simplified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0" y="3675887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3566160"/>
            <a:ext cx="5852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Four 3-literal terms would need many gates → use XOR instead.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92040"/>
            <a:ext cx="11091672" cy="77724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4892040"/>
            <a:ext cx="1054303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 checkerboard K-map is the signature of an XOR function.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Sometimes the K-map's answer is “leave it alone”.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Topic 2  ·  K-map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Deriving C</a:t>
            </a:r>
            <a:r>
              <a:rPr sz="3400" b="1" i="0" baseline="-25000">
                <a:solidFill>
                  <a:srgbClr val="1B3A6B"/>
                </a:solidFill>
                <a:latin typeface="Calibri"/>
              </a:rPr>
              <a:t>out</a:t>
            </a:r>
            <a:r>
              <a:rPr sz="3400" b="1" i="0">
                <a:solidFill>
                  <a:srgbClr val="1B3A6B"/>
                </a:solidFill>
                <a:latin typeface="Calibri"/>
              </a:rPr>
              <a:t> with a K-map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18</a:t>
            </a:r>
          </a:p>
        </p:txBody>
      </p:sp>
      <p:pic>
        <p:nvPicPr>
          <p:cNvPr id="6" name="Picture 5" descr="kmap_c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3770071" cy="24323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77840" y="1691640"/>
            <a:ext cx="6062472" cy="621792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06440" y="1819656"/>
            <a:ext cx="548640" cy="365760"/>
          </a:xfrm>
          <a:prstGeom prst="roundRect">
            <a:avLst>
              <a:gd name="adj" fmla="val 20000"/>
            </a:avLst>
          </a:prstGeom>
          <a:noFill/>
          <a:ln w="28575">
            <a:solidFill>
              <a:srgbClr val="8E1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91640"/>
            <a:ext cx="16459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m6, m7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548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691640"/>
            <a:ext cx="22860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1">
                <a:solidFill>
                  <a:srgbClr val="8E1B22"/>
                </a:solidFill>
                <a:latin typeface="Calibri"/>
              </a:rPr>
              <a:t>AB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2468880"/>
            <a:ext cx="6062472" cy="621792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06440" y="2596896"/>
            <a:ext cx="548640" cy="365760"/>
          </a:xfrm>
          <a:prstGeom prst="roundRect">
            <a:avLst>
              <a:gd name="adj" fmla="val 20000"/>
            </a:avLst>
          </a:prstGeom>
          <a:noFill/>
          <a:ln w="28575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468880"/>
            <a:ext cx="16459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m5, m7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68880"/>
            <a:ext cx="548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468880"/>
            <a:ext cx="22860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1">
                <a:solidFill>
                  <a:srgbClr val="1B3A6B"/>
                </a:solidFill>
                <a:latin typeface="Calibri"/>
              </a:rPr>
              <a:t>AC</a:t>
            </a:r>
            <a:r>
              <a:rPr sz="2000" b="1" i="1" baseline="-25000">
                <a:solidFill>
                  <a:srgbClr val="1B3A6B"/>
                </a:solidFill>
                <a:latin typeface="Calibri"/>
              </a:rPr>
              <a:t>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3246120"/>
            <a:ext cx="6062472" cy="621792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06440" y="3374136"/>
            <a:ext cx="548640" cy="365760"/>
          </a:xfrm>
          <a:prstGeom prst="roundRect">
            <a:avLst>
              <a:gd name="adj" fmla="val 20000"/>
            </a:avLst>
          </a:prstGeom>
          <a:noFill/>
          <a:ln w="28575">
            <a:solidFill>
              <a:srgbClr val="1E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246120"/>
            <a:ext cx="16459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m3, m7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246120"/>
            <a:ext cx="548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246120"/>
            <a:ext cx="22860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1">
                <a:solidFill>
                  <a:srgbClr val="1E7A4D"/>
                </a:solidFill>
                <a:latin typeface="Calibri"/>
              </a:rPr>
              <a:t>BC</a:t>
            </a:r>
            <a:r>
              <a:rPr sz="2000" b="1" i="1" baseline="-25000">
                <a:solidFill>
                  <a:srgbClr val="1E7A4D"/>
                </a:solidFill>
                <a:latin typeface="Calibri"/>
              </a:rPr>
              <a:t>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77840" y="4069080"/>
            <a:ext cx="6062472" cy="77724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59" y="4069080"/>
            <a:ext cx="551383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C</a:t>
            </a:r>
            <a:r>
              <a:rPr sz="2200" b="1" i="0" baseline="-25000">
                <a:solidFill>
                  <a:srgbClr val="FFFFFF"/>
                </a:solidFill>
                <a:latin typeface="Calibri"/>
              </a:rPr>
              <a:t>out</a:t>
            </a:r>
            <a:r>
              <a:rPr sz="2200" b="1" i="0">
                <a:solidFill>
                  <a:srgbClr val="FFFFFF"/>
                </a:solidFill>
                <a:latin typeface="Calibri"/>
              </a:rPr>
              <a:t> = AB + AC</a:t>
            </a:r>
            <a:r>
              <a:rPr sz="2200" b="1" i="0" baseline="-25000">
                <a:solidFill>
                  <a:srgbClr val="FFFFFF"/>
                </a:solidFill>
                <a:latin typeface="Calibri"/>
              </a:rPr>
              <a:t>in</a:t>
            </a:r>
            <a:r>
              <a:rPr sz="2200" b="1" i="0">
                <a:solidFill>
                  <a:srgbClr val="FFFFFF"/>
                </a:solidFill>
                <a:latin typeface="Calibri"/>
              </a:rPr>
              <a:t> + BC</a:t>
            </a:r>
            <a:r>
              <a:rPr sz="2200" b="1" i="0" baseline="-25000">
                <a:solidFill>
                  <a:srgbClr val="FFFFFF"/>
                </a:solidFill>
                <a:latin typeface="Calibri"/>
              </a:rPr>
              <a:t>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029200"/>
            <a:ext cx="11091672" cy="105156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5230368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577840"/>
            <a:ext cx="1054303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m7 belongs to all three groups — overlapping groups are allowed in a K-map.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Topic 2  ·  Full 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Another Form of C</a:t>
            </a:r>
            <a:r>
              <a:rPr sz="3400" b="1" i="0" baseline="-25000">
                <a:solidFill>
                  <a:srgbClr val="1B3A6B"/>
                </a:solidFill>
                <a:latin typeface="Calibri"/>
              </a:rPr>
              <a:t>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19</a:t>
            </a:r>
          </a:p>
        </p:txBody>
      </p:sp>
      <p:pic>
        <p:nvPicPr>
          <p:cNvPr id="6" name="Picture 5" descr="eq_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80160"/>
            <a:ext cx="3624072" cy="316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3258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B6B6B"/>
                </a:solidFill>
                <a:latin typeface="Calibri"/>
              </a:rPr>
              <a:t>minterms 3, 5, 6, 7</a:t>
            </a:r>
          </a:p>
        </p:txBody>
      </p:sp>
      <p:pic>
        <p:nvPicPr>
          <p:cNvPr id="8" name="Picture 7" descr="eq_0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938528"/>
            <a:ext cx="3361944" cy="3230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0" y="198424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B6B6B"/>
                </a:solidFill>
                <a:latin typeface="Calibri"/>
              </a:rPr>
              <a:t>group the terms</a:t>
            </a:r>
          </a:p>
        </p:txBody>
      </p:sp>
      <p:pic>
        <p:nvPicPr>
          <p:cNvPr id="10" name="Picture 9" descr="eq_0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596896"/>
            <a:ext cx="2185416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03920" y="2642615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B6B6B"/>
                </a:solidFill>
                <a:latin typeface="Calibri"/>
              </a:rPr>
              <a:t>complement law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29000"/>
            <a:ext cx="5303520" cy="16916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63931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8E1B22"/>
                </a:solidFill>
                <a:latin typeface="Calibri"/>
              </a:rPr>
              <a:t>Form 1 (from the K-map)</a:t>
            </a:r>
          </a:p>
        </p:txBody>
      </p:sp>
      <p:pic>
        <p:nvPicPr>
          <p:cNvPr id="14" name="Picture 13" descr="eq_0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0008" y="4114800"/>
            <a:ext cx="1700784" cy="2712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47091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6B6B6B"/>
                </a:solidFill>
                <a:latin typeface="Calibri"/>
              </a:rPr>
              <a:t>3 AND + 1 three-input 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6792" y="3429000"/>
            <a:ext cx="5303520" cy="169164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363931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1B3A6B"/>
                </a:solidFill>
                <a:latin typeface="Calibri"/>
              </a:rPr>
              <a:t>Form 2 (reuse the XOR)</a:t>
            </a:r>
          </a:p>
        </p:txBody>
      </p:sp>
      <p:pic>
        <p:nvPicPr>
          <p:cNvPr id="18" name="Picture 17" descr="eq_01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4067" y="4114800"/>
            <a:ext cx="1648968" cy="2834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36792" y="47091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6B6B6B"/>
                </a:solidFill>
                <a:latin typeface="Calibri"/>
              </a:rPr>
              <a:t>2 AND + 1 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A ⊕ B is already built for the Sum — so reuse it and save a gate.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Topic 2  ·  Full 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Full Adder — Logic Circuit (SOP Form)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20</a:t>
            </a:r>
          </a:p>
        </p:txBody>
      </p:sp>
      <p:pic>
        <p:nvPicPr>
          <p:cNvPr id="6" name="Picture 5" descr="fa_s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669280" cy="361277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75120" y="1325880"/>
            <a:ext cx="4965192" cy="260604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965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Boolean expressions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0728" y="2103120"/>
            <a:ext cx="2103120" cy="563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q_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249424"/>
            <a:ext cx="1591056" cy="27127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737348" y="2971800"/>
            <a:ext cx="2849880" cy="563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q_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3380" y="3118104"/>
            <a:ext cx="2337816" cy="27127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675120" y="4160520"/>
            <a:ext cx="4965192" cy="137160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4361688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8E1B22"/>
                </a:solidFill>
                <a:latin typeface="Calibri"/>
              </a:rPr>
              <a:t>In the laboratory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709159"/>
            <a:ext cx="44165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Make a 3-input XOR from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two 2-input XOR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gates.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Gates used: 2 XOR + 3 AND + 1 three-input 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Topic 2  ·  Full 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Full Adder from Two Half Adders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21</a:t>
            </a:r>
          </a:p>
        </p:txBody>
      </p:sp>
      <p:pic>
        <p:nvPicPr>
          <p:cNvPr id="6" name="Picture 5" descr="fa_from_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452" y="1280160"/>
            <a:ext cx="8513064" cy="2371496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10712"/>
            <a:ext cx="98298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Half Adder 1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adds A and B  →  P = A ⊕ B,  G = AB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995928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9959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977640"/>
            <a:ext cx="98298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Half Adder 2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adds P and C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 →  S = P ⊕ C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,  X = P·C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in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562856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56285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544568"/>
            <a:ext cx="98298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OR gate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combines the two carries  →  C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out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= G + 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57800"/>
            <a:ext cx="11091672" cy="77724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5257800"/>
            <a:ext cx="1054303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Full Adder  =  2 Half Adders  +  1 OR gate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Topic 2  ·  Full 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Full Adder — Gate-Level Circuit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22</a:t>
            </a:r>
          </a:p>
        </p:txBody>
      </p:sp>
      <p:pic>
        <p:nvPicPr>
          <p:cNvPr id="6" name="Picture 5" descr="fa_2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6445605" cy="322280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06640" y="1371600"/>
            <a:ext cx="4233672" cy="283464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q_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260" y="1600200"/>
            <a:ext cx="1905000" cy="259080"/>
          </a:xfrm>
          <a:prstGeom prst="rect">
            <a:avLst/>
          </a:prstGeom>
        </p:spPr>
      </p:pic>
      <p:pic>
        <p:nvPicPr>
          <p:cNvPr id="9" name="Picture 8" descr="eq_0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6360" y="2240280"/>
            <a:ext cx="1066800" cy="259080"/>
          </a:xfrm>
          <a:prstGeom prst="rect">
            <a:avLst/>
          </a:prstGeom>
        </p:spPr>
      </p:pic>
      <p:pic>
        <p:nvPicPr>
          <p:cNvPr id="10" name="Picture 9" descr="eq_0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1224" y="2880360"/>
            <a:ext cx="957072" cy="259080"/>
          </a:xfrm>
          <a:prstGeom prst="rect">
            <a:avLst/>
          </a:prstGeom>
        </p:spPr>
      </p:pic>
      <p:pic>
        <p:nvPicPr>
          <p:cNvPr id="11" name="Picture 10" descr="eq_0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6924" y="3520439"/>
            <a:ext cx="1185672" cy="259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06640" y="4343400"/>
            <a:ext cx="4233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6B6B6B"/>
                </a:solidFill>
                <a:latin typeface="Calibri"/>
              </a:rPr>
              <a:t>Gates used: 2 XOR + 2 AND + 1 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8348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5184648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8E1B22"/>
                </a:solidFill>
                <a:latin typeface="Calibri"/>
              </a:rPr>
              <a:t>Think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532120"/>
            <a:ext cx="105430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Can G and X both be 1 at the same time? (No — so the OR never has to add two carries.)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Let's Trace It: Full 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Suppose:</a:t>
            </a:r>
          </a:p>
        </p:txBody>
      </p:sp>
      <p:pic>
        <p:nvPicPr>
          <p:cNvPr id="7" name="Picture 6" descr="eq_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207008"/>
            <a:ext cx="2023872" cy="25908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48640" y="1920240"/>
            <a:ext cx="438912" cy="438912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20240"/>
            <a:ext cx="1005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HA 1:</a:t>
            </a:r>
          </a:p>
        </p:txBody>
      </p:sp>
      <p:pic>
        <p:nvPicPr>
          <p:cNvPr id="11" name="Picture 10" descr="eq_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020824"/>
            <a:ext cx="2450592" cy="237744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548640" y="2606040"/>
            <a:ext cx="438912" cy="438912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06040"/>
            <a:ext cx="1005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HA 2:</a:t>
            </a:r>
          </a:p>
        </p:txBody>
      </p:sp>
      <p:pic>
        <p:nvPicPr>
          <p:cNvPr id="15" name="Picture 14" descr="eq_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2706624"/>
            <a:ext cx="2404872" cy="237744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548640" y="3291840"/>
            <a:ext cx="438912" cy="438912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9184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91840"/>
            <a:ext cx="1005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OR:</a:t>
            </a:r>
          </a:p>
        </p:txBody>
      </p:sp>
      <p:pic>
        <p:nvPicPr>
          <p:cNvPr id="19" name="Picture 18" descr="eq_0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3120" y="3392424"/>
            <a:ext cx="1335024" cy="237744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548640" y="3977639"/>
            <a:ext cx="438912" cy="438912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77639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977639"/>
            <a:ext cx="1005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Check:</a:t>
            </a:r>
          </a:p>
        </p:txBody>
      </p:sp>
      <p:pic>
        <p:nvPicPr>
          <p:cNvPr id="23" name="Picture 22" descr="eq_0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120" y="4075175"/>
            <a:ext cx="1877568" cy="243840"/>
          </a:xfrm>
          <a:prstGeom prst="rect">
            <a:avLst/>
          </a:prstGeom>
        </p:spPr>
      </p:pic>
      <p:pic>
        <p:nvPicPr>
          <p:cNvPr id="24" name="Picture 23" descr="fa_2ha_val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0" y="1600200"/>
            <a:ext cx="6035040" cy="301752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48640" y="498348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5184648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Try it yourself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532120"/>
            <a:ext cx="105430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Trace A = 1, B = 1, C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= 1. What are S and C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out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Half Adder vs Full 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530352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325880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325880"/>
            <a:ext cx="4023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Half Adder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325880"/>
            <a:ext cx="44165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Full Adder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856231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856231"/>
            <a:ext cx="4023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2  (A, 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856231"/>
            <a:ext cx="44165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3  (A, B, C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86584"/>
            <a:ext cx="11091672" cy="530352"/>
          </a:xfrm>
          <a:prstGeom prst="rect">
            <a:avLst/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386584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386584"/>
            <a:ext cx="4023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S,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386584"/>
            <a:ext cx="44165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S, C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2916935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Sum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916935"/>
            <a:ext cx="4023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A ⊕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916935"/>
            <a:ext cx="44165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A ⊕ B ⊕ C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447287"/>
            <a:ext cx="11091672" cy="530352"/>
          </a:xfrm>
          <a:prstGeom prst="rect">
            <a:avLst/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447287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Carry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447287"/>
            <a:ext cx="4023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447287"/>
            <a:ext cx="44165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AB + C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(A ⊕ 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3977639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Basic gates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977639"/>
            <a:ext cx="4023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1 XOR + 1 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977639"/>
            <a:ext cx="44165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2 XOR + 2 AND + 1 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507992"/>
            <a:ext cx="11091672" cy="530352"/>
          </a:xfrm>
          <a:prstGeom prst="rect">
            <a:avLst/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4507992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Used for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507992"/>
            <a:ext cx="4023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The LSB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507992"/>
            <a:ext cx="44165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Every bit position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257800"/>
            <a:ext cx="11091672" cy="73152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5257800"/>
            <a:ext cx="1054303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 full adder with C</a:t>
            </a:r>
            <a:r>
              <a:rPr sz="2000" b="1" i="0" baseline="-25000">
                <a:solidFill>
                  <a:srgbClr val="FFFFFF"/>
                </a:solidFill>
                <a:latin typeface="Calibri"/>
              </a:rPr>
              <a:t>in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 = 0 behaves exactly like a half adder.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In the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Laboratory ICs: 7486, 7408 and 7432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8E1B22"/>
                </a:solidFill>
                <a:latin typeface="Calibri"/>
              </a:rPr>
              <a:t>7486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222222"/>
                </a:solidFill>
                <a:latin typeface="Calibri"/>
              </a:rPr>
              <a:t>Quad 2-input XOR</a:t>
            </a:r>
          </a:p>
        </p:txBody>
      </p:sp>
      <p:pic>
        <p:nvPicPr>
          <p:cNvPr id="9" name="Picture 8" descr="ic74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59" y="2240280"/>
            <a:ext cx="3200400" cy="171055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325112" y="132588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148132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1B3A6B"/>
                </a:solidFill>
                <a:latin typeface="Calibri"/>
              </a:rPr>
              <a:t>7408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1874519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222222"/>
                </a:solidFill>
                <a:latin typeface="Calibri"/>
              </a:rPr>
              <a:t>Quad 2-input AND</a:t>
            </a:r>
          </a:p>
        </p:txBody>
      </p:sp>
      <p:pic>
        <p:nvPicPr>
          <p:cNvPr id="13" name="Picture 12" descr="ic74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131" y="2240280"/>
            <a:ext cx="3200400" cy="171055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101583" y="132588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1583" y="148132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8E1B22"/>
                </a:solidFill>
                <a:latin typeface="Calibri"/>
              </a:rPr>
              <a:t>7432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1583" y="1874519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222222"/>
                </a:solidFill>
                <a:latin typeface="Calibri"/>
              </a:rPr>
              <a:t>Quad 2-input OR</a:t>
            </a:r>
          </a:p>
        </p:txBody>
      </p:sp>
      <p:pic>
        <p:nvPicPr>
          <p:cNvPr id="17" name="Picture 16" descr="ic74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1604" y="2240280"/>
            <a:ext cx="3200400" cy="171055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48640" y="3840480"/>
            <a:ext cx="11091672" cy="114300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041648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Important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389120"/>
            <a:ext cx="105430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All three share the 7400 pinout: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pin 14 = VCC, pin 7 = GND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. They look identical — always read the chip label!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Bonus: the 7483 holds four full adders — a complete 4-bit adder — in one chip.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Logisim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Circuit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Build the half adder once, then reuse it as a sub-circuit — twice.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37360"/>
            <a:ext cx="438912" cy="438912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1719072"/>
            <a:ext cx="59161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Create a circuit named HalfAdder.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304288"/>
            <a:ext cx="438912" cy="438912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0428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2286000"/>
            <a:ext cx="59161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Place inputs A, B and outputs S, C.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871215"/>
            <a:ext cx="438912" cy="438912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71215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852927"/>
            <a:ext cx="59161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Wire one XOR and one AND; test all 4 rows.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438144"/>
            <a:ext cx="438912" cy="438912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43814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419856"/>
            <a:ext cx="59161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Create a second circuit, FullAdder.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005072"/>
            <a:ext cx="438912" cy="438912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05072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986784"/>
            <a:ext cx="59161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Place two HalfAdder sub-circuits and one OR.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4572000"/>
            <a:ext cx="438912" cy="438912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57200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4553712"/>
            <a:ext cx="59161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Test all 8 input combinations.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5138927"/>
            <a:ext cx="438912" cy="438912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138927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5120640"/>
            <a:ext cx="59161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Compare with the truth table.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1737360"/>
            <a:ext cx="3776472" cy="274320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ha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04" y="2194560"/>
            <a:ext cx="3200400" cy="13868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138160" y="3611880"/>
            <a:ext cx="32278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1B3A6B"/>
                </a:solidFill>
                <a:latin typeface="Calibri"/>
              </a:rPr>
              <a:t>One block, used twice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A sub-circuit in the simulator is the same idea as one IC on the breadboard.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Quick Check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60152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8E1B22"/>
                </a:solidFill>
                <a:latin typeface="Calibri"/>
              </a:rPr>
              <a:t>How many inputs and outputs does a half adder have?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alibri"/>
              </a:rPr>
              <a:t>Hint: which bits does it add, and what does it produce?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Quick Check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60152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8E1B22"/>
                </a:solidFill>
                <a:latin typeface="Calibri"/>
              </a:rPr>
              <a:t>How many inputs and outputs does a half adder have?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alibri"/>
              </a:rPr>
              <a:t>Hint: which bits does it add, and what does it produce?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457200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4572000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 in,  2 out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Quick Check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60152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8E1B22"/>
                </a:solidFill>
                <a:latin typeface="Calibri"/>
              </a:rPr>
              <a:t>A full adder has A = 1, B = 1, C</a:t>
            </a:r>
            <a:r>
              <a:rPr sz="2400" b="1" i="0" baseline="-25000">
                <a:solidFill>
                  <a:srgbClr val="8E1B22"/>
                </a:solidFill>
                <a:latin typeface="Calibri"/>
              </a:rPr>
              <a:t>in</a:t>
            </a:r>
            <a:r>
              <a:rPr sz="2400" b="1" i="0">
                <a:solidFill>
                  <a:srgbClr val="8E1B22"/>
                </a:solidFill>
                <a:latin typeface="Calibri"/>
              </a:rPr>
              <a:t> = 1. What are S and C</a:t>
            </a:r>
            <a:r>
              <a:rPr sz="2400" b="1" i="0" baseline="-25000">
                <a:solidFill>
                  <a:srgbClr val="8E1B22"/>
                </a:solidFill>
                <a:latin typeface="Calibri"/>
              </a:rPr>
              <a:t>out</a:t>
            </a:r>
            <a:r>
              <a:rPr sz="2400" b="1" i="0">
                <a:solidFill>
                  <a:srgbClr val="8E1B22"/>
                </a:solidFill>
                <a:latin typeface="Calibri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alibri"/>
              </a:rPr>
              <a:t>Hint: count the 1s — 1 + 1 + 1 = 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Quick Check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60152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8E1B22"/>
                </a:solidFill>
                <a:latin typeface="Calibri"/>
              </a:rPr>
              <a:t>A full adder has A = 1, B = 1, C</a:t>
            </a:r>
            <a:r>
              <a:rPr sz="2400" b="1" i="0" baseline="-25000">
                <a:solidFill>
                  <a:srgbClr val="8E1B22"/>
                </a:solidFill>
                <a:latin typeface="Calibri"/>
              </a:rPr>
              <a:t>in</a:t>
            </a:r>
            <a:r>
              <a:rPr sz="2400" b="1" i="0">
                <a:solidFill>
                  <a:srgbClr val="8E1B22"/>
                </a:solidFill>
                <a:latin typeface="Calibri"/>
              </a:rPr>
              <a:t> = 1. What are S and C</a:t>
            </a:r>
            <a:r>
              <a:rPr sz="2400" b="1" i="0" baseline="-25000">
                <a:solidFill>
                  <a:srgbClr val="8E1B22"/>
                </a:solidFill>
                <a:latin typeface="Calibri"/>
              </a:rPr>
              <a:t>out</a:t>
            </a:r>
            <a:r>
              <a:rPr sz="2400" b="1" i="0">
                <a:solidFill>
                  <a:srgbClr val="8E1B22"/>
                </a:solidFill>
                <a:latin typeface="Calibri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alibri"/>
              </a:rPr>
              <a:t>Hint: count the 1s — 1 + 1 + 1 = 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457200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4572000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S = 1,   C</a:t>
            </a:r>
            <a:r>
              <a:rPr sz="2800" b="1" i="0" baseline="-25000">
                <a:solidFill>
                  <a:srgbClr val="FFFFFF"/>
                </a:solidFill>
                <a:latin typeface="Calibri"/>
              </a:rPr>
              <a:t>out</a:t>
            </a:r>
            <a:r>
              <a:rPr sz="2800" b="1" i="0">
                <a:solidFill>
                  <a:srgbClr val="FFFFFF"/>
                </a:solidFill>
                <a:latin typeface="Calibri"/>
              </a:rPr>
              <a:t> = 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Quick Check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60152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8E1B22"/>
                </a:solidFill>
                <a:latin typeface="Calibri"/>
              </a:rPr>
              <a:t>Which gate produces the Sum output of a half adder?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46120"/>
            <a:ext cx="5303520" cy="804672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3419856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41985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246120"/>
            <a:ext cx="411480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Calibri"/>
              </a:rPr>
              <a:t>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792" y="3246120"/>
            <a:ext cx="5303520" cy="804672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29400" y="3419856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41985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3246120"/>
            <a:ext cx="411480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Calibri"/>
              </a:rPr>
              <a:t>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06240"/>
            <a:ext cx="5303520" cy="804672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4379976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37997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206240"/>
            <a:ext cx="411480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Calibri"/>
              </a:rPr>
              <a:t>XOR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36792" y="4206240"/>
            <a:ext cx="5303520" cy="804672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29400" y="4379976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37997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6912" y="4206240"/>
            <a:ext cx="411480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Calibri"/>
              </a:rPr>
              <a:t>NAND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Quick Check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60152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8E1B22"/>
                </a:solidFill>
                <a:latin typeface="Calibri"/>
              </a:rPr>
              <a:t>Which gate produces the Sum output of a half adder?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46120"/>
            <a:ext cx="5303520" cy="804672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3419856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41985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246120"/>
            <a:ext cx="411480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Calibri"/>
              </a:rPr>
              <a:t>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792" y="3246120"/>
            <a:ext cx="5303520" cy="804672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29400" y="3419856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41985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3246120"/>
            <a:ext cx="411480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Calibri"/>
              </a:rPr>
              <a:t>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06240"/>
            <a:ext cx="5303520" cy="804672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4379976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37997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206240"/>
            <a:ext cx="411480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Calibri"/>
              </a:rPr>
              <a:t>XOR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36792" y="4206240"/>
            <a:ext cx="5303520" cy="804672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29400" y="4379976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37997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6912" y="4206240"/>
            <a:ext cx="411480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Calibri"/>
              </a:rPr>
              <a:t>NAND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55848" y="525780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30168" y="5257800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XOR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Quick Check 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60152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8E1B22"/>
                </a:solidFill>
                <a:latin typeface="Calibri"/>
              </a:rPr>
              <a:t>How many half adders (plus one OR gate) make a full adder?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alibri"/>
              </a:rPr>
              <a:t>Hint: one for A + B, then one for the carry-in …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Quick Check 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60152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8E1B22"/>
                </a:solidFill>
                <a:latin typeface="Calibri"/>
              </a:rPr>
              <a:t>How many half adders (plus one OR gate) make a full adder?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alibri"/>
              </a:rPr>
              <a:t>Hint: one for A + B, then one for the carry-in 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457200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4572000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Class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What Comes Next?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91672" cy="109728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27048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Next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74519"/>
            <a:ext cx="10543032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Half Subtractor &amp; Full Subtractor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— the same ideas, applied to subtraction.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0" i="0">
                <a:solidFill>
                  <a:srgbClr val="222222"/>
                </a:solidFill>
                <a:latin typeface="Calibri"/>
              </a:rPr>
              <a:t>For a half subtractor (A − B):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3200400"/>
            <a:ext cx="6336792" cy="173736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q_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192" y="3429000"/>
            <a:ext cx="2767584" cy="289560"/>
          </a:xfrm>
          <a:prstGeom prst="rect">
            <a:avLst/>
          </a:prstGeom>
        </p:spPr>
      </p:pic>
      <p:pic>
        <p:nvPicPr>
          <p:cNvPr id="12" name="Picture 11" descr="eq_0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124" y="4114800"/>
            <a:ext cx="2331720" cy="3505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48640" y="5257800"/>
            <a:ext cx="11091672" cy="77724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5257800"/>
            <a:ext cx="1054303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The Difference is the same XOR as the Sum — only the borrow expression changes.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Today's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32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07592"/>
            <a:ext cx="98298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Binary addition: 1 + 1 = 10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2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 →  Sum 0, Carry 1.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84248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842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965960"/>
            <a:ext cx="98298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Half adder adds 2 bits:  S = A ⊕ B,  C = AB.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642615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4261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24327"/>
            <a:ext cx="98298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A half adder has no carry-in, so it fits only the LSB.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300984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0098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82696"/>
            <a:ext cx="98298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Full adder adds 3 bits (A, B, C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) and gives S and C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out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959352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593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941064"/>
            <a:ext cx="98298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S = A ⊕ B ⊕ C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— 1 when an odd number of inputs are 1.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599432"/>
            <a:ext cx="98298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C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out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= AB + AC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+ BC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= AB + C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(A ⊕ B).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5276088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2760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257800"/>
            <a:ext cx="98298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Full adder = 2 half adders + 1 OR; chain them for n bits.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Before You Leave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You should be able to answer: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03520" cy="105156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039112"/>
            <a:ext cx="548640" cy="54864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1783080"/>
            <a:ext cx="3977639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What is the difference between a half adder and a full adder?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1783080"/>
            <a:ext cx="5303520" cy="105156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56831" y="2039112"/>
            <a:ext cx="548640" cy="54864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1" y="203911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4071" y="1783080"/>
            <a:ext cx="3977639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Why is an XOR gate used for the Sum output?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17520"/>
            <a:ext cx="5303520" cy="105156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273552"/>
            <a:ext cx="548640" cy="54864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2735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3017520"/>
            <a:ext cx="3977639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Write the complete truth table of a full adder.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6792" y="3017520"/>
            <a:ext cx="5303520" cy="105156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56831" y="3273552"/>
            <a:ext cx="548640" cy="54864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1" y="32735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4071" y="3017520"/>
            <a:ext cx="3977639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Derive C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out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using a K-map.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51960"/>
            <a:ext cx="5303520" cy="105156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8680" y="4507992"/>
            <a:ext cx="548640" cy="54864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50799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19" y="4251960"/>
            <a:ext cx="3977639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How do you build a full adder from two half adders?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36792" y="4251960"/>
            <a:ext cx="5303520" cy="105156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656831" y="4507992"/>
            <a:ext cx="548640" cy="54864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1" y="450799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4071" y="4251960"/>
            <a:ext cx="3977639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Which ICs do you need to build a full adder in the lab?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Lab Task — Experiment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11091672" cy="100584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35608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Implementation of Half Adder and Full Adder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10543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Construct the following circuits and verify every row of the truth 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8E1B22"/>
                </a:solidFill>
                <a:latin typeface="Calibri"/>
              </a:rPr>
              <a:t>Part A — Half Adder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218688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12724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Calibri"/>
              </a:rPr>
              <a:t>One XOR gate + one AND gate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602736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511296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Calibri"/>
              </a:rPr>
              <a:t>ICs: 7486, 7408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986783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89534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Calibri"/>
              </a:rPr>
              <a:t>Verify all 4 rows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6792" y="242316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1" y="26060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Part B — Full Adder</a:t>
            </a:r>
          </a:p>
        </p:txBody>
      </p:sp>
      <p:sp>
        <p:nvSpPr>
          <p:cNvPr id="19" name="Oval 18"/>
          <p:cNvSpPr/>
          <p:nvPr/>
        </p:nvSpPr>
        <p:spPr>
          <a:xfrm>
            <a:off x="6702552" y="3218688"/>
            <a:ext cx="82296" cy="82296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58583" y="312724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Calibri"/>
              </a:rPr>
              <a:t>Two half adders + one OR gate</a:t>
            </a:r>
          </a:p>
        </p:txBody>
      </p:sp>
      <p:sp>
        <p:nvSpPr>
          <p:cNvPr id="21" name="Oval 20"/>
          <p:cNvSpPr/>
          <p:nvPr/>
        </p:nvSpPr>
        <p:spPr>
          <a:xfrm>
            <a:off x="6702552" y="3602736"/>
            <a:ext cx="82296" cy="82296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3" y="3511296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Calibri"/>
              </a:rPr>
              <a:t>ICs: 7486, 7408, 7432</a:t>
            </a:r>
          </a:p>
        </p:txBody>
      </p:sp>
      <p:sp>
        <p:nvSpPr>
          <p:cNvPr id="23" name="Oval 22"/>
          <p:cNvSpPr/>
          <p:nvPr/>
        </p:nvSpPr>
        <p:spPr>
          <a:xfrm>
            <a:off x="6702552" y="3986783"/>
            <a:ext cx="82296" cy="82296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58583" y="389534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Calibri"/>
              </a:rPr>
              <a:t>Verify all 8 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434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Submit: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4892040"/>
            <a:ext cx="402336" cy="40233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89204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4892040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Calibri"/>
              </a:rPr>
              <a:t>Circuit diagrams</a:t>
            </a:r>
          </a:p>
        </p:txBody>
      </p:sp>
      <p:sp>
        <p:nvSpPr>
          <p:cNvPr id="29" name="Oval 28"/>
          <p:cNvSpPr/>
          <p:nvPr/>
        </p:nvSpPr>
        <p:spPr>
          <a:xfrm>
            <a:off x="4325112" y="4892040"/>
            <a:ext cx="402336" cy="402336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25112" y="489204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4892040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Calibri"/>
              </a:rPr>
              <a:t>Truth tables</a:t>
            </a:r>
          </a:p>
        </p:txBody>
      </p:sp>
      <p:sp>
        <p:nvSpPr>
          <p:cNvPr id="32" name="Oval 31"/>
          <p:cNvSpPr/>
          <p:nvPr/>
        </p:nvSpPr>
        <p:spPr>
          <a:xfrm>
            <a:off x="8101583" y="4892040"/>
            <a:ext cx="402336" cy="40233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01583" y="489204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1" y="4892040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Calibri"/>
              </a:rPr>
              <a:t>Boolean expressions &amp; K-maps</a:t>
            </a:r>
          </a:p>
        </p:txBody>
      </p:sp>
      <p:sp>
        <p:nvSpPr>
          <p:cNvPr id="35" name="Oval 34"/>
          <p:cNvSpPr/>
          <p:nvPr/>
        </p:nvSpPr>
        <p:spPr>
          <a:xfrm>
            <a:off x="548640" y="5458968"/>
            <a:ext cx="402336" cy="402336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45896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" y="5458968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Calibri"/>
              </a:rPr>
              <a:t>Experimental observations</a:t>
            </a:r>
          </a:p>
        </p:txBody>
      </p:sp>
      <p:sp>
        <p:nvSpPr>
          <p:cNvPr id="38" name="Oval 37"/>
          <p:cNvSpPr/>
          <p:nvPr/>
        </p:nvSpPr>
        <p:spPr>
          <a:xfrm>
            <a:off x="4325112" y="5458968"/>
            <a:ext cx="402336" cy="40233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25112" y="545896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5458968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Calibri"/>
              </a:rPr>
              <a:t>Short conclusion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E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Every Sum Starts with One Bit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737360"/>
            <a:ext cx="6217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Half adder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 — 2 bits in, Sum and Carry out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517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8E1B22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651760"/>
            <a:ext cx="6217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Full adder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 — 3 bits in, adds the carry from the last column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661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8E1B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566160"/>
            <a:ext cx="6217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Two half adders + OR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 — the standard full adder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05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8E1B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480560"/>
            <a:ext cx="6217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Chain them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 — an n-bit adder, then an ALU, then a processor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691640"/>
            <a:ext cx="3776472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9202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8E1B22"/>
                </a:solidFill>
                <a:latin typeface="Calibri"/>
              </a:rPr>
              <a:t>NEXT 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2860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A6B"/>
                </a:solidFill>
                <a:latin typeface="Calibri"/>
              </a:rPr>
              <a:t>Subtractors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88036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Calibri"/>
              </a:rPr>
              <a:t>Half and full subtractors — the same XOR, a different borrow.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572000"/>
            <a:ext cx="377647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