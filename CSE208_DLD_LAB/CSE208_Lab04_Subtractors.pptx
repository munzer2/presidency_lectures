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1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EC498-413B-41A2-B13A-15B8D624C41E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C3662A-E709-468E-A17A-34FFC0806B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235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Recap the adder. Stress that the Difference output will turn out to be the same XOR as the Sum.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2's complement: real ALUs often subtract by adding. The dedicated subtractor is how we learn the borrow.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Stress the second case: 0 minus 1 cannot be done in one column, so we borrow from the next column to the left.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Work the example column by column. Only bit 2 generates a borrow, and bit 3 has to subtract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Compare with the half adder: the D column is identical to S, only the second output differs.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Same SOP method as the adder. The only new thing is the complemented literal in the borrow term.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Same argument as the half adder: from the second column on, three bits arrive.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 the Result column: a negative value means a borrow, and D is that value plus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Identical algebra to the full adder's Sum, because the minterms are the same.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m3 is shared by all three groups. Note every group sits in the A = 0 row except the one with m7.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second form reuses A XOR B from the Difference, which leads to the two-half-subtractor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 and X can never both be 1, so a plain OR is enough to combine the two borrows.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punchline of the class: invert the minuend and an adder becomes a subtractor.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E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68680" y="1874519"/>
            <a:ext cx="3017520" cy="3017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-1-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377440"/>
            <a:ext cx="2011680" cy="2011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480560" y="1325880"/>
            <a:ext cx="7223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2C9CC"/>
                </a:solidFill>
                <a:latin typeface="Calibri"/>
              </a:rPr>
              <a:t>CSE208  ·  DIGITAL LOGIC DESIGN LABORATORY  ·  CLASS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1783080"/>
            <a:ext cx="7223760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Subtractors: Half &amp; Full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3429000"/>
            <a:ext cx="71323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F2C9CC"/>
                </a:solidFill>
                <a:latin typeface="Calibri"/>
              </a:rPr>
              <a:t>Borrowing with logic gates — the same XOR, a different second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4572000"/>
            <a:ext cx="71323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Munzer Mahmood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Lecturer, Department of Computer Science and Engineering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Presidency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Recap  ·  Class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>
                <a:solidFill>
                  <a:srgbClr val="1B3A6B"/>
                </a:solidFill>
                <a:latin typeface="Calibri"/>
              </a:rPr>
              <a:t>Last class you learned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938528"/>
            <a:ext cx="82296" cy="82296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828800"/>
            <a:ext cx="512064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Binary addition: 1 + 1 = 10</a:t>
            </a:r>
            <a:r>
              <a:rPr sz="1900" b="0" i="0" baseline="-25000">
                <a:solidFill>
                  <a:srgbClr val="222222"/>
                </a:solidFill>
                <a:latin typeface="Calibri"/>
              </a:rPr>
              <a:t>2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 →  Sum 0, Carry 1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340864"/>
            <a:ext cx="82296" cy="82296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2231136"/>
            <a:ext cx="512064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Half adder:  S = A ⊕ B,  C = AB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43200"/>
            <a:ext cx="82296" cy="82296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59" y="2633472"/>
            <a:ext cx="512064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Full adder:  S = A ⊕ B ⊕ C</a:t>
            </a:r>
            <a:r>
              <a:rPr sz="1900" b="0" i="0" baseline="-25000">
                <a:solidFill>
                  <a:srgbClr val="222222"/>
                </a:solidFill>
                <a:latin typeface="Calibri"/>
              </a:rPr>
              <a:t>in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145536"/>
            <a:ext cx="82296" cy="82296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3035808"/>
            <a:ext cx="512064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C</a:t>
            </a:r>
            <a:r>
              <a:rPr sz="1900" b="0" i="0" baseline="-25000">
                <a:solidFill>
                  <a:srgbClr val="222222"/>
                </a:solidFill>
                <a:latin typeface="Calibri"/>
              </a:rPr>
              <a:t>out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= AB + C</a:t>
            </a:r>
            <a:r>
              <a:rPr sz="1900" b="0" i="0" baseline="-25000">
                <a:solidFill>
                  <a:srgbClr val="222222"/>
                </a:solidFill>
                <a:latin typeface="Calibri"/>
              </a:rPr>
              <a:t>in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(A ⊕ B)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547872"/>
            <a:ext cx="82296" cy="82296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59" y="3438144"/>
            <a:ext cx="512064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Full adder = 2 half adders + 1 OR gate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280160"/>
            <a:ext cx="5330952" cy="210312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1481328"/>
            <a:ext cx="4782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B3A6B"/>
                </a:solidFill>
                <a:latin typeface="Calibri"/>
              </a:rPr>
              <a:t>Last class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965960"/>
            <a:ext cx="4782312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</a:rPr>
              <a:t>Gates  →  binary addition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611880"/>
            <a:ext cx="5330952" cy="210312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3813048"/>
            <a:ext cx="4782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8E1B22"/>
                </a:solidFill>
                <a:latin typeface="Calibri"/>
              </a:rPr>
              <a:t>Today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297680"/>
            <a:ext cx="4782312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222222"/>
                </a:solidFill>
                <a:latin typeface="Calibri"/>
              </a:rPr>
              <a:t>Gates  →  binary subtraction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6B6B6B"/>
                </a:solidFill>
                <a:latin typeface="Calibri"/>
              </a:rPr>
              <a:t>Almost the same circuit — watch carefully what changes.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Today's 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By the end of today's laboratory, you should be able to: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19072"/>
            <a:ext cx="982980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Apply the rules of binary subtraction, including the borrow.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359152"/>
            <a:ext cx="457200" cy="457200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3591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340864"/>
            <a:ext cx="982980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i="0" dirty="0">
                <a:solidFill>
                  <a:srgbClr val="222222"/>
                </a:solidFill>
                <a:latin typeface="Calibri"/>
              </a:rPr>
              <a:t>Define a half subtractor and derive its truth table.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980944"/>
            <a:ext cx="457200" cy="45720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98094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962656"/>
            <a:ext cx="982980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i="0" dirty="0">
                <a:solidFill>
                  <a:srgbClr val="222222"/>
                </a:solidFill>
                <a:latin typeface="Calibri"/>
              </a:rPr>
              <a:t>Use </a:t>
            </a:r>
            <a:r>
              <a:rPr sz="1900" b="0" i="0" dirty="0" err="1">
                <a:solidFill>
                  <a:srgbClr val="222222"/>
                </a:solidFill>
                <a:latin typeface="Calibri"/>
              </a:rPr>
              <a:t>minterms</a:t>
            </a:r>
            <a:r>
              <a:rPr sz="1900" b="0" i="0" dirty="0">
                <a:solidFill>
                  <a:srgbClr val="222222"/>
                </a:solidFill>
                <a:latin typeface="Calibri"/>
              </a:rPr>
              <a:t> and the SOP method to derive its Difference and Borrow.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602736"/>
            <a:ext cx="457200" cy="457200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60273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584448"/>
            <a:ext cx="982980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i="0" dirty="0">
                <a:solidFill>
                  <a:srgbClr val="222222"/>
                </a:solidFill>
                <a:latin typeface="Calibri"/>
              </a:rPr>
              <a:t>Explain why a half subtractor is not enough for multi-bit subtraction.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224528"/>
            <a:ext cx="457200" cy="45720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42245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206240"/>
            <a:ext cx="982980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Define a full subtractor and derive its Difference and Borrow-out expressions.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48463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828032"/>
            <a:ext cx="982980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i="0" dirty="0">
                <a:solidFill>
                  <a:srgbClr val="222222"/>
                </a:solidFill>
                <a:latin typeface="Calibri"/>
              </a:rPr>
              <a:t>Build a full subtractor using two half subtractors and an OR gate.</a:t>
            </a:r>
          </a:p>
        </p:txBody>
      </p:sp>
      <p:sp>
        <p:nvSpPr>
          <p:cNvPr id="24" name="Oval 23"/>
          <p:cNvSpPr/>
          <p:nvPr/>
        </p:nvSpPr>
        <p:spPr>
          <a:xfrm>
            <a:off x="548640" y="5468112"/>
            <a:ext cx="457200" cy="45720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54681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5449824"/>
            <a:ext cx="982980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i="0" dirty="0">
                <a:solidFill>
                  <a:srgbClr val="222222"/>
                </a:solidFill>
                <a:latin typeface="Calibri"/>
              </a:rPr>
              <a:t>Verify subtractors using a simulator or the 7486, 7408, 7432 and 7404 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Why Do We Need Subtractors?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Subtraction is the second arithmetic operation every processor must perform — and it is where the idea of a borrow comes from: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2121408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8E1B22"/>
                </a:solidFill>
                <a:latin typeface="Calibri"/>
              </a:rPr>
              <a:t>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A − B shows which value is larger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92024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9431" y="2121408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B3A6B"/>
                </a:solidFill>
                <a:latin typeface="Calibri"/>
              </a:rPr>
              <a:t>Counting down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2606040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Timers, loop counters, countdowns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92024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75904" y="2121408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8E1B22"/>
                </a:solidFill>
                <a:latin typeface="Calibri"/>
              </a:rPr>
              <a:t>Address arithmetic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2606040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Offsets and differences of addresses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13672" y="3749039"/>
            <a:ext cx="2103120" cy="566928"/>
          </a:xfrm>
          <a:prstGeom prst="roundRect">
            <a:avLst>
              <a:gd name="adj" fmla="val 14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13672" y="3749039"/>
            <a:ext cx="21031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8E1B22"/>
                </a:solidFill>
                <a:latin typeface="Calibri"/>
              </a:rPr>
              <a:t>Subtractor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89944" y="4032503"/>
            <a:ext cx="237744" cy="0"/>
          </a:xfrm>
          <a:prstGeom prst="line">
            <a:avLst/>
          </a:prstGeom>
          <a:ln w="19050">
            <a:solidFill>
              <a:srgbClr val="6B6B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800840" y="3749039"/>
            <a:ext cx="2103120" cy="566928"/>
          </a:xfrm>
          <a:prstGeom prst="roundRect">
            <a:avLst>
              <a:gd name="adj" fmla="val 14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00840" y="3749039"/>
            <a:ext cx="21031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1B3A6B"/>
                </a:solidFill>
                <a:latin typeface="Calibri"/>
              </a:rPr>
              <a:t>ALU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77112" y="4032503"/>
            <a:ext cx="237744" cy="0"/>
          </a:xfrm>
          <a:prstGeom prst="line">
            <a:avLst/>
          </a:prstGeom>
          <a:ln w="19050">
            <a:solidFill>
              <a:srgbClr val="6B6B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88008" y="3749039"/>
            <a:ext cx="2103120" cy="566928"/>
          </a:xfrm>
          <a:prstGeom prst="roundRect">
            <a:avLst>
              <a:gd name="adj" fmla="val 14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88008" y="3749039"/>
            <a:ext cx="21031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8E1B22"/>
                </a:solidFill>
                <a:latin typeface="Calibri"/>
              </a:rPr>
              <a:t>CPU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464280" y="4032503"/>
            <a:ext cx="237744" cy="0"/>
          </a:xfrm>
          <a:prstGeom prst="line">
            <a:avLst/>
          </a:prstGeom>
          <a:ln w="19050">
            <a:solidFill>
              <a:srgbClr val="6B6B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775176" y="3749039"/>
            <a:ext cx="2103120" cy="566928"/>
          </a:xfrm>
          <a:prstGeom prst="roundRect">
            <a:avLst>
              <a:gd name="adj" fmla="val 14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75176" y="3749039"/>
            <a:ext cx="21031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1B3A6B"/>
                </a:solidFill>
                <a:latin typeface="Calibri"/>
              </a:rPr>
              <a:t>Computer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892040"/>
            <a:ext cx="11091672" cy="685800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59" y="4892040"/>
            <a:ext cx="10543032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Build a circuit that subtracts two single bits — then copy it for every bit.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6B6B6B"/>
                </a:solidFill>
                <a:latin typeface="Calibri"/>
              </a:rPr>
              <a:t>Real processors often subtract by adding the 2's complement — but the borrow is what we learn here.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The four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Binary Subtraction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Subtracting two 1-bit numbers has only four cases: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1B3A6B"/>
                </a:solidFill>
                <a:latin typeface="Calibri"/>
              </a:rPr>
              <a:t>0 − 0 =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Borrow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90672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Difference = 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73736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0" y="196596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8E1B22"/>
                </a:solidFill>
                <a:latin typeface="Calibri"/>
              </a:rPr>
              <a:t>10</a:t>
            </a:r>
            <a:r>
              <a:rPr sz="3000" b="1" i="0" baseline="-25000">
                <a:solidFill>
                  <a:srgbClr val="8E1B22"/>
                </a:solidFill>
                <a:latin typeface="Calibri"/>
              </a:rPr>
              <a:t>2</a:t>
            </a:r>
            <a:r>
              <a:rPr sz="3000" b="1" i="0">
                <a:solidFill>
                  <a:srgbClr val="8E1B22"/>
                </a:solidFill>
                <a:latin typeface="Calibri"/>
              </a:rPr>
              <a:t> − 1 =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395728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8E1B22"/>
                </a:solidFill>
                <a:latin typeface="Calibri"/>
              </a:rPr>
              <a:t>(0 − 1, after borrowing)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69748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8E1B22"/>
                </a:solidFill>
                <a:latin typeface="Calibri"/>
              </a:rPr>
              <a:t>Borrow =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090672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Difference =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73736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196596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1B3A6B"/>
                </a:solidFill>
                <a:latin typeface="Calibri"/>
              </a:rPr>
              <a:t>1 − 0 =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69748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Borrow = 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090672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Difference = 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1737360"/>
            <a:ext cx="2606040" cy="192024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52560" y="1965960"/>
            <a:ext cx="26060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1B3A6B"/>
                </a:solidFill>
                <a:latin typeface="Calibri"/>
              </a:rPr>
              <a:t>1 − 1 =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69748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Borrow = 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3090672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Difference = 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931920"/>
            <a:ext cx="5440680" cy="150876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59" y="4133087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8E1B22"/>
                </a:solidFill>
                <a:latin typeface="Calibri"/>
              </a:rPr>
              <a:t>Two outputs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4480559"/>
            <a:ext cx="4892040" cy="822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Every column produces a </a:t>
            </a:r>
            <a:r>
              <a:rPr sz="1800" b="1" i="0">
                <a:solidFill>
                  <a:srgbClr val="222222"/>
                </a:solidFill>
                <a:latin typeface="Calibri"/>
              </a:rPr>
              <a:t>Difference (D)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 and a </a:t>
            </a:r>
            <a:r>
              <a:rPr sz="1800" b="1" i="0">
                <a:solidFill>
                  <a:srgbClr val="222222"/>
                </a:solidFill>
                <a:latin typeface="Calibri"/>
              </a:rPr>
              <a:t>Borrow (B</a:t>
            </a:r>
            <a:r>
              <a:rPr sz="1800" b="1" i="0" baseline="-25000">
                <a:solidFill>
                  <a:srgbClr val="222222"/>
                </a:solidFill>
                <a:latin typeface="Calibri"/>
              </a:rPr>
              <a:t>out</a:t>
            </a:r>
            <a:r>
              <a:rPr sz="1800" b="1" i="0">
                <a:solidFill>
                  <a:srgbClr val="222222"/>
                </a:solidFill>
                <a:latin typeface="Calibri"/>
              </a:rPr>
              <a:t>)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 taken from the next column.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9632" y="3931920"/>
            <a:ext cx="5440680" cy="150876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73952" y="4133087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3A6B"/>
                </a:solidFill>
                <a:latin typeface="Calibri"/>
              </a:rPr>
              <a:t>Why borrow?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4480559"/>
            <a:ext cx="4892040" cy="822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0 − 1 is impossible in one column, so we borrow 2 from the left: 10</a:t>
            </a:r>
            <a:r>
              <a:rPr sz="1800" b="0" i="0" baseline="-25000">
                <a:solidFill>
                  <a:srgbClr val="222222"/>
                </a:solidFill>
                <a:latin typeface="Calibri"/>
              </a:rPr>
              <a:t>2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 − 1 = 1.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6B6B6B"/>
                </a:solidFill>
                <a:latin typeface="Calibri"/>
              </a:rPr>
              <a:t>Two inputs, two outputs — that is exactly a half subtractor.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Why one circuit is not enough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Subtracting Multi-bit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48456" y="1325880"/>
            <a:ext cx="585216" cy="2743200"/>
          </a:xfrm>
          <a:prstGeom prst="roundRect">
            <a:avLst>
              <a:gd name="adj" fmla="val 10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810511" y="1325880"/>
            <a:ext cx="1874519" cy="2743200"/>
          </a:xfrm>
          <a:prstGeom prst="roundRect">
            <a:avLst>
              <a:gd name="adj" fmla="val 10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1">
                <a:solidFill>
                  <a:srgbClr val="8E1B22"/>
                </a:solidFill>
                <a:latin typeface="Calibri"/>
              </a:rPr>
              <a:t>Borrow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i="1">
                <a:solidFill>
                  <a:srgbClr val="222222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50592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0" i="1">
                <a:solidFill>
                  <a:srgbClr val="222222"/>
                </a:solidFill>
                <a:latin typeface="Calibri"/>
              </a:rPr>
              <a:t>− 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5468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>
                <a:solidFill>
                  <a:srgbClr val="1B3A6B"/>
                </a:solidFill>
                <a:latin typeface="Calibri"/>
              </a:rPr>
              <a:t>Diff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799" y="1417320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8E1B22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1417320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54096" y="1417320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66744" y="1417320"/>
            <a:ext cx="548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828799" y="192024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1448" y="192024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0" i="0">
                <a:solidFill>
                  <a:srgbClr val="222222"/>
                </a:solidFill>
                <a:latin typeface="Calibri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66744" y="192024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799" y="2450592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0" i="0">
                <a:solidFill>
                  <a:srgbClr val="222222"/>
                </a:solidFill>
                <a:latin typeface="Calibri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41448" y="2450592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54096" y="2450592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66744" y="2450592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0" i="0">
                <a:solidFill>
                  <a:srgbClr val="222222"/>
                </a:solidFill>
                <a:latin typeface="Calibri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799" y="315468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1B3A6B"/>
                </a:solidFill>
                <a:latin typeface="Calibri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41448" y="315468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1B3A6B"/>
                </a:solidFill>
                <a:latin typeface="Calibr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54096" y="315468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1B3A6B"/>
                </a:solidFill>
                <a:latin typeface="Calibri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66744" y="315468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1" i="0">
                <a:solidFill>
                  <a:srgbClr val="1B3A6B"/>
                </a:solidFill>
                <a:latin typeface="Calibri"/>
              </a:rPr>
              <a:t>1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691640" y="3017520"/>
            <a:ext cx="2651760" cy="0"/>
          </a:xfrm>
          <a:prstGeom prst="line">
            <a:avLst/>
          </a:prstGeom>
          <a:ln w="1587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526280" y="192024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6B6B6B"/>
                </a:solidFill>
                <a:latin typeface="Calibri"/>
              </a:rPr>
              <a:t>(11)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2450592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6B6B6B"/>
                </a:solidFill>
                <a:latin typeface="Calibri"/>
              </a:rPr>
              <a:t>(6)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315468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6B6B6B"/>
                </a:solidFill>
                <a:latin typeface="Calibri"/>
              </a:rPr>
              <a:t>(5)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00983" y="411480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B3A6B"/>
                </a:solidFill>
                <a:latin typeface="Calibri"/>
              </a:rPr>
              <a:t>2 bits 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83080" y="4114800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8E1B22"/>
                </a:solidFill>
                <a:latin typeface="Calibri"/>
              </a:rPr>
              <a:t>3 bits in</a:t>
            </a:r>
          </a:p>
        </p:txBody>
      </p:sp>
      <p:sp>
        <p:nvSpPr>
          <p:cNvPr id="34" name="Oval 33"/>
          <p:cNvSpPr/>
          <p:nvPr/>
        </p:nvSpPr>
        <p:spPr>
          <a:xfrm>
            <a:off x="6035040" y="1417320"/>
            <a:ext cx="457200" cy="45720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35040" y="14173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1399032"/>
            <a:ext cx="48920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Calibri"/>
              </a:rPr>
              <a:t>Rightmost column: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 A</a:t>
            </a:r>
            <a:r>
              <a:rPr sz="1800" b="0" i="0" baseline="-25000">
                <a:solidFill>
                  <a:srgbClr val="222222"/>
                </a:solidFill>
                <a:latin typeface="Calibri"/>
              </a:rPr>
              <a:t>0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 − B</a:t>
            </a:r>
            <a:r>
              <a:rPr sz="1800" b="0" i="0" baseline="-25000">
                <a:solidFill>
                  <a:srgbClr val="222222"/>
                </a:solidFill>
                <a:latin typeface="Calibri"/>
              </a:rPr>
              <a:t>0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 — only 2 bits, nothing is borrowed yet.</a:t>
            </a:r>
          </a:p>
        </p:txBody>
      </p:sp>
      <p:sp>
        <p:nvSpPr>
          <p:cNvPr id="37" name="Oval 36"/>
          <p:cNvSpPr/>
          <p:nvPr/>
        </p:nvSpPr>
        <p:spPr>
          <a:xfrm>
            <a:off x="6035040" y="2423160"/>
            <a:ext cx="457200" cy="457200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035040" y="24231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2404872"/>
            <a:ext cx="48920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Calibri"/>
              </a:rPr>
              <a:t>Every other column: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 A</a:t>
            </a:r>
            <a:r>
              <a:rPr sz="1800" b="0" i="0" baseline="-25000">
                <a:solidFill>
                  <a:srgbClr val="222222"/>
                </a:solidFill>
                <a:latin typeface="Calibri"/>
              </a:rPr>
              <a:t>i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 − B</a:t>
            </a:r>
            <a:r>
              <a:rPr sz="1800" b="0" i="0" baseline="-25000">
                <a:solidFill>
                  <a:srgbClr val="222222"/>
                </a:solidFill>
                <a:latin typeface="Calibri"/>
              </a:rPr>
              <a:t>i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 − borrow-in — 3 bits.</a:t>
            </a:r>
          </a:p>
        </p:txBody>
      </p:sp>
      <p:sp>
        <p:nvSpPr>
          <p:cNvPr id="40" name="Oval 39"/>
          <p:cNvSpPr/>
          <p:nvPr/>
        </p:nvSpPr>
        <p:spPr>
          <a:xfrm>
            <a:off x="6035040" y="3429000"/>
            <a:ext cx="457200" cy="45720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035040" y="3429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3410712"/>
            <a:ext cx="489204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Calibri"/>
              </a:rPr>
              <a:t>A column that cannot subtract </a:t>
            </a:r>
            <a:r>
              <a:rPr sz="1800" b="1" i="0">
                <a:solidFill>
                  <a:srgbClr val="222222"/>
                </a:solidFill>
                <a:latin typeface="Calibri"/>
              </a:rPr>
              <a:t>borrows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 from the column to its left.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4892040"/>
            <a:ext cx="11091672" cy="685800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2959" y="4892040"/>
            <a:ext cx="10543032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 inputs  ⇒  Half Subtractor            3 inputs  ⇒  Full Subtractor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6B6B6B"/>
                </a:solidFill>
                <a:latin typeface="Calibri"/>
              </a:rPr>
              <a:t>Here only bit 2 borrows — but any column might.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Topic 1  ·  Half subtractor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The Half Subtractor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11091672" cy="118872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435608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8E1B22"/>
                </a:solidFill>
                <a:latin typeface="Calibri"/>
              </a:rPr>
              <a:t>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783080"/>
            <a:ext cx="1054303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A </a:t>
            </a:r>
            <a:r>
              <a:rPr sz="1900" b="1" i="0">
                <a:solidFill>
                  <a:srgbClr val="222222"/>
                </a:solidFill>
                <a:latin typeface="Calibri"/>
              </a:rPr>
              <a:t>half subtractor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is a combinational circuit that subtracts two 1-bit inputs, B from A, and produces two outputs: a </a:t>
            </a:r>
            <a:r>
              <a:rPr sz="1900" b="1" i="0">
                <a:solidFill>
                  <a:srgbClr val="222222"/>
                </a:solidFill>
                <a:latin typeface="Calibri"/>
              </a:rPr>
              <a:t>Difference (D)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and a </a:t>
            </a:r>
            <a:r>
              <a:rPr sz="1900" b="1" i="0">
                <a:solidFill>
                  <a:srgbClr val="222222"/>
                </a:solidFill>
                <a:latin typeface="Calibri"/>
              </a:rPr>
              <a:t>Borrow (B</a:t>
            </a:r>
            <a:r>
              <a:rPr sz="1900" b="1" i="0" baseline="-25000">
                <a:solidFill>
                  <a:srgbClr val="222222"/>
                </a:solidFill>
                <a:latin typeface="Calibri"/>
              </a:rPr>
              <a:t>out</a:t>
            </a:r>
            <a:r>
              <a:rPr sz="1900" b="1" i="0">
                <a:solidFill>
                  <a:srgbClr val="222222"/>
                </a:solidFill>
                <a:latin typeface="Calibri"/>
              </a:rPr>
              <a:t>)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.</a:t>
            </a:r>
          </a:p>
        </p:txBody>
      </p:sp>
      <p:pic>
        <p:nvPicPr>
          <p:cNvPr id="9" name="Picture 8" descr="hs_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43200"/>
            <a:ext cx="4134916" cy="1580997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6035040" y="2852928"/>
            <a:ext cx="82296" cy="82296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59" y="2743200"/>
            <a:ext cx="5303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222222"/>
                </a:solidFill>
                <a:latin typeface="Calibri"/>
              </a:rPr>
              <a:t>Inputs: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A (minuend), B (subtrahend)</a:t>
            </a:r>
          </a:p>
        </p:txBody>
      </p:sp>
      <p:sp>
        <p:nvSpPr>
          <p:cNvPr id="12" name="Oval 11"/>
          <p:cNvSpPr/>
          <p:nvPr/>
        </p:nvSpPr>
        <p:spPr>
          <a:xfrm>
            <a:off x="6035040" y="3355848"/>
            <a:ext cx="82296" cy="82296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59" y="3246120"/>
            <a:ext cx="5303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222222"/>
                </a:solidFill>
                <a:latin typeface="Calibri"/>
              </a:rPr>
              <a:t>Outputs: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D, B</a:t>
            </a:r>
            <a:r>
              <a:rPr sz="1900" b="0" i="0" baseline="-25000">
                <a:solidFill>
                  <a:srgbClr val="222222"/>
                </a:solidFill>
                <a:latin typeface="Calibri"/>
              </a:rPr>
              <a:t>out</a:t>
            </a:r>
          </a:p>
        </p:txBody>
      </p:sp>
      <p:sp>
        <p:nvSpPr>
          <p:cNvPr id="14" name="Oval 13"/>
          <p:cNvSpPr/>
          <p:nvPr/>
        </p:nvSpPr>
        <p:spPr>
          <a:xfrm>
            <a:off x="6035040" y="3858768"/>
            <a:ext cx="82296" cy="82296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59" y="3749039"/>
            <a:ext cx="5303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222222"/>
                </a:solidFill>
                <a:latin typeface="Calibri"/>
              </a:rPr>
              <a:t>B</a:t>
            </a:r>
            <a:r>
              <a:rPr sz="1900" b="1" i="0" baseline="-25000">
                <a:solidFill>
                  <a:srgbClr val="222222"/>
                </a:solidFill>
                <a:latin typeface="Calibri"/>
              </a:rPr>
              <a:t>out</a:t>
            </a:r>
            <a:r>
              <a:rPr sz="1900" b="1" i="0">
                <a:solidFill>
                  <a:srgbClr val="222222"/>
                </a:solidFill>
                <a:latin typeface="Calibri"/>
              </a:rPr>
              <a:t> = 1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means we had to borrow from the next column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4434840"/>
            <a:ext cx="5605272" cy="118872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59" y="4636007"/>
            <a:ext cx="50566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3A6B"/>
                </a:solidFill>
                <a:latin typeface="Calibri"/>
              </a:rPr>
              <a:t>Why “half”?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4983479"/>
            <a:ext cx="505663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It subtracts only two bits — there is no input for a borrow from a previous column.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6B6B6B"/>
                </a:solidFill>
                <a:latin typeface="Calibri"/>
              </a:rPr>
              <a:t>Order matters: A − B is not the same as B − 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Topic 1  ·  Half subtractor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Half Subtractor — Truth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4206240" cy="502920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005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325880"/>
            <a:ext cx="1005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325880"/>
            <a:ext cx="1188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B</a:t>
            </a:r>
            <a:r>
              <a:rPr sz="1900" b="1" i="0" baseline="-25000">
                <a:solidFill>
                  <a:srgbClr val="FFFFFF"/>
                </a:solidFill>
                <a:latin typeface="Calibri"/>
              </a:rPr>
              <a:t>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1325880"/>
            <a:ext cx="1005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1828800"/>
            <a:ext cx="1188720" cy="502920"/>
          </a:xfrm>
          <a:prstGeom prst="rect">
            <a:avLst/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749040" y="1828800"/>
            <a:ext cx="1005840" cy="502920"/>
          </a:xfrm>
          <a:prstGeom prst="rect">
            <a:avLst/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828800"/>
            <a:ext cx="1005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0" i="0">
                <a:solidFill>
                  <a:srgbClr val="222222"/>
                </a:solidFill>
                <a:latin typeface="Calibri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1828800"/>
            <a:ext cx="1005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0" i="0">
                <a:solidFill>
                  <a:srgbClr val="222222"/>
                </a:solidFill>
                <a:latin typeface="Calibri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1828800"/>
            <a:ext cx="1188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8E1B22"/>
                </a:solidFill>
                <a:latin typeface="Calibr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1828800"/>
            <a:ext cx="1005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8E1B22"/>
                </a:solidFill>
                <a:latin typeface="Calibri"/>
              </a:rP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331720"/>
            <a:ext cx="4206240" cy="502920"/>
          </a:xfrm>
          <a:prstGeom prst="rect">
            <a:avLst/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560320" y="2331720"/>
            <a:ext cx="1188720" cy="502920"/>
          </a:xfrm>
          <a:prstGeom prst="rect">
            <a:avLst/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749040" y="2331720"/>
            <a:ext cx="1005840" cy="502920"/>
          </a:xfrm>
          <a:prstGeom prst="rect">
            <a:avLst/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2331720"/>
            <a:ext cx="1005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0" i="0">
                <a:solidFill>
                  <a:srgbClr val="222222"/>
                </a:solidFill>
                <a:latin typeface="Calibri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2331720"/>
            <a:ext cx="1005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2331720"/>
            <a:ext cx="1188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8E1B22"/>
                </a:solidFill>
                <a:latin typeface="Calibr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40" y="2331720"/>
            <a:ext cx="1005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8E1B22"/>
                </a:solidFill>
                <a:latin typeface="Calibri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2834640"/>
            <a:ext cx="1188720" cy="502920"/>
          </a:xfrm>
          <a:prstGeom prst="rect">
            <a:avLst/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749040" y="2834640"/>
            <a:ext cx="1005840" cy="502920"/>
          </a:xfrm>
          <a:prstGeom prst="rect">
            <a:avLst/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2834640"/>
            <a:ext cx="1005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2834640"/>
            <a:ext cx="1005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0" i="0">
                <a:solidFill>
                  <a:srgbClr val="222222"/>
                </a:solidFill>
                <a:latin typeface="Calibri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2834640"/>
            <a:ext cx="1188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8E1B22"/>
                </a:solidFill>
                <a:latin typeface="Calibri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40" y="2834640"/>
            <a:ext cx="1005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8E1B22"/>
                </a:solidFill>
                <a:latin typeface="Calibri"/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337560"/>
            <a:ext cx="4206240" cy="502920"/>
          </a:xfrm>
          <a:prstGeom prst="rect">
            <a:avLst/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560320" y="3337560"/>
            <a:ext cx="1188720" cy="502920"/>
          </a:xfrm>
          <a:prstGeom prst="rect">
            <a:avLst/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749040" y="3337560"/>
            <a:ext cx="1005840" cy="502920"/>
          </a:xfrm>
          <a:prstGeom prst="rect">
            <a:avLst/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3337560"/>
            <a:ext cx="1005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3337560"/>
            <a:ext cx="1005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0320" y="3337560"/>
            <a:ext cx="1188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8E1B22"/>
                </a:solidFill>
                <a:latin typeface="Calibri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49040" y="3337560"/>
            <a:ext cx="1005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8E1B22"/>
                </a:solidFill>
                <a:latin typeface="Calibri"/>
              </a:rP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20624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1">
                <a:solidFill>
                  <a:srgbClr val="6B6B6B"/>
                </a:solidFill>
                <a:latin typeface="Calibri"/>
              </a:rPr>
              <a:t>Only row 01 needs a borrow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20640" y="1325880"/>
            <a:ext cx="6519672" cy="146304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394959" y="1527048"/>
            <a:ext cx="5971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8E1B22"/>
                </a:solidFill>
                <a:latin typeface="Calibri"/>
              </a:rPr>
              <a:t>Look at column 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94959" y="1874519"/>
            <a:ext cx="597103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D = 1 when the inputs are </a:t>
            </a:r>
            <a:r>
              <a:rPr sz="1800" b="1" i="0">
                <a:solidFill>
                  <a:srgbClr val="222222"/>
                </a:solidFill>
                <a:latin typeface="Calibri"/>
              </a:rPr>
              <a:t>different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  →  XOR</a:t>
            </a:r>
          </a:p>
        </p:txBody>
      </p:sp>
      <p:pic>
        <p:nvPicPr>
          <p:cNvPr id="41" name="Picture 40" descr="eq_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9832" y="2212848"/>
            <a:ext cx="1133856" cy="289560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5120640" y="3063240"/>
            <a:ext cx="6519672" cy="146304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394959" y="3264408"/>
            <a:ext cx="5971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3A6B"/>
                </a:solidFill>
                <a:latin typeface="Calibri"/>
              </a:rPr>
              <a:t>Look at column B</a:t>
            </a:r>
            <a:r>
              <a:rPr sz="2000" b="1" i="0" baseline="-25000">
                <a:solidFill>
                  <a:srgbClr val="1B3A6B"/>
                </a:solidFill>
                <a:latin typeface="Calibri"/>
              </a:rPr>
              <a:t>out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94959" y="3611880"/>
            <a:ext cx="597103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B</a:t>
            </a:r>
            <a:r>
              <a:rPr sz="1800" b="0" i="0" baseline="-25000">
                <a:solidFill>
                  <a:srgbClr val="222222"/>
                </a:solidFill>
                <a:latin typeface="Calibri"/>
              </a:rPr>
              <a:t>out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 = 1 only when </a:t>
            </a:r>
            <a:r>
              <a:rPr sz="1800" b="1" i="0">
                <a:solidFill>
                  <a:srgbClr val="222222"/>
                </a:solidFill>
                <a:latin typeface="Calibri"/>
              </a:rPr>
              <a:t>A = 0 and B = 1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  →  NOT + AND</a:t>
            </a:r>
          </a:p>
        </p:txBody>
      </p:sp>
      <p:pic>
        <p:nvPicPr>
          <p:cNvPr id="45" name="Picture 44" descr="eq_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7348" y="3950208"/>
            <a:ext cx="1258824" cy="350520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5120640" y="4800600"/>
            <a:ext cx="6519672" cy="731520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394959" y="4800600"/>
            <a:ext cx="597103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Half subtractor = one XOR + one AND + one NOT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6B6B6B"/>
                </a:solidFill>
                <a:latin typeface="Calibri"/>
              </a:rPr>
              <a:t>The Difference is the same XOR as the adder's Sum.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Technique  ·  SOP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Deriving the Expressions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Use the Sum of Products (SOP) method: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719072"/>
            <a:ext cx="425196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Calibri"/>
              </a:rPr>
              <a:t>Write the minterm of every row where the output is 1.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606039"/>
            <a:ext cx="457200" cy="457200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606039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587751"/>
            <a:ext cx="425196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Calibri"/>
              </a:rPr>
              <a:t>OR those minterms together.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4747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56432"/>
            <a:ext cx="425196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Calibri"/>
              </a:rPr>
              <a:t>Simplify and recognise the gate.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1371600"/>
            <a:ext cx="5605272" cy="182880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157276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8E1B22"/>
                </a:solidFill>
                <a:latin typeface="Calibri"/>
              </a:rPr>
              <a:t>D = 1 in rows 01 and 10</a:t>
            </a:r>
          </a:p>
        </p:txBody>
      </p:sp>
      <p:pic>
        <p:nvPicPr>
          <p:cNvPr id="18" name="Picture 17" descr="eq_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4444" y="2057400"/>
            <a:ext cx="1399032" cy="307848"/>
          </a:xfrm>
          <a:prstGeom prst="rect">
            <a:avLst/>
          </a:prstGeom>
        </p:spPr>
      </p:pic>
      <p:pic>
        <p:nvPicPr>
          <p:cNvPr id="19" name="Picture 18" descr="eq_0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032" y="2578608"/>
            <a:ext cx="1133856" cy="28956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035040" y="3383280"/>
            <a:ext cx="5605272" cy="137160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3584448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B3A6B"/>
                </a:solidFill>
                <a:latin typeface="Calibri"/>
              </a:rPr>
              <a:t>B</a:t>
            </a:r>
            <a:r>
              <a:rPr sz="1900" b="1" i="0" baseline="-25000">
                <a:solidFill>
                  <a:srgbClr val="1B3A6B"/>
                </a:solidFill>
                <a:latin typeface="Calibri"/>
              </a:rPr>
              <a:t>out</a:t>
            </a:r>
            <a:r>
              <a:rPr sz="1900" b="1" i="0">
                <a:solidFill>
                  <a:srgbClr val="1B3A6B"/>
                </a:solidFill>
                <a:latin typeface="Calibri"/>
              </a:rPr>
              <a:t> = 1 only in row 01</a:t>
            </a:r>
          </a:p>
        </p:txBody>
      </p:sp>
      <p:pic>
        <p:nvPicPr>
          <p:cNvPr id="22" name="Picture 21" descr="eq_0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5988" y="4069080"/>
            <a:ext cx="1075944" cy="35052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548640" y="5029200"/>
            <a:ext cx="11091672" cy="731520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59" y="5029200"/>
            <a:ext cx="1054303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Compare with the half adder: C = AB, but B</a:t>
            </a:r>
            <a:r>
              <a:rPr sz="2000" b="1" i="0" baseline="-25000">
                <a:solidFill>
                  <a:srgbClr val="FFFFFF"/>
                </a:solidFill>
                <a:latin typeface="Calibri"/>
              </a:rPr>
              <a:t>out</a:t>
            </a:r>
            <a:r>
              <a:rPr sz="2000" b="1" i="0">
                <a:solidFill>
                  <a:srgbClr val="FFFFFF"/>
                </a:solidFill>
                <a:latin typeface="Calibri"/>
              </a:rPr>
              <a:t> = A̅B — the minuend is inverted.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6B6B6B"/>
                </a:solidFill>
                <a:latin typeface="Calibri"/>
              </a:rPr>
              <a:t>One inverter is the whole difference between adding and subtracting.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Topic 1  ·  Half subtractor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Half Subtractor — Logic Circuit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10</a:t>
            </a:r>
          </a:p>
        </p:txBody>
      </p:sp>
      <p:pic>
        <p:nvPicPr>
          <p:cNvPr id="6" name="Picture 5" descr="hs_circu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4742992" cy="237149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09360" y="1325880"/>
            <a:ext cx="5330952" cy="237744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1554480"/>
            <a:ext cx="53309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1B3A6B"/>
                </a:solidFill>
                <a:latin typeface="Calibri"/>
              </a:rPr>
              <a:t>Boolean expressions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56448" y="2103120"/>
            <a:ext cx="1645920" cy="582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eq_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249424"/>
            <a:ext cx="1133856" cy="2895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185404" y="2880360"/>
            <a:ext cx="1588008" cy="643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eq_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1436" y="3026664"/>
            <a:ext cx="1075944" cy="3505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309360" y="3931920"/>
            <a:ext cx="5330952" cy="160020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4133087"/>
            <a:ext cx="4782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8E1B22"/>
                </a:solidFill>
                <a:latin typeface="Calibri"/>
              </a:rPr>
              <a:t>In the laboratory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480559"/>
            <a:ext cx="4782312" cy="914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One gate of the </a:t>
            </a:r>
            <a:r>
              <a:rPr sz="1700" b="1" i="0">
                <a:solidFill>
                  <a:srgbClr val="222222"/>
                </a:solidFill>
                <a:latin typeface="Calibri"/>
              </a:rPr>
              <a:t>7486</a:t>
            </a:r>
            <a:r>
              <a:rPr sz="1700" b="0" i="0">
                <a:solidFill>
                  <a:srgbClr val="222222"/>
                </a:solidFill>
                <a:latin typeface="Calibri"/>
              </a:rPr>
              <a:t> (XOR), one of the </a:t>
            </a:r>
            <a:r>
              <a:rPr sz="1700" b="1" i="0">
                <a:solidFill>
                  <a:srgbClr val="222222"/>
                </a:solidFill>
                <a:latin typeface="Calibri"/>
              </a:rPr>
              <a:t>7408</a:t>
            </a:r>
            <a:r>
              <a:rPr sz="1700" b="0" i="0">
                <a:solidFill>
                  <a:srgbClr val="222222"/>
                </a:solidFill>
                <a:latin typeface="Calibri"/>
              </a:rPr>
              <a:t> (AND) and one of the </a:t>
            </a:r>
            <a:r>
              <a:rPr sz="1700" b="1" i="0">
                <a:solidFill>
                  <a:srgbClr val="222222"/>
                </a:solidFill>
                <a:latin typeface="Calibri"/>
              </a:rPr>
              <a:t>7404</a:t>
            </a:r>
            <a:r>
              <a:rPr sz="1700" b="0" i="0">
                <a:solidFill>
                  <a:srgbClr val="222222"/>
                </a:solidFill>
                <a:latin typeface="Calibri"/>
              </a:rPr>
              <a:t> (NOT) on input 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6B6B6B"/>
                </a:solidFill>
                <a:latin typeface="Calibri"/>
              </a:rPr>
              <a:t>Gates used: 1 XOR + 1 AND + 1 NOT.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Let's Trace It: Half Subtractor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Given the half subtractor circuit, suppose: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120640" cy="68580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q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488" y="1874519"/>
            <a:ext cx="1456944" cy="28956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548640" y="2697480"/>
            <a:ext cx="457200" cy="45720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97480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XOR:</a:t>
            </a:r>
          </a:p>
        </p:txBody>
      </p:sp>
      <p:pic>
        <p:nvPicPr>
          <p:cNvPr id="12" name="Picture 11" descr="eq_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2804160"/>
            <a:ext cx="1252728" cy="243840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548640" y="3410712"/>
            <a:ext cx="457200" cy="457200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4107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410712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NOT + AND:</a:t>
            </a:r>
          </a:p>
        </p:txBody>
      </p:sp>
      <p:pic>
        <p:nvPicPr>
          <p:cNvPr id="16" name="Picture 15" descr="eq_0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3489960"/>
            <a:ext cx="1356360" cy="298704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548640" y="4123944"/>
            <a:ext cx="457200" cy="45720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412394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123944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Check:</a:t>
            </a:r>
          </a:p>
        </p:txBody>
      </p:sp>
      <p:pic>
        <p:nvPicPr>
          <p:cNvPr id="20" name="Picture 19" descr="eq_0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1760" y="4224528"/>
            <a:ext cx="3364992" cy="256032"/>
          </a:xfrm>
          <a:prstGeom prst="rect">
            <a:avLst/>
          </a:prstGeom>
        </p:spPr>
      </p:pic>
      <p:pic>
        <p:nvPicPr>
          <p:cNvPr id="21" name="Picture 20" descr="hs_val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1828800"/>
            <a:ext cx="4742992" cy="2371496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548640" y="4983480"/>
            <a:ext cx="11091672" cy="123444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59" y="5184648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3A6B"/>
                </a:solidFill>
                <a:latin typeface="Calibri"/>
              </a:rPr>
              <a:t>Try it yourself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5532120"/>
            <a:ext cx="1054303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Repeat the trace for A = 1, B = 1. What are D and B</a:t>
            </a:r>
            <a:r>
              <a:rPr sz="1800" b="0" i="0" baseline="-25000">
                <a:solidFill>
                  <a:srgbClr val="222222"/>
                </a:solidFill>
                <a:latin typeface="Calibri"/>
              </a:rPr>
              <a:t>out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Topic 1  ·  Half subtractor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Limitation of the Half Subtractor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12</a:t>
            </a:r>
          </a:p>
        </p:txBody>
      </p:sp>
      <p:pic>
        <p:nvPicPr>
          <p:cNvPr id="6" name="Picture 5" descr="hs_lim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54480"/>
            <a:ext cx="4134916" cy="2553919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760720" y="1847088"/>
            <a:ext cx="82296" cy="82296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40" y="1737360"/>
            <a:ext cx="55778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A half subtractor has only </a:t>
            </a:r>
            <a:r>
              <a:rPr sz="1900" b="1" i="0">
                <a:solidFill>
                  <a:srgbClr val="222222"/>
                </a:solidFill>
                <a:latin typeface="Calibri"/>
              </a:rPr>
              <a:t>2 inputs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.</a:t>
            </a:r>
          </a:p>
        </p:txBody>
      </p:sp>
      <p:sp>
        <p:nvSpPr>
          <p:cNvPr id="9" name="Oval 8"/>
          <p:cNvSpPr/>
          <p:nvPr/>
        </p:nvSpPr>
        <p:spPr>
          <a:xfrm>
            <a:off x="5760720" y="2715768"/>
            <a:ext cx="82296" cy="82296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0" y="2606039"/>
            <a:ext cx="55778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 dirty="0">
                <a:solidFill>
                  <a:srgbClr val="222222"/>
                </a:solidFill>
                <a:latin typeface="Calibri"/>
              </a:rPr>
              <a:t>From the 2nd column on we must handle </a:t>
            </a:r>
            <a:r>
              <a:rPr sz="1900" b="1" i="0" dirty="0">
                <a:solidFill>
                  <a:srgbClr val="222222"/>
                </a:solidFill>
                <a:latin typeface="Calibri"/>
              </a:rPr>
              <a:t>3 bits</a:t>
            </a:r>
            <a:r>
              <a:rPr sz="1900" b="0" i="0" dirty="0">
                <a:solidFill>
                  <a:srgbClr val="222222"/>
                </a:solidFill>
                <a:latin typeface="Calibri"/>
              </a:rPr>
              <a:t>: A</a:t>
            </a:r>
            <a:r>
              <a:rPr sz="1900" b="0" i="0" baseline="-25000" dirty="0">
                <a:solidFill>
                  <a:srgbClr val="222222"/>
                </a:solidFill>
                <a:latin typeface="Calibri"/>
              </a:rPr>
              <a:t>i</a:t>
            </a:r>
            <a:r>
              <a:rPr sz="1900" b="0" i="0" dirty="0">
                <a:solidFill>
                  <a:srgbClr val="222222"/>
                </a:solidFill>
                <a:latin typeface="Calibri"/>
              </a:rPr>
              <a:t>, B</a:t>
            </a:r>
            <a:r>
              <a:rPr sz="1900" b="0" i="0" baseline="-25000" dirty="0">
                <a:solidFill>
                  <a:srgbClr val="222222"/>
                </a:solidFill>
                <a:latin typeface="Calibri"/>
              </a:rPr>
              <a:t>i</a:t>
            </a:r>
            <a:r>
              <a:rPr sz="1900" b="0" i="0" dirty="0">
                <a:solidFill>
                  <a:srgbClr val="222222"/>
                </a:solidFill>
                <a:latin typeface="Calibri"/>
              </a:rPr>
              <a:t> and the borrow-in.</a:t>
            </a:r>
          </a:p>
        </p:txBody>
      </p:sp>
      <p:sp>
        <p:nvSpPr>
          <p:cNvPr id="11" name="Oval 10"/>
          <p:cNvSpPr/>
          <p:nvPr/>
        </p:nvSpPr>
        <p:spPr>
          <a:xfrm>
            <a:off x="5760720" y="3584448"/>
            <a:ext cx="82296" cy="82296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35040" y="3474720"/>
            <a:ext cx="557784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 dirty="0">
                <a:solidFill>
                  <a:srgbClr val="222222"/>
                </a:solidFill>
                <a:latin typeface="Calibri"/>
              </a:rPr>
              <a:t>So</a:t>
            </a:r>
            <a:r>
              <a:rPr lang="en-US" sz="1900" b="0" i="0" dirty="0">
                <a:solidFill>
                  <a:srgbClr val="222222"/>
                </a:solidFill>
                <a:latin typeface="Calibri"/>
              </a:rPr>
              <a:t>,</a:t>
            </a:r>
            <a:r>
              <a:rPr sz="1900" b="0" i="0" dirty="0">
                <a:solidFill>
                  <a:srgbClr val="222222"/>
                </a:solidFill>
                <a:latin typeface="Calibri"/>
              </a:rPr>
              <a:t> it works only for the </a:t>
            </a:r>
            <a:r>
              <a:rPr sz="1900" b="1" i="0" dirty="0">
                <a:solidFill>
                  <a:srgbClr val="222222"/>
                </a:solidFill>
                <a:latin typeface="Calibri"/>
              </a:rPr>
              <a:t>least significant bit</a:t>
            </a:r>
            <a:r>
              <a:rPr sz="1900" b="0" i="0" dirty="0">
                <a:solidFill>
                  <a:srgbClr val="222222"/>
                </a:solidFill>
                <a:latin typeface="Calibri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892040"/>
            <a:ext cx="11091672" cy="777240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4892040"/>
            <a:ext cx="10543032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Add a third input for the incoming borrow  →  the Full Subtractor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6B6B6B"/>
                </a:solidFill>
                <a:latin typeface="Calibri"/>
              </a:rPr>
              <a:t>One missing wire is the whole difference.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Topic 2  ·  Full subtractor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The Full Subtractor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11091672" cy="128016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435608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3A6B"/>
                </a:solidFill>
                <a:latin typeface="Calibri"/>
              </a:rPr>
              <a:t>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783080"/>
            <a:ext cx="10543032" cy="594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A </a:t>
            </a:r>
            <a:r>
              <a:rPr sz="1900" b="1" i="0">
                <a:solidFill>
                  <a:srgbClr val="222222"/>
                </a:solidFill>
                <a:latin typeface="Calibri"/>
              </a:rPr>
              <a:t>full subtractor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subtracts three 1-bit inputs — it computes A − B − B</a:t>
            </a:r>
            <a:r>
              <a:rPr sz="1900" b="0" i="0" baseline="-25000">
                <a:solidFill>
                  <a:srgbClr val="222222"/>
                </a:solidFill>
                <a:latin typeface="Calibri"/>
              </a:rPr>
              <a:t>in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and produces a </a:t>
            </a:r>
            <a:r>
              <a:rPr sz="1900" b="1" i="0">
                <a:solidFill>
                  <a:srgbClr val="222222"/>
                </a:solidFill>
                <a:latin typeface="Calibri"/>
              </a:rPr>
              <a:t>Difference (D)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and a </a:t>
            </a:r>
            <a:r>
              <a:rPr sz="1900" b="1" i="0">
                <a:solidFill>
                  <a:srgbClr val="222222"/>
                </a:solidFill>
                <a:latin typeface="Calibri"/>
              </a:rPr>
              <a:t>borrow-out (B</a:t>
            </a:r>
            <a:r>
              <a:rPr sz="1900" b="1" i="0" baseline="-25000">
                <a:solidFill>
                  <a:srgbClr val="222222"/>
                </a:solidFill>
                <a:latin typeface="Calibri"/>
              </a:rPr>
              <a:t>out</a:t>
            </a:r>
            <a:r>
              <a:rPr sz="1900" b="1" i="0">
                <a:solidFill>
                  <a:srgbClr val="222222"/>
                </a:solidFill>
                <a:latin typeface="Calibri"/>
              </a:rPr>
              <a:t>)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.</a:t>
            </a:r>
          </a:p>
        </p:txBody>
      </p:sp>
      <p:pic>
        <p:nvPicPr>
          <p:cNvPr id="9" name="Picture 8" descr="fs_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51760"/>
            <a:ext cx="4134916" cy="1824228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6035040" y="2807208"/>
            <a:ext cx="82296" cy="82296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59" y="2697480"/>
            <a:ext cx="5303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222222"/>
                </a:solidFill>
                <a:latin typeface="Calibri"/>
              </a:rPr>
              <a:t>Inputs: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A, B, B</a:t>
            </a:r>
            <a:r>
              <a:rPr sz="1900" b="0" i="0" baseline="-25000">
                <a:solidFill>
                  <a:srgbClr val="222222"/>
                </a:solidFill>
                <a:latin typeface="Calibri"/>
              </a:rPr>
              <a:t>in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 (3 bits)</a:t>
            </a:r>
          </a:p>
        </p:txBody>
      </p:sp>
      <p:sp>
        <p:nvSpPr>
          <p:cNvPr id="12" name="Oval 11"/>
          <p:cNvSpPr/>
          <p:nvPr/>
        </p:nvSpPr>
        <p:spPr>
          <a:xfrm>
            <a:off x="6035040" y="3310128"/>
            <a:ext cx="82296" cy="82296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59" y="3200400"/>
            <a:ext cx="5303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222222"/>
                </a:solidFill>
                <a:latin typeface="Calibri"/>
              </a:rPr>
              <a:t>Outputs: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D, B</a:t>
            </a:r>
            <a:r>
              <a:rPr sz="1900" b="0" i="0" baseline="-25000">
                <a:solidFill>
                  <a:srgbClr val="222222"/>
                </a:solidFill>
                <a:latin typeface="Calibri"/>
              </a:rPr>
              <a:t>out</a:t>
            </a:r>
          </a:p>
        </p:txBody>
      </p:sp>
      <p:sp>
        <p:nvSpPr>
          <p:cNvPr id="14" name="Oval 13"/>
          <p:cNvSpPr/>
          <p:nvPr/>
        </p:nvSpPr>
        <p:spPr>
          <a:xfrm>
            <a:off x="6035040" y="3813048"/>
            <a:ext cx="82296" cy="82296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59" y="3703320"/>
            <a:ext cx="5303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222222"/>
                </a:solidFill>
                <a:latin typeface="Calibri"/>
              </a:rPr>
              <a:t>Smallest result: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0 − 1 − 1 = −2, so one borrow is always enough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4389120"/>
            <a:ext cx="5605272" cy="123444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59" y="4590288"/>
            <a:ext cx="50566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8E1B22"/>
                </a:solidFill>
                <a:latin typeface="Calibri"/>
              </a:rPr>
              <a:t>The 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4937759"/>
            <a:ext cx="505663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The B</a:t>
            </a:r>
            <a:r>
              <a:rPr sz="1700" b="0" i="0" baseline="-25000">
                <a:solidFill>
                  <a:srgbClr val="222222"/>
                </a:solidFill>
                <a:latin typeface="Calibri"/>
              </a:rPr>
              <a:t>out</a:t>
            </a:r>
            <a:r>
              <a:rPr sz="1700" b="0" i="0">
                <a:solidFill>
                  <a:srgbClr val="222222"/>
                </a:solidFill>
                <a:latin typeface="Calibri"/>
              </a:rPr>
              <a:t> of one column becomes the B</a:t>
            </a:r>
            <a:r>
              <a:rPr sz="1700" b="0" i="0" baseline="-25000">
                <a:solidFill>
                  <a:srgbClr val="222222"/>
                </a:solidFill>
                <a:latin typeface="Calibri"/>
              </a:rPr>
              <a:t>in</a:t>
            </a:r>
            <a:r>
              <a:rPr sz="1700" b="0" i="0">
                <a:solidFill>
                  <a:srgbClr val="222222"/>
                </a:solidFill>
                <a:latin typeface="Calibri"/>
              </a:rPr>
              <a:t> of the next column.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6B6B6B"/>
                </a:solidFill>
                <a:latin typeface="Calibri"/>
              </a:rPr>
              <a:t>Three bits in, two bits out — enough for every column.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Topic 2  ·  Full subtractor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Full Subtractor — Truth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5120640" cy="402336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7772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325880"/>
            <a:ext cx="7772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325880"/>
            <a:ext cx="8686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B</a:t>
            </a:r>
            <a:r>
              <a:rPr sz="1700" b="1" i="0" baseline="-25000">
                <a:solidFill>
                  <a:srgbClr val="FFFFFF"/>
                </a:solidFill>
                <a:latin typeface="Calibri"/>
              </a:rPr>
              <a:t>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325880"/>
            <a:ext cx="9601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325880"/>
            <a:ext cx="9601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B</a:t>
            </a:r>
            <a:r>
              <a:rPr sz="1700" b="1" i="0" baseline="-25000">
                <a:solidFill>
                  <a:srgbClr val="FFFFFF"/>
                </a:solidFill>
                <a:latin typeface="Calibri"/>
              </a:rPr>
              <a:t>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325880"/>
            <a:ext cx="7772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1728216"/>
            <a:ext cx="960120" cy="402336"/>
          </a:xfrm>
          <a:prstGeom prst="rect">
            <a:avLst/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892040" y="1728216"/>
            <a:ext cx="777240" cy="402336"/>
          </a:xfrm>
          <a:prstGeom prst="rect">
            <a:avLst/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1728216"/>
            <a:ext cx="7772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1728216"/>
            <a:ext cx="7772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1728216"/>
            <a:ext cx="8686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1728216"/>
            <a:ext cx="9601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1728216"/>
            <a:ext cx="9601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8E1B22"/>
                </a:solidFill>
                <a:latin typeface="Calibri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1728216"/>
            <a:ext cx="7772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8E1B22"/>
                </a:solidFill>
                <a:latin typeface="Calibri"/>
              </a:rP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130552"/>
            <a:ext cx="5120640" cy="402336"/>
          </a:xfrm>
          <a:prstGeom prst="rect">
            <a:avLst/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931920" y="2130552"/>
            <a:ext cx="960120" cy="402336"/>
          </a:xfrm>
          <a:prstGeom prst="rect">
            <a:avLst/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892040" y="2130552"/>
            <a:ext cx="777240" cy="402336"/>
          </a:xfrm>
          <a:prstGeom prst="rect">
            <a:avLst/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2130552"/>
            <a:ext cx="7772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2130552"/>
            <a:ext cx="7772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2130552"/>
            <a:ext cx="8686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1800" y="2130552"/>
            <a:ext cx="9601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−1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2130552"/>
            <a:ext cx="9601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8E1B22"/>
                </a:solidFill>
                <a:latin typeface="Calibr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2130552"/>
            <a:ext cx="7772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8E1B22"/>
                </a:solidFill>
                <a:latin typeface="Calibri"/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1920" y="2532888"/>
            <a:ext cx="960120" cy="402336"/>
          </a:xfrm>
          <a:prstGeom prst="rect">
            <a:avLst/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892040" y="2532888"/>
            <a:ext cx="777240" cy="402336"/>
          </a:xfrm>
          <a:prstGeom prst="rect">
            <a:avLst/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2532888"/>
            <a:ext cx="7772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2532888"/>
            <a:ext cx="7772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20" y="2532888"/>
            <a:ext cx="8686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71800" y="2532888"/>
            <a:ext cx="9601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−1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2532888"/>
            <a:ext cx="9601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8E1B22"/>
                </a:solidFill>
                <a:latin typeface="Calibri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92040" y="2532888"/>
            <a:ext cx="7772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8E1B22"/>
                </a:solidFill>
                <a:latin typeface="Calibri"/>
              </a:rP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2935224"/>
            <a:ext cx="5120640" cy="402336"/>
          </a:xfrm>
          <a:prstGeom prst="rect">
            <a:avLst/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931920" y="2935224"/>
            <a:ext cx="960120" cy="402336"/>
          </a:xfrm>
          <a:prstGeom prst="rect">
            <a:avLst/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892040" y="2935224"/>
            <a:ext cx="777240" cy="402336"/>
          </a:xfrm>
          <a:prstGeom prst="rect">
            <a:avLst/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8640" y="2935224"/>
            <a:ext cx="7772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25880" y="2935224"/>
            <a:ext cx="7772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20" y="2935224"/>
            <a:ext cx="8686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71800" y="2935224"/>
            <a:ext cx="9601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−2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31920" y="2935224"/>
            <a:ext cx="9601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8E1B22"/>
                </a:solidFill>
                <a:latin typeface="Calibri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92040" y="2935224"/>
            <a:ext cx="7772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8E1B22"/>
                </a:solidFill>
                <a:latin typeface="Calibri"/>
              </a:rPr>
              <a:t>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31920" y="3337560"/>
            <a:ext cx="960120" cy="402336"/>
          </a:xfrm>
          <a:prstGeom prst="rect">
            <a:avLst/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892040" y="3337560"/>
            <a:ext cx="777240" cy="402336"/>
          </a:xfrm>
          <a:prstGeom prst="rect">
            <a:avLst/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48640" y="3337560"/>
            <a:ext cx="7772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25880" y="3337560"/>
            <a:ext cx="7772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03120" y="3337560"/>
            <a:ext cx="8686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71800" y="3337560"/>
            <a:ext cx="9601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31920" y="3337560"/>
            <a:ext cx="9601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8E1B22"/>
                </a:solidFill>
                <a:latin typeface="Calibri"/>
              </a:rPr>
              <a:t>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92040" y="3337560"/>
            <a:ext cx="7772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8E1B22"/>
                </a:solidFill>
                <a:latin typeface="Calibri"/>
              </a:rPr>
              <a:t>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3739896"/>
            <a:ext cx="5120640" cy="402336"/>
          </a:xfrm>
          <a:prstGeom prst="rect">
            <a:avLst/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3931920" y="3739896"/>
            <a:ext cx="960120" cy="402336"/>
          </a:xfrm>
          <a:prstGeom prst="rect">
            <a:avLst/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4892040" y="3739896"/>
            <a:ext cx="777240" cy="402336"/>
          </a:xfrm>
          <a:prstGeom prst="rect">
            <a:avLst/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48640" y="3739896"/>
            <a:ext cx="7772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25880" y="3739896"/>
            <a:ext cx="7772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103120" y="3739896"/>
            <a:ext cx="8686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971800" y="3739896"/>
            <a:ext cx="9601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931920" y="3739896"/>
            <a:ext cx="9601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8E1B22"/>
                </a:solidFill>
                <a:latin typeface="Calibri"/>
              </a:rPr>
              <a:t>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92040" y="3739896"/>
            <a:ext cx="7772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8E1B22"/>
                </a:solidFill>
                <a:latin typeface="Calibri"/>
              </a:rPr>
              <a:t>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931920" y="4142232"/>
            <a:ext cx="960120" cy="402336"/>
          </a:xfrm>
          <a:prstGeom prst="rect">
            <a:avLst/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4892040" y="4142232"/>
            <a:ext cx="777240" cy="402336"/>
          </a:xfrm>
          <a:prstGeom prst="rect">
            <a:avLst/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48640" y="4142232"/>
            <a:ext cx="7772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325880" y="4142232"/>
            <a:ext cx="7772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103120" y="4142232"/>
            <a:ext cx="8686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971800" y="4142232"/>
            <a:ext cx="9601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931920" y="4142232"/>
            <a:ext cx="9601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8E1B22"/>
                </a:solidFill>
                <a:latin typeface="Calibri"/>
              </a:rPr>
              <a:t>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892040" y="4142232"/>
            <a:ext cx="7772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8E1B22"/>
                </a:solidFill>
                <a:latin typeface="Calibri"/>
              </a:rPr>
              <a:t>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48640" y="4544568"/>
            <a:ext cx="5120640" cy="402336"/>
          </a:xfrm>
          <a:prstGeom prst="rect">
            <a:avLst/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3931920" y="4544568"/>
            <a:ext cx="960120" cy="402336"/>
          </a:xfrm>
          <a:prstGeom prst="rect">
            <a:avLst/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4892040" y="4544568"/>
            <a:ext cx="777240" cy="402336"/>
          </a:xfrm>
          <a:prstGeom prst="rect">
            <a:avLst/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48640" y="4544568"/>
            <a:ext cx="7772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325880" y="4544568"/>
            <a:ext cx="7772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103120" y="4544568"/>
            <a:ext cx="8686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971800" y="4544568"/>
            <a:ext cx="9601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0" i="0">
                <a:solidFill>
                  <a:srgbClr val="222222"/>
                </a:solidFill>
                <a:latin typeface="Calibri"/>
              </a:rPr>
              <a:t>−1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931920" y="4544568"/>
            <a:ext cx="9601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8E1B22"/>
                </a:solidFill>
                <a:latin typeface="Calibri"/>
              </a:rP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892040" y="4544568"/>
            <a:ext cx="7772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8E1B22"/>
                </a:solidFill>
                <a:latin typeface="Calibri"/>
              </a:rPr>
              <a:t>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8640" y="512064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1">
                <a:solidFill>
                  <a:srgbClr val="6B6B6B"/>
                </a:solidFill>
                <a:latin typeface="Calibri"/>
              </a:rPr>
              <a:t>Result = A − B − B</a:t>
            </a:r>
            <a:r>
              <a:rPr sz="1500" b="0" i="1" baseline="-25000">
                <a:solidFill>
                  <a:srgbClr val="6B6B6B"/>
                </a:solidFill>
                <a:latin typeface="Calibri"/>
              </a:rPr>
              <a:t>in</a:t>
            </a:r>
            <a:r>
              <a:rPr sz="1500" b="0" i="1">
                <a:solidFill>
                  <a:srgbClr val="6B6B6B"/>
                </a:solidFill>
                <a:latin typeface="Calibri"/>
              </a:rPr>
              <a:t>;  a negative result needs a borrow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943600" y="1325880"/>
            <a:ext cx="5696712" cy="128016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217920" y="1527048"/>
            <a:ext cx="5148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8E1B22"/>
                </a:solidFill>
                <a:latin typeface="Calibri"/>
              </a:rPr>
              <a:t>Look at column 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17920" y="1874519"/>
            <a:ext cx="5148072" cy="594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D = 1 when an </a:t>
            </a:r>
            <a:r>
              <a:rPr sz="1800" b="1" i="0">
                <a:solidFill>
                  <a:srgbClr val="222222"/>
                </a:solidFill>
                <a:latin typeface="Calibri"/>
              </a:rPr>
              <a:t>odd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 number of inputs are 1 — exactly like the adder's Sum.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943600" y="2743200"/>
            <a:ext cx="5696712" cy="128016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217920" y="2944368"/>
            <a:ext cx="5148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3A6B"/>
                </a:solidFill>
                <a:latin typeface="Calibri"/>
              </a:rPr>
              <a:t>Look at column B</a:t>
            </a:r>
            <a:r>
              <a:rPr sz="2000" b="1" i="0" baseline="-25000">
                <a:solidFill>
                  <a:srgbClr val="1B3A6B"/>
                </a:solidFill>
                <a:latin typeface="Calibri"/>
              </a:rPr>
              <a:t>out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217920" y="3291840"/>
            <a:ext cx="5148072" cy="594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B</a:t>
            </a:r>
            <a:r>
              <a:rPr sz="1800" b="0" i="0" baseline="-25000">
                <a:solidFill>
                  <a:srgbClr val="222222"/>
                </a:solidFill>
                <a:latin typeface="Calibri"/>
              </a:rPr>
              <a:t>out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 = 1 whenever </a:t>
            </a:r>
            <a:r>
              <a:rPr sz="1800" b="1" i="0">
                <a:solidFill>
                  <a:srgbClr val="222222"/>
                </a:solidFill>
                <a:latin typeface="Calibri"/>
              </a:rPr>
              <a:t>A − B − B</a:t>
            </a:r>
            <a:r>
              <a:rPr sz="1800" b="1" i="0" baseline="-25000">
                <a:solidFill>
                  <a:srgbClr val="222222"/>
                </a:solidFill>
                <a:latin typeface="Calibri"/>
              </a:rPr>
              <a:t>in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 goes below zero.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943600" y="4160520"/>
            <a:ext cx="5696712" cy="1188720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217920" y="4160520"/>
            <a:ext cx="5148072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D = Σm(1, 2, 4, 7)</a:t>
            </a:r>
          </a:p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B</a:t>
            </a:r>
            <a:r>
              <a:rPr sz="2000" b="1" i="0" baseline="-25000">
                <a:solidFill>
                  <a:srgbClr val="FFFFFF"/>
                </a:solidFill>
                <a:latin typeface="Calibri"/>
              </a:rPr>
              <a:t>out</a:t>
            </a:r>
            <a:r>
              <a:rPr sz="2000" b="1" i="0">
                <a:solidFill>
                  <a:srgbClr val="FFFFFF"/>
                </a:solidFill>
                <a:latin typeface="Calibri"/>
              </a:rPr>
              <a:t> = Σm(1, 2, 3, 7)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6B6B6B"/>
                </a:solidFill>
                <a:latin typeface="Calibri"/>
              </a:rPr>
              <a:t>Eight rows — verify every one of them in the lab.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Topic 2  ·  Full subtractor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Full Subtractor — Deriving the Difference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15</a:t>
            </a:r>
          </a:p>
        </p:txBody>
      </p:sp>
      <p:pic>
        <p:nvPicPr>
          <p:cNvPr id="6" name="Picture 5" descr="eq_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25880"/>
            <a:ext cx="3480816" cy="316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0" y="13716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6B6B6B"/>
                </a:solidFill>
                <a:latin typeface="Calibri"/>
              </a:rPr>
              <a:t>minterms 1, 2, 4, 7</a:t>
            </a:r>
          </a:p>
        </p:txBody>
      </p:sp>
      <p:pic>
        <p:nvPicPr>
          <p:cNvPr id="8" name="Picture 7" descr="eq_0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039112"/>
            <a:ext cx="3459480" cy="3230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0" y="2084831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6B6B6B"/>
                </a:solidFill>
                <a:latin typeface="Calibri"/>
              </a:rPr>
              <a:t>group by A</a:t>
            </a:r>
          </a:p>
        </p:txBody>
      </p:sp>
      <p:pic>
        <p:nvPicPr>
          <p:cNvPr id="10" name="Picture 9" descr="eq_0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752344"/>
            <a:ext cx="2752344" cy="3383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0" y="2798063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6B6B6B"/>
                </a:solidFill>
                <a:latin typeface="Calibri"/>
              </a:rPr>
              <a:t>XOR and XNOR</a:t>
            </a:r>
          </a:p>
        </p:txBody>
      </p:sp>
      <p:pic>
        <p:nvPicPr>
          <p:cNvPr id="12" name="Picture 11" descr="eq_0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465576"/>
            <a:ext cx="1731264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86800" y="3511296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6B6B6B"/>
                </a:solidFill>
                <a:latin typeface="Calibri"/>
              </a:rPr>
              <a:t>the XOR pattern again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51960"/>
            <a:ext cx="5486400" cy="86868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eq_01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24100" y="4453128"/>
            <a:ext cx="1935480" cy="307848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309360" y="4251960"/>
            <a:ext cx="5330952" cy="86868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4453128"/>
            <a:ext cx="4782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4471416"/>
            <a:ext cx="4782312" cy="5120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Exactly the </a:t>
            </a:r>
            <a:r>
              <a:rPr sz="1800" b="1" i="0">
                <a:solidFill>
                  <a:srgbClr val="222222"/>
                </a:solidFill>
                <a:latin typeface="Calibri"/>
              </a:rPr>
              <a:t>same expression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 as the full adder's Sum.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6B6B6B"/>
                </a:solidFill>
                <a:latin typeface="Calibri"/>
              </a:rPr>
              <a:t>Adding and subtracting differ only in the second output.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Topic 2  ·  K-map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Can We Simplify 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16</a:t>
            </a:r>
          </a:p>
        </p:txBody>
      </p:sp>
      <p:pic>
        <p:nvPicPr>
          <p:cNvPr id="6" name="Picture 5" descr="kmap_di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3770071" cy="2432304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0" y="1938528"/>
            <a:ext cx="82296" cy="82296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0" y="1828800"/>
            <a:ext cx="58521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The 1s form a </a:t>
            </a:r>
            <a:r>
              <a:rPr sz="1900" b="1" i="0">
                <a:solidFill>
                  <a:srgbClr val="222222"/>
                </a:solidFill>
                <a:latin typeface="Calibri"/>
              </a:rPr>
              <a:t>checkerboard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— no two 1s are adjacent.</a:t>
            </a:r>
          </a:p>
        </p:txBody>
      </p:sp>
      <p:sp>
        <p:nvSpPr>
          <p:cNvPr id="9" name="Oval 8"/>
          <p:cNvSpPr/>
          <p:nvPr/>
        </p:nvSpPr>
        <p:spPr>
          <a:xfrm>
            <a:off x="5486400" y="2807208"/>
            <a:ext cx="82296" cy="82296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60720" y="2697480"/>
            <a:ext cx="58521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No group of 2 or 4 is possible, so the SOP </a:t>
            </a:r>
            <a:r>
              <a:rPr sz="1900" b="1" i="0">
                <a:solidFill>
                  <a:srgbClr val="222222"/>
                </a:solidFill>
                <a:latin typeface="Calibri"/>
              </a:rPr>
              <a:t>cannot be simplified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0" y="3675887"/>
            <a:ext cx="82296" cy="82296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60720" y="3566160"/>
            <a:ext cx="58521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Use XOR gates instead of four 3-literal AND terms.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892040"/>
            <a:ext cx="11091672" cy="777240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4892040"/>
            <a:ext cx="10543032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A checkerboard K-map is the signature of an XOR function.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6B6B6B"/>
                </a:solidFill>
                <a:latin typeface="Calibri"/>
              </a:rPr>
              <a:t>The same map we drew for the adder's Sum.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Topic 2  ·  K-map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Deriving B</a:t>
            </a:r>
            <a:r>
              <a:rPr sz="3400" b="1" i="0" baseline="-25000">
                <a:solidFill>
                  <a:srgbClr val="1B3A6B"/>
                </a:solidFill>
                <a:latin typeface="Calibri"/>
              </a:rPr>
              <a:t>out</a:t>
            </a:r>
            <a:r>
              <a:rPr sz="3400" b="1" i="0">
                <a:solidFill>
                  <a:srgbClr val="1B3A6B"/>
                </a:solidFill>
                <a:latin typeface="Calibri"/>
              </a:rPr>
              <a:t> with a K-map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17</a:t>
            </a:r>
          </a:p>
        </p:txBody>
      </p:sp>
      <p:pic>
        <p:nvPicPr>
          <p:cNvPr id="6" name="Picture 5" descr="kmap_bor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3770071" cy="24323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77840" y="1691640"/>
            <a:ext cx="6062472" cy="621792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806440" y="1819656"/>
            <a:ext cx="548640" cy="365760"/>
          </a:xfrm>
          <a:prstGeom prst="roundRect">
            <a:avLst>
              <a:gd name="adj" fmla="val 20000"/>
            </a:avLst>
          </a:prstGeom>
          <a:noFill/>
          <a:ln w="28575">
            <a:solidFill>
              <a:srgbClr val="8E1B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7960" y="1691640"/>
            <a:ext cx="16459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m1, m3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691640"/>
            <a:ext cx="5486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i="0">
                <a:solidFill>
                  <a:srgbClr val="6B6B6B"/>
                </a:solidFill>
                <a:latin typeface="Calibr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1691640"/>
            <a:ext cx="22860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1">
                <a:solidFill>
                  <a:srgbClr val="8E1B22"/>
                </a:solidFill>
                <a:latin typeface="Calibri"/>
              </a:rPr>
              <a:t>A̅B</a:t>
            </a:r>
            <a:r>
              <a:rPr sz="2000" b="1" i="1" baseline="-25000">
                <a:solidFill>
                  <a:srgbClr val="8E1B22"/>
                </a:solidFill>
                <a:latin typeface="Calibri"/>
              </a:rPr>
              <a:t>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2468880"/>
            <a:ext cx="6062472" cy="621792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806440" y="2596896"/>
            <a:ext cx="548640" cy="365760"/>
          </a:xfrm>
          <a:prstGeom prst="roundRect">
            <a:avLst>
              <a:gd name="adj" fmla="val 20000"/>
            </a:avLst>
          </a:prstGeom>
          <a:noFill/>
          <a:ln w="28575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2468880"/>
            <a:ext cx="16459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m2, m3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468880"/>
            <a:ext cx="5486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i="0">
                <a:solidFill>
                  <a:srgbClr val="6B6B6B"/>
                </a:solidFill>
                <a:latin typeface="Calibr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468880"/>
            <a:ext cx="22860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1">
                <a:solidFill>
                  <a:srgbClr val="1B3A6B"/>
                </a:solidFill>
                <a:latin typeface="Calibri"/>
              </a:rPr>
              <a:t>A̅B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77840" y="3246120"/>
            <a:ext cx="6062472" cy="621792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806440" y="3374136"/>
            <a:ext cx="548640" cy="365760"/>
          </a:xfrm>
          <a:prstGeom prst="roundRect">
            <a:avLst>
              <a:gd name="adj" fmla="val 20000"/>
            </a:avLst>
          </a:prstGeom>
          <a:noFill/>
          <a:ln w="28575">
            <a:solidFill>
              <a:srgbClr val="1E7A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3246120"/>
            <a:ext cx="16459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m3, m7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246120"/>
            <a:ext cx="5486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i="0">
                <a:solidFill>
                  <a:srgbClr val="6B6B6B"/>
                </a:solidFill>
                <a:latin typeface="Calibr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3246120"/>
            <a:ext cx="22860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1">
                <a:solidFill>
                  <a:srgbClr val="1E7A4D"/>
                </a:solidFill>
                <a:latin typeface="Calibri"/>
              </a:rPr>
              <a:t>BB</a:t>
            </a:r>
            <a:r>
              <a:rPr sz="2000" b="1" i="1" baseline="-25000">
                <a:solidFill>
                  <a:srgbClr val="1E7A4D"/>
                </a:solidFill>
                <a:latin typeface="Calibri"/>
              </a:rPr>
              <a:t>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77840" y="4069080"/>
            <a:ext cx="6062472" cy="777240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52159" y="4069080"/>
            <a:ext cx="5513832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B</a:t>
            </a:r>
            <a:r>
              <a:rPr sz="2200" b="1" i="0" baseline="-25000">
                <a:solidFill>
                  <a:srgbClr val="FFFFFF"/>
                </a:solidFill>
                <a:latin typeface="Calibri"/>
              </a:rPr>
              <a:t>out</a:t>
            </a:r>
            <a:r>
              <a:rPr sz="2200" b="1" i="0">
                <a:solidFill>
                  <a:srgbClr val="FFFFFF"/>
                </a:solidFill>
                <a:latin typeface="Calibri"/>
              </a:rPr>
              <a:t> = A̅B + A̅B</a:t>
            </a:r>
            <a:r>
              <a:rPr sz="2200" b="1" i="0" baseline="-25000">
                <a:solidFill>
                  <a:srgbClr val="FFFFFF"/>
                </a:solidFill>
                <a:latin typeface="Calibri"/>
              </a:rPr>
              <a:t>in</a:t>
            </a:r>
            <a:r>
              <a:rPr sz="2200" b="1" i="0">
                <a:solidFill>
                  <a:srgbClr val="FFFFFF"/>
                </a:solidFill>
                <a:latin typeface="Calibri"/>
              </a:rPr>
              <a:t> + BB</a:t>
            </a:r>
            <a:r>
              <a:rPr sz="2200" b="1" i="0" baseline="-25000">
                <a:solidFill>
                  <a:srgbClr val="FFFFFF"/>
                </a:solidFill>
                <a:latin typeface="Calibri"/>
              </a:rPr>
              <a:t>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029200"/>
            <a:ext cx="11091672" cy="105156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59" y="5230368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3A6B"/>
                </a:solidFill>
                <a:latin typeface="Calibri"/>
              </a:rPr>
              <a:t>Compare with the adder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577840"/>
            <a:ext cx="10543032" cy="365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C</a:t>
            </a:r>
            <a:r>
              <a:rPr sz="1800" b="0" i="0" baseline="-25000">
                <a:solidFill>
                  <a:srgbClr val="222222"/>
                </a:solidFill>
                <a:latin typeface="Calibri"/>
              </a:rPr>
              <a:t>out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 = AB + AC</a:t>
            </a:r>
            <a:r>
              <a:rPr sz="1800" b="0" i="0" baseline="-25000">
                <a:solidFill>
                  <a:srgbClr val="222222"/>
                </a:solidFill>
                <a:latin typeface="Calibri"/>
              </a:rPr>
              <a:t>in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 + BC</a:t>
            </a:r>
            <a:r>
              <a:rPr sz="1800" b="0" i="0" baseline="-25000">
                <a:solidFill>
                  <a:srgbClr val="222222"/>
                </a:solidFill>
                <a:latin typeface="Calibri"/>
              </a:rPr>
              <a:t>in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. The subtractor is the same shape with </a:t>
            </a:r>
            <a:r>
              <a:rPr sz="1800" b="1" i="0">
                <a:solidFill>
                  <a:srgbClr val="222222"/>
                </a:solidFill>
                <a:latin typeface="Calibri"/>
              </a:rPr>
              <a:t>A inverted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Topic 2  ·  Full subtractor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Another Form of B</a:t>
            </a:r>
            <a:r>
              <a:rPr sz="3400" b="1" i="0" baseline="-25000">
                <a:solidFill>
                  <a:srgbClr val="1B3A6B"/>
                </a:solidFill>
                <a:latin typeface="Calibri"/>
              </a:rPr>
              <a:t>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18</a:t>
            </a:r>
          </a:p>
        </p:txBody>
      </p:sp>
      <p:pic>
        <p:nvPicPr>
          <p:cNvPr id="6" name="Picture 5" descr="eq_0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280160"/>
            <a:ext cx="3685032" cy="316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0" y="13258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6B6B6B"/>
                </a:solidFill>
                <a:latin typeface="Calibri"/>
              </a:rPr>
              <a:t>minterms 1, 2, 3, 7</a:t>
            </a:r>
          </a:p>
        </p:txBody>
      </p:sp>
      <p:pic>
        <p:nvPicPr>
          <p:cNvPr id="8" name="Picture 7" descr="eq_0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938528"/>
            <a:ext cx="3419856" cy="3230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0" y="198424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6B6B6B"/>
                </a:solidFill>
                <a:latin typeface="Calibri"/>
              </a:rPr>
              <a:t>group the terms</a:t>
            </a:r>
          </a:p>
        </p:txBody>
      </p:sp>
      <p:pic>
        <p:nvPicPr>
          <p:cNvPr id="10" name="Picture 9" descr="eq_0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596896"/>
            <a:ext cx="2249424" cy="3383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0" y="2642615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6B6B6B"/>
                </a:solidFill>
                <a:latin typeface="Calibri"/>
              </a:rPr>
              <a:t>complement law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29000"/>
            <a:ext cx="5303520" cy="169164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639312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 i="0">
                <a:solidFill>
                  <a:srgbClr val="8E1B22"/>
                </a:solidFill>
                <a:latin typeface="Calibri"/>
              </a:rPr>
              <a:t>Form 1 (from the K-map)</a:t>
            </a:r>
          </a:p>
        </p:txBody>
      </p:sp>
      <p:pic>
        <p:nvPicPr>
          <p:cNvPr id="14" name="Picture 13" descr="eq_0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3912" y="4114800"/>
            <a:ext cx="1712976" cy="3261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475488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6B6B6B"/>
                </a:solidFill>
                <a:latin typeface="Calibri"/>
              </a:rPr>
              <a:t>1 NOT + 3 AND + 1 three-input 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36792" y="3429000"/>
            <a:ext cx="5303520" cy="169164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36792" y="3639312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 i="0">
                <a:solidFill>
                  <a:srgbClr val="1B3A6B"/>
                </a:solidFill>
                <a:latin typeface="Calibri"/>
              </a:rPr>
              <a:t>Form 2 (reuse the XOR)</a:t>
            </a:r>
          </a:p>
        </p:txBody>
      </p:sp>
      <p:pic>
        <p:nvPicPr>
          <p:cNvPr id="18" name="Picture 17" descr="eq_01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3588" y="4114800"/>
            <a:ext cx="1709928" cy="3505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36792" y="475488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6B6B6B"/>
                </a:solidFill>
                <a:latin typeface="Calibri"/>
              </a:rPr>
              <a:t>2 NOT + 2 AND + 1 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6B6B6B"/>
                </a:solidFill>
                <a:latin typeface="Calibri"/>
              </a:rPr>
              <a:t>A ⊕ B is already built for the Difference — so reuse its complement.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Topic 2  ·  Full subtractor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Full Subtractor — Logic Circuit (SOP Form)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19</a:t>
            </a:r>
          </a:p>
        </p:txBody>
      </p:sp>
      <p:pic>
        <p:nvPicPr>
          <p:cNvPr id="6" name="Picture 5" descr="fs_s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577840" cy="399920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675120" y="1325880"/>
            <a:ext cx="4965192" cy="260604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1554480"/>
            <a:ext cx="49651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1B3A6B"/>
                </a:solidFill>
                <a:latin typeface="Calibri"/>
              </a:rPr>
              <a:t>Boolean expressions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4820" y="2103120"/>
            <a:ext cx="2154936" cy="563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eq_0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0851" y="2249424"/>
            <a:ext cx="1642872" cy="27127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831836" y="2971800"/>
            <a:ext cx="2660904" cy="5913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eq_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7867" y="3118104"/>
            <a:ext cx="2148840" cy="29870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675120" y="4160520"/>
            <a:ext cx="4965192" cy="137160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49440" y="4361688"/>
            <a:ext cx="44165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8E1B22"/>
                </a:solidFill>
                <a:latin typeface="Calibri"/>
              </a:rPr>
              <a:t>In the laboratory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4709159"/>
            <a:ext cx="441655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One inverter makes A̅, which feeds </a:t>
            </a:r>
            <a:r>
              <a:rPr sz="1800" b="1" i="0">
                <a:solidFill>
                  <a:srgbClr val="222222"/>
                </a:solidFill>
                <a:latin typeface="Calibri"/>
              </a:rPr>
              <a:t>two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 of the AND gates.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6B6B6B"/>
                </a:solidFill>
                <a:latin typeface="Calibri"/>
              </a:rPr>
              <a:t>Gates used: 2 XOR + 1 NOT + 3 AND + 1 three-input OR.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Topic 2  ·  Full subtractor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Full Subtractor from Two Half Subtractors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20</a:t>
            </a:r>
          </a:p>
        </p:txBody>
      </p:sp>
      <p:pic>
        <p:nvPicPr>
          <p:cNvPr id="6" name="Picture 5" descr="fs_from_h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222" y="1280160"/>
            <a:ext cx="8999524" cy="2371496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" y="3429000"/>
            <a:ext cx="457200" cy="45720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3429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10712"/>
            <a:ext cx="982980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222222"/>
                </a:solidFill>
                <a:latin typeface="Calibri"/>
              </a:rPr>
              <a:t>Half Subtractor 1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handles A − B  →  P = A ⊕ B,  G = A̅B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995928"/>
            <a:ext cx="457200" cy="457200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9959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977640"/>
            <a:ext cx="982980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222222"/>
                </a:solidFill>
                <a:latin typeface="Calibri"/>
              </a:rPr>
              <a:t>Half Subtractor 2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handles P − B</a:t>
            </a:r>
            <a:r>
              <a:rPr sz="1900" b="0" i="0" baseline="-25000">
                <a:solidFill>
                  <a:srgbClr val="222222"/>
                </a:solidFill>
                <a:latin typeface="Calibri"/>
              </a:rPr>
              <a:t>in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 →  D = P ⊕ B</a:t>
            </a:r>
            <a:r>
              <a:rPr sz="1900" b="0" i="0" baseline="-25000">
                <a:solidFill>
                  <a:srgbClr val="222222"/>
                </a:solidFill>
                <a:latin typeface="Calibri"/>
              </a:rPr>
              <a:t>in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,  X = P̅·B</a:t>
            </a:r>
            <a:r>
              <a:rPr sz="1900" b="0" i="0" baseline="-25000">
                <a:solidFill>
                  <a:srgbClr val="222222"/>
                </a:solidFill>
                <a:latin typeface="Calibri"/>
              </a:rPr>
              <a:t>in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562856"/>
            <a:ext cx="457200" cy="45720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456285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544568"/>
            <a:ext cx="982980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222222"/>
                </a:solidFill>
                <a:latin typeface="Calibri"/>
              </a:rPr>
              <a:t>OR gate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combines the two borrows  →  B</a:t>
            </a:r>
            <a:r>
              <a:rPr sz="1900" b="0" i="0" baseline="-25000">
                <a:solidFill>
                  <a:srgbClr val="222222"/>
                </a:solidFill>
                <a:latin typeface="Calibri"/>
              </a:rPr>
              <a:t>out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= G + 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257800"/>
            <a:ext cx="11091672" cy="777240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59" y="5257800"/>
            <a:ext cx="10543032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Full Subtractor  =  2 Half Subtractors  +  1 OR gate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Topic 2  ·  Full subtractor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Full Subtractor — Gate-Level Circuit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21</a:t>
            </a:r>
          </a:p>
        </p:txBody>
      </p:sp>
      <p:pic>
        <p:nvPicPr>
          <p:cNvPr id="6" name="Picture 5" descr="fs_2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6675120" cy="307681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06640" y="1371600"/>
            <a:ext cx="4233672" cy="283464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q_0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7260" y="1600200"/>
            <a:ext cx="1905000" cy="316992"/>
          </a:xfrm>
          <a:prstGeom prst="rect">
            <a:avLst/>
          </a:prstGeom>
        </p:spPr>
      </p:pic>
      <p:pic>
        <p:nvPicPr>
          <p:cNvPr id="9" name="Picture 8" descr="eq_0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1976" y="2240280"/>
            <a:ext cx="1115568" cy="259080"/>
          </a:xfrm>
          <a:prstGeom prst="rect">
            <a:avLst/>
          </a:prstGeom>
        </p:spPr>
      </p:pic>
      <p:pic>
        <p:nvPicPr>
          <p:cNvPr id="10" name="Picture 9" descr="eq_0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8176" y="2880360"/>
            <a:ext cx="963167" cy="313944"/>
          </a:xfrm>
          <a:prstGeom prst="rect">
            <a:avLst/>
          </a:prstGeom>
        </p:spPr>
      </p:pic>
      <p:pic>
        <p:nvPicPr>
          <p:cNvPr id="11" name="Picture 10" descr="eq_02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3876" y="3520439"/>
            <a:ext cx="1191768" cy="259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06640" y="4343400"/>
            <a:ext cx="4233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0" i="0">
                <a:solidFill>
                  <a:srgbClr val="6B6B6B"/>
                </a:solidFill>
                <a:latin typeface="Calibri"/>
              </a:rPr>
              <a:t>Gates used: 2 XOR + 2 NOT + 2 AND + 1 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983480"/>
            <a:ext cx="11091672" cy="123444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59" y="5184648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8E1B22"/>
                </a:solidFill>
                <a:latin typeface="Calibri"/>
              </a:rPr>
              <a:t>Think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532120"/>
            <a:ext cx="1054303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Can G and X both be 1 at the same time? (No — so the OR never has to add two borrows.)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Let's Trace It: Full Subtractor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Suppose:</a:t>
            </a:r>
          </a:p>
        </p:txBody>
      </p:sp>
      <p:pic>
        <p:nvPicPr>
          <p:cNvPr id="7" name="Picture 6" descr="eq_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207008"/>
            <a:ext cx="2029968" cy="25908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48640" y="1920240"/>
            <a:ext cx="438912" cy="438912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920240"/>
            <a:ext cx="10058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Calibri"/>
              </a:rPr>
              <a:t>HS 1:</a:t>
            </a:r>
          </a:p>
        </p:txBody>
      </p:sp>
      <p:pic>
        <p:nvPicPr>
          <p:cNvPr id="11" name="Picture 10" descr="eq_0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1996439"/>
            <a:ext cx="2450592" cy="286512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548640" y="2606040"/>
            <a:ext cx="438912" cy="438912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606040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606040"/>
            <a:ext cx="10058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Calibri"/>
              </a:rPr>
              <a:t>HS 2:</a:t>
            </a:r>
          </a:p>
        </p:txBody>
      </p:sp>
      <p:pic>
        <p:nvPicPr>
          <p:cNvPr id="15" name="Picture 14" descr="eq_0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3120" y="2682240"/>
            <a:ext cx="2447544" cy="286512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548640" y="3291840"/>
            <a:ext cx="438912" cy="438912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291840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291840"/>
            <a:ext cx="10058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Calibri"/>
              </a:rPr>
              <a:t>OR:</a:t>
            </a:r>
          </a:p>
        </p:txBody>
      </p:sp>
      <p:pic>
        <p:nvPicPr>
          <p:cNvPr id="19" name="Picture 18" descr="eq_0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3120" y="3392424"/>
            <a:ext cx="1347216" cy="237744"/>
          </a:xfrm>
          <a:prstGeom prst="rect">
            <a:avLst/>
          </a:prstGeom>
        </p:spPr>
      </p:pic>
      <p:sp>
        <p:nvSpPr>
          <p:cNvPr id="20" name="Oval 19"/>
          <p:cNvSpPr/>
          <p:nvPr/>
        </p:nvSpPr>
        <p:spPr>
          <a:xfrm>
            <a:off x="548640" y="3977639"/>
            <a:ext cx="438912" cy="438912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977639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977639"/>
            <a:ext cx="10058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Calibri"/>
              </a:rPr>
              <a:t>Check:</a:t>
            </a:r>
          </a:p>
        </p:txBody>
      </p:sp>
      <p:pic>
        <p:nvPicPr>
          <p:cNvPr id="23" name="Picture 22" descr="eq_02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3120" y="4078224"/>
            <a:ext cx="1344168" cy="237744"/>
          </a:xfrm>
          <a:prstGeom prst="rect">
            <a:avLst/>
          </a:prstGeom>
        </p:spPr>
      </p:pic>
      <p:pic>
        <p:nvPicPr>
          <p:cNvPr id="24" name="Picture 23" descr="fs_2hs_val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0" y="1600200"/>
            <a:ext cx="6035040" cy="2781776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548640" y="4983480"/>
            <a:ext cx="11091672" cy="123444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59" y="5184648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3A6B"/>
                </a:solidFill>
                <a:latin typeface="Calibri"/>
              </a:rPr>
              <a:t>Try it yourself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5532120"/>
            <a:ext cx="1054303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Trace A = 0, B = 1, B</a:t>
            </a:r>
            <a:r>
              <a:rPr sz="1800" b="0" i="0" baseline="-25000">
                <a:solidFill>
                  <a:srgbClr val="222222"/>
                </a:solidFill>
                <a:latin typeface="Calibri"/>
              </a:rPr>
              <a:t>in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 = 1. What are D and B</a:t>
            </a:r>
            <a:r>
              <a:rPr sz="1800" b="0" i="0" baseline="-25000">
                <a:solidFill>
                  <a:srgbClr val="222222"/>
                </a:solidFill>
                <a:latin typeface="Calibri"/>
              </a:rPr>
              <a:t>out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Half Subtractor vs Full Subtractor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11091672" cy="530352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6656" y="1325880"/>
            <a:ext cx="252374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325880"/>
            <a:ext cx="36576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Half Subtractor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325880"/>
            <a:ext cx="478231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Full Subtractor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856231"/>
            <a:ext cx="252374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Calibri"/>
              </a:rPr>
              <a:t>Inputs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856231"/>
            <a:ext cx="36576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2  (A, 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856231"/>
            <a:ext cx="478231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3  (A, B, B</a:t>
            </a:r>
            <a:r>
              <a:rPr sz="1800" b="0" i="0" baseline="-25000">
                <a:solidFill>
                  <a:srgbClr val="222222"/>
                </a:solidFill>
                <a:latin typeface="Calibri"/>
              </a:rPr>
              <a:t>in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86584"/>
            <a:ext cx="11091672" cy="530352"/>
          </a:xfrm>
          <a:prstGeom prst="rect">
            <a:avLst/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6656" y="2386584"/>
            <a:ext cx="252374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Calibri"/>
              </a:rPr>
              <a:t>Outputs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386584"/>
            <a:ext cx="36576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D, B</a:t>
            </a:r>
            <a:r>
              <a:rPr sz="1800" b="0" i="0" baseline="-25000">
                <a:solidFill>
                  <a:srgbClr val="222222"/>
                </a:solidFill>
                <a:latin typeface="Calibri"/>
              </a:rPr>
              <a:t>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386584"/>
            <a:ext cx="478231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D, B</a:t>
            </a:r>
            <a:r>
              <a:rPr sz="1800" b="0" i="0" baseline="-25000">
                <a:solidFill>
                  <a:srgbClr val="222222"/>
                </a:solidFill>
                <a:latin typeface="Calibri"/>
              </a:rPr>
              <a:t>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2916935"/>
            <a:ext cx="252374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Calibri"/>
              </a:rPr>
              <a:t>Difference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916935"/>
            <a:ext cx="36576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A ⊕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916935"/>
            <a:ext cx="478231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A ⊕ B ⊕ B</a:t>
            </a:r>
            <a:r>
              <a:rPr sz="1800" b="0" i="0" baseline="-25000">
                <a:solidFill>
                  <a:srgbClr val="222222"/>
                </a:solidFill>
                <a:latin typeface="Calibri"/>
              </a:rPr>
              <a:t>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447287"/>
            <a:ext cx="11091672" cy="530352"/>
          </a:xfrm>
          <a:prstGeom prst="rect">
            <a:avLst/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656" y="3447287"/>
            <a:ext cx="252374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Calibri"/>
              </a:rPr>
              <a:t>Borrow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447287"/>
            <a:ext cx="36576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A̅B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447287"/>
            <a:ext cx="478231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A̅B + B</a:t>
            </a:r>
            <a:r>
              <a:rPr sz="1800" b="0" i="0" baseline="-25000">
                <a:solidFill>
                  <a:srgbClr val="222222"/>
                </a:solidFill>
                <a:latin typeface="Calibri"/>
              </a:rPr>
              <a:t>in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(A ⊕ B)′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" y="3977639"/>
            <a:ext cx="252374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Calibri"/>
              </a:rPr>
              <a:t>Basic gates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3977639"/>
            <a:ext cx="36576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1 XOR + 1 AND + 1 NOT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977639"/>
            <a:ext cx="478231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2 XOR + 2 AND + 2 NOT + 1 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507992"/>
            <a:ext cx="11091672" cy="530352"/>
          </a:xfrm>
          <a:prstGeom prst="rect">
            <a:avLst/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6656" y="4507992"/>
            <a:ext cx="252374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Calibri"/>
              </a:rPr>
              <a:t>Used for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507992"/>
            <a:ext cx="365760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The LSB only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507992"/>
            <a:ext cx="478231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Every bit position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257800"/>
            <a:ext cx="11091672" cy="731520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59" y="5257800"/>
            <a:ext cx="1054303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A full subtractor with B</a:t>
            </a:r>
            <a:r>
              <a:rPr sz="2000" b="1" i="0" baseline="-25000">
                <a:solidFill>
                  <a:srgbClr val="FFFFFF"/>
                </a:solidFill>
                <a:latin typeface="Calibri"/>
              </a:rPr>
              <a:t>in</a:t>
            </a:r>
            <a:r>
              <a:rPr sz="2000" b="1" i="0">
                <a:solidFill>
                  <a:srgbClr val="FFFFFF"/>
                </a:solidFill>
                <a:latin typeface="Calibri"/>
              </a:rPr>
              <a:t> = 0 behaves exactly like a half subtractor.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Adder vs Subtractor — Side by 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11091672" cy="530352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6656" y="1325880"/>
            <a:ext cx="279806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0" y="1325880"/>
            <a:ext cx="40233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Adder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0" y="1325880"/>
            <a:ext cx="414223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Subtractor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1856231"/>
            <a:ext cx="279806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Calibri"/>
              </a:rPr>
              <a:t>Operation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856231"/>
            <a:ext cx="40233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A + B (+ C</a:t>
            </a:r>
            <a:r>
              <a:rPr sz="1800" b="0" i="0" baseline="-25000">
                <a:solidFill>
                  <a:srgbClr val="222222"/>
                </a:solidFill>
                <a:latin typeface="Calibri"/>
              </a:rPr>
              <a:t>in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0" y="1856231"/>
            <a:ext cx="414223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A − B (− B</a:t>
            </a:r>
            <a:r>
              <a:rPr sz="1800" b="0" i="0" baseline="-25000">
                <a:solidFill>
                  <a:srgbClr val="222222"/>
                </a:solidFill>
                <a:latin typeface="Calibri"/>
              </a:rPr>
              <a:t>in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86584"/>
            <a:ext cx="11091672" cy="530352"/>
          </a:xfrm>
          <a:prstGeom prst="rect">
            <a:avLst/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6656" y="2386584"/>
            <a:ext cx="279806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Calibri"/>
              </a:rPr>
              <a:t>First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386584"/>
            <a:ext cx="40233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S = A ⊕ B ⊕ C</a:t>
            </a:r>
            <a:r>
              <a:rPr sz="1800" b="0" i="0" baseline="-25000">
                <a:solidFill>
                  <a:srgbClr val="222222"/>
                </a:solidFill>
                <a:latin typeface="Calibri"/>
              </a:rPr>
              <a:t>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0" y="2386584"/>
            <a:ext cx="414223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D = A ⊕ B ⊕ B</a:t>
            </a:r>
            <a:r>
              <a:rPr sz="1800" b="0" i="0" baseline="-25000">
                <a:solidFill>
                  <a:srgbClr val="222222"/>
                </a:solidFill>
                <a:latin typeface="Calibri"/>
              </a:rPr>
              <a:t>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2916935"/>
            <a:ext cx="279806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Calibri"/>
              </a:rPr>
              <a:t>Second output (half)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916935"/>
            <a:ext cx="40233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C = 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2916935"/>
            <a:ext cx="414223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B</a:t>
            </a:r>
            <a:r>
              <a:rPr sz="1800" b="0" i="0" baseline="-25000">
                <a:solidFill>
                  <a:srgbClr val="222222"/>
                </a:solidFill>
                <a:latin typeface="Calibri"/>
              </a:rPr>
              <a:t>out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 = A̅B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447287"/>
            <a:ext cx="11091672" cy="530352"/>
          </a:xfrm>
          <a:prstGeom prst="rect">
            <a:avLst/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656" y="3447287"/>
            <a:ext cx="279806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Calibri"/>
              </a:rPr>
              <a:t>Second output (full)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447287"/>
            <a:ext cx="40233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AB + C</a:t>
            </a:r>
            <a:r>
              <a:rPr sz="1800" b="0" i="0" baseline="-25000">
                <a:solidFill>
                  <a:srgbClr val="222222"/>
                </a:solidFill>
                <a:latin typeface="Calibri"/>
              </a:rPr>
              <a:t>in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(A ⊕ B)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3447287"/>
            <a:ext cx="414223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A̅B + B</a:t>
            </a:r>
            <a:r>
              <a:rPr sz="1800" b="0" i="0" baseline="-25000">
                <a:solidFill>
                  <a:srgbClr val="222222"/>
                </a:solidFill>
                <a:latin typeface="Calibri"/>
              </a:rPr>
              <a:t>in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(A ⊕ B)′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" y="3977639"/>
            <a:ext cx="279806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Calibri"/>
              </a:rPr>
              <a:t>Extra gate needed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3977639"/>
            <a:ext cx="40233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3977639"/>
            <a:ext cx="414223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NOT on A, and on 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507992"/>
            <a:ext cx="11091672" cy="530352"/>
          </a:xfrm>
          <a:prstGeom prst="rect">
            <a:avLst/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6656" y="4507992"/>
            <a:ext cx="279806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Calibri"/>
              </a:rPr>
              <a:t>Built from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4507992"/>
            <a:ext cx="40233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2 half adders + 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0" y="4507992"/>
            <a:ext cx="414223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alibri"/>
              </a:rPr>
              <a:t>2 half subtractors + OR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257800"/>
            <a:ext cx="11091672" cy="731520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59" y="5257800"/>
            <a:ext cx="1054303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Same XOR, same structure — only the inverters are new.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In the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Laboratory 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2615184" cy="224028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26151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>
                <a:solidFill>
                  <a:srgbClr val="8E1B22"/>
                </a:solidFill>
                <a:latin typeface="Calibri"/>
              </a:rPr>
              <a:t>7486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26151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222222"/>
                </a:solidFill>
                <a:latin typeface="Calibri"/>
              </a:rPr>
              <a:t>Quad 2-input XOR</a:t>
            </a:r>
          </a:p>
        </p:txBody>
      </p:sp>
      <p:pic>
        <p:nvPicPr>
          <p:cNvPr id="9" name="Picture 8" descr="ic74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7" y="2194560"/>
            <a:ext cx="2395728" cy="128047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374136" y="1325880"/>
            <a:ext cx="2615184" cy="224028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74136" y="1463040"/>
            <a:ext cx="26151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>
                <a:solidFill>
                  <a:srgbClr val="1B3A6B"/>
                </a:solidFill>
                <a:latin typeface="Calibri"/>
              </a:rPr>
              <a:t>7408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74136" y="1828800"/>
            <a:ext cx="26151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222222"/>
                </a:solidFill>
                <a:latin typeface="Calibri"/>
              </a:rPr>
              <a:t>Quad 2-input AND</a:t>
            </a:r>
          </a:p>
        </p:txBody>
      </p:sp>
      <p:pic>
        <p:nvPicPr>
          <p:cNvPr id="13" name="Picture 12" descr="ic74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2194560"/>
            <a:ext cx="2395728" cy="1280475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6199631" y="1325880"/>
            <a:ext cx="2615184" cy="224028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99631" y="1463040"/>
            <a:ext cx="26151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>
                <a:solidFill>
                  <a:srgbClr val="8E1B22"/>
                </a:solidFill>
                <a:latin typeface="Calibri"/>
              </a:rPr>
              <a:t>7432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1" y="1828800"/>
            <a:ext cx="26151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222222"/>
                </a:solidFill>
                <a:latin typeface="Calibri"/>
              </a:rPr>
              <a:t>Quad 2-input OR</a:t>
            </a:r>
          </a:p>
        </p:txBody>
      </p:sp>
      <p:pic>
        <p:nvPicPr>
          <p:cNvPr id="17" name="Picture 16" descr="ic74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59" y="2194560"/>
            <a:ext cx="2395728" cy="1280475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9025128" y="1325880"/>
            <a:ext cx="2615184" cy="224028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25128" y="1463040"/>
            <a:ext cx="26151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>
                <a:solidFill>
                  <a:srgbClr val="1B3A6B"/>
                </a:solidFill>
                <a:latin typeface="Calibri"/>
              </a:rPr>
              <a:t>7404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5128" y="1828800"/>
            <a:ext cx="26151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222222"/>
                </a:solidFill>
                <a:latin typeface="Calibri"/>
              </a:rPr>
              <a:t>Hex inverter (NOT)</a:t>
            </a:r>
          </a:p>
        </p:txBody>
      </p:sp>
      <p:pic>
        <p:nvPicPr>
          <p:cNvPr id="21" name="Picture 20" descr="ic74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4855" y="2194560"/>
            <a:ext cx="2395728" cy="1280475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548640" y="3794760"/>
            <a:ext cx="11091672" cy="118872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59" y="3995928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8E1B22"/>
                </a:solidFill>
                <a:latin typeface="Calibri"/>
              </a:rPr>
              <a:t>Important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4343400"/>
            <a:ext cx="10543032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222222"/>
                </a:solidFill>
                <a:latin typeface="Calibri"/>
              </a:rPr>
              <a:t>The </a:t>
            </a:r>
            <a:r>
              <a:rPr sz="1800" b="1" i="0">
                <a:solidFill>
                  <a:srgbClr val="222222"/>
                </a:solidFill>
                <a:latin typeface="Calibri"/>
              </a:rPr>
              <a:t>7404 is different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: it has </a:t>
            </a:r>
            <a:r>
              <a:rPr sz="1800" b="1" i="0">
                <a:solidFill>
                  <a:srgbClr val="222222"/>
                </a:solidFill>
                <a:latin typeface="Calibri"/>
              </a:rPr>
              <a:t>six 1-input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 gates, so the pins run input–output–input–output. VCC is still pin 14 and GND still pin 7.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6B6B6B"/>
                </a:solidFill>
                <a:latin typeface="Calibri"/>
              </a:rPr>
              <a:t>New chip today: the 7404 inverter is what turns an adder into a subtractor.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Logisim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Circuit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Build the half subtractor once, then reuse it twice.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737360"/>
            <a:ext cx="438912" cy="438912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1719072"/>
            <a:ext cx="591616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Calibri"/>
              </a:rPr>
              <a:t>Create a circuit named HalfSubtractor.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304288"/>
            <a:ext cx="438912" cy="438912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304288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2" y="2286000"/>
            <a:ext cx="591616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Calibri"/>
              </a:rPr>
              <a:t>Place inputs A, B and outputs D, B</a:t>
            </a:r>
            <a:r>
              <a:rPr sz="1800" b="0" i="0" baseline="-25000">
                <a:solidFill>
                  <a:srgbClr val="222222"/>
                </a:solidFill>
                <a:latin typeface="Calibri"/>
              </a:rPr>
              <a:t>out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871215"/>
            <a:ext cx="438912" cy="438912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871215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2852927"/>
            <a:ext cx="591616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Calibri"/>
              </a:rPr>
              <a:t>Wire one XOR, one NOT and one AND; test all 4 rows.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438144"/>
            <a:ext cx="438912" cy="438912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43814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3419856"/>
            <a:ext cx="591616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Calibri"/>
              </a:rPr>
              <a:t>Create a second circuit, FullSubtractor.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005072"/>
            <a:ext cx="438912" cy="438912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005072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986784"/>
            <a:ext cx="591616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Calibri"/>
              </a:rPr>
              <a:t>Place two HalfSubtractor sub-circuits and one OR.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4572000"/>
            <a:ext cx="438912" cy="438912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4572000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2" y="4553712"/>
            <a:ext cx="591616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Calibri"/>
              </a:rPr>
              <a:t>Test all 8 input combinations.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" y="5138927"/>
            <a:ext cx="438912" cy="438912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5138927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5120640"/>
            <a:ext cx="5916168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Calibri"/>
              </a:rPr>
              <a:t>Compare with the truth table.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1737360"/>
            <a:ext cx="3776472" cy="274320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hs_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1583" y="2240280"/>
            <a:ext cx="3291840" cy="125864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138160" y="3611880"/>
            <a:ext cx="322783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 i="0">
                <a:solidFill>
                  <a:srgbClr val="1B3A6B"/>
                </a:solidFill>
                <a:latin typeface="Calibri"/>
              </a:rPr>
              <a:t>One block, used twice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6B6B6B"/>
                </a:solidFill>
                <a:latin typeface="Calibri"/>
              </a:rPr>
              <a:t>Keep the adder file open — the two circuits differ by one inverter.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Quick Check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91672" cy="123444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360152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8E1B22"/>
                </a:solidFill>
                <a:latin typeface="Calibri"/>
              </a:rPr>
              <a:t>How many inputs and outputs does a half subtractor have?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alibri"/>
              </a:rPr>
              <a:t>Hint: which bits does it subtract, and what does it produce?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Quick Check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91672" cy="123444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360152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8E1B22"/>
                </a:solidFill>
                <a:latin typeface="Calibri"/>
              </a:rPr>
              <a:t>How many inputs and outputs does a half subtractor have?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alibri"/>
              </a:rPr>
              <a:t>Hint: which bits does it subtract, and what does it produce?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4572000"/>
            <a:ext cx="5486400" cy="960120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30168" y="4572000"/>
            <a:ext cx="49377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2 in,  2 out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Quick Check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91672" cy="123444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360152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8E1B22"/>
                </a:solidFill>
                <a:latin typeface="Calibri"/>
              </a:rPr>
              <a:t>A full subtractor has A = 0, B = 1, B</a:t>
            </a:r>
            <a:r>
              <a:rPr sz="2400" b="1" i="0" baseline="-25000">
                <a:solidFill>
                  <a:srgbClr val="8E1B22"/>
                </a:solidFill>
                <a:latin typeface="Calibri"/>
              </a:rPr>
              <a:t>in</a:t>
            </a:r>
            <a:r>
              <a:rPr sz="2400" b="1" i="0">
                <a:solidFill>
                  <a:srgbClr val="8E1B22"/>
                </a:solidFill>
                <a:latin typeface="Calibri"/>
              </a:rPr>
              <a:t> = 1. What are D and B</a:t>
            </a:r>
            <a:r>
              <a:rPr sz="2400" b="1" i="0" baseline="-25000">
                <a:solidFill>
                  <a:srgbClr val="8E1B22"/>
                </a:solidFill>
                <a:latin typeface="Calibri"/>
              </a:rPr>
              <a:t>out</a:t>
            </a:r>
            <a:r>
              <a:rPr sz="2400" b="1" i="0">
                <a:solidFill>
                  <a:srgbClr val="8E1B22"/>
                </a:solidFill>
                <a:latin typeface="Calibri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alibri"/>
              </a:rPr>
              <a:t>Hint: 0 − 1 − 1 = −2, so borrow and add 2.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Quick Check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91672" cy="123444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360152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8E1B22"/>
                </a:solidFill>
                <a:latin typeface="Calibri"/>
              </a:rPr>
              <a:t>A full subtractor has A = 0, B = 1, B</a:t>
            </a:r>
            <a:r>
              <a:rPr sz="2400" b="1" i="0" baseline="-25000">
                <a:solidFill>
                  <a:srgbClr val="8E1B22"/>
                </a:solidFill>
                <a:latin typeface="Calibri"/>
              </a:rPr>
              <a:t>in</a:t>
            </a:r>
            <a:r>
              <a:rPr sz="2400" b="1" i="0">
                <a:solidFill>
                  <a:srgbClr val="8E1B22"/>
                </a:solidFill>
                <a:latin typeface="Calibri"/>
              </a:rPr>
              <a:t> = 1. What are D and B</a:t>
            </a:r>
            <a:r>
              <a:rPr sz="2400" b="1" i="0" baseline="-25000">
                <a:solidFill>
                  <a:srgbClr val="8E1B22"/>
                </a:solidFill>
                <a:latin typeface="Calibri"/>
              </a:rPr>
              <a:t>out</a:t>
            </a:r>
            <a:r>
              <a:rPr sz="2400" b="1" i="0">
                <a:solidFill>
                  <a:srgbClr val="8E1B22"/>
                </a:solidFill>
                <a:latin typeface="Calibri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alibri"/>
              </a:rPr>
              <a:t>Hint: 0 − 1 − 1 = −2, so borrow and add 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4572000"/>
            <a:ext cx="5486400" cy="960120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30168" y="4572000"/>
            <a:ext cx="49377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D = 0,   B</a:t>
            </a:r>
            <a:r>
              <a:rPr sz="2800" b="1" i="0" baseline="-25000">
                <a:solidFill>
                  <a:srgbClr val="FFFFFF"/>
                </a:solidFill>
                <a:latin typeface="Calibri"/>
              </a:rPr>
              <a:t>out</a:t>
            </a:r>
            <a:r>
              <a:rPr sz="2800" b="1" i="0">
                <a:solidFill>
                  <a:srgbClr val="FFFFFF"/>
                </a:solidFill>
                <a:latin typeface="Calibri"/>
              </a:rPr>
              <a:t> = 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Quick Check #3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91672" cy="123444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60152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8E1B22"/>
                </a:solidFill>
                <a:latin typeface="Calibri"/>
              </a:rPr>
              <a:t>Which gate turns a half adder into a half subtractor?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46120"/>
            <a:ext cx="5303520" cy="804672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41247" y="3419856"/>
            <a:ext cx="457200" cy="45720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341985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246120"/>
            <a:ext cx="41148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Calibri"/>
              </a:rPr>
              <a:t>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36792" y="3246120"/>
            <a:ext cx="5303520" cy="804672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629400" y="3419856"/>
            <a:ext cx="457200" cy="457200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341985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3246120"/>
            <a:ext cx="41148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Calibri"/>
              </a:rPr>
              <a:t>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06240"/>
            <a:ext cx="5303520" cy="804672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1247" y="4379976"/>
            <a:ext cx="457200" cy="45720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7" y="437997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206240"/>
            <a:ext cx="41148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Calibri"/>
              </a:rPr>
              <a:t>NOT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36792" y="4206240"/>
            <a:ext cx="5303520" cy="804672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629400" y="4379976"/>
            <a:ext cx="457200" cy="457200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29400" y="437997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96912" y="4206240"/>
            <a:ext cx="41148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Calibri"/>
              </a:rPr>
              <a:t>NAND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Quick Check #3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91672" cy="123444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60152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8E1B22"/>
                </a:solidFill>
                <a:latin typeface="Calibri"/>
              </a:rPr>
              <a:t>Which gate turns a half adder into a half subtractor?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46120"/>
            <a:ext cx="5303520" cy="804672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41247" y="3419856"/>
            <a:ext cx="457200" cy="45720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341985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246120"/>
            <a:ext cx="41148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Calibri"/>
              </a:rPr>
              <a:t>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36792" y="3246120"/>
            <a:ext cx="5303520" cy="804672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629400" y="3419856"/>
            <a:ext cx="457200" cy="457200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341985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3246120"/>
            <a:ext cx="41148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Calibri"/>
              </a:rPr>
              <a:t>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06240"/>
            <a:ext cx="5303520" cy="804672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1247" y="4379976"/>
            <a:ext cx="457200" cy="45720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7" y="437997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206240"/>
            <a:ext cx="41148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Calibri"/>
              </a:rPr>
              <a:t>NOT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36792" y="4206240"/>
            <a:ext cx="5303520" cy="804672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629400" y="4379976"/>
            <a:ext cx="457200" cy="457200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29400" y="437997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96912" y="4206240"/>
            <a:ext cx="41148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>
                <a:solidFill>
                  <a:srgbClr val="222222"/>
                </a:solidFill>
                <a:latin typeface="Calibri"/>
              </a:rPr>
              <a:t>NAND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55848" y="5257800"/>
            <a:ext cx="5486400" cy="960120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30168" y="5257800"/>
            <a:ext cx="49377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NOT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Quick Check #4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91672" cy="123444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360152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8E1B22"/>
                </a:solidFill>
                <a:latin typeface="Calibri"/>
              </a:rPr>
              <a:t>How many half subtractors (plus one OR gate) make a full subtractor?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alibri"/>
              </a:rPr>
              <a:t>Hint: one for A − B, then one for the borrow-in …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Quick Check #4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91672" cy="123444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360152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8E1B22"/>
                </a:solidFill>
                <a:latin typeface="Calibri"/>
              </a:rPr>
              <a:t>How many half subtractors (plus one OR gate) make a full subtractor?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alibri"/>
              </a:rPr>
              <a:t>Hint: one for A − B, then one for the borrow-in 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4572000"/>
            <a:ext cx="5486400" cy="960120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30168" y="4572000"/>
            <a:ext cx="49377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Class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What Comes Next?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11091672" cy="109728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527048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3A6B"/>
                </a:solidFill>
                <a:latin typeface="Calibri"/>
              </a:rPr>
              <a:t>Next 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874519"/>
            <a:ext cx="10543032" cy="411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222222"/>
                </a:solidFill>
                <a:latin typeface="Calibri"/>
              </a:rPr>
              <a:t>Karnaugh Map Based Combinational Design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— a picture instead of algebra.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 i="0">
                <a:solidFill>
                  <a:srgbClr val="222222"/>
                </a:solidFill>
                <a:latin typeface="Calibri"/>
              </a:rPr>
              <a:t>We used a K-map twice already, for C</a:t>
            </a:r>
            <a:r>
              <a:rPr sz="1900" b="0" i="0" baseline="-25000">
                <a:solidFill>
                  <a:srgbClr val="222222"/>
                </a:solidFill>
                <a:latin typeface="Calibri"/>
              </a:rPr>
              <a:t>out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and for B</a:t>
            </a:r>
            <a:r>
              <a:rPr sz="1900" b="0" i="0" baseline="-25000">
                <a:solidFill>
                  <a:srgbClr val="222222"/>
                </a:solidFill>
                <a:latin typeface="Calibri"/>
              </a:rPr>
              <a:t>out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. Next class we make it the main tool: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9184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3493008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8E1B22"/>
                </a:solidFill>
                <a:latin typeface="Calibri"/>
              </a:rPr>
              <a:t>Group the 1s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950208"/>
            <a:ext cx="2971800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Adjacent cells merge and drop a variable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329184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9431" y="3493008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B3A6B"/>
                </a:solidFill>
                <a:latin typeface="Calibri"/>
              </a:rPr>
              <a:t>Read it 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1" y="3950208"/>
            <a:ext cx="2971800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Each group becomes one product term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329184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75904" y="3493008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8E1B22"/>
                </a:solidFill>
                <a:latin typeface="Calibri"/>
              </a:rPr>
              <a:t>Build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3950208"/>
            <a:ext cx="2971800" cy="5760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Fewer gates for the same function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029200"/>
            <a:ext cx="11091672" cy="777240"/>
          </a:xfrm>
          <a:prstGeom prst="roundRect">
            <a:avLst>
              <a:gd name="adj" fmla="val 6000"/>
            </a:avLst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59" y="5029200"/>
            <a:ext cx="10543032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Same circuits, fewer gates — simplification is a design skill.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Today's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32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325880"/>
            <a:ext cx="457200" cy="45720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307592"/>
            <a:ext cx="982980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Binary subtraction: 0 − 1 needs a </a:t>
            </a:r>
            <a:r>
              <a:rPr sz="1900" b="1" i="0">
                <a:solidFill>
                  <a:srgbClr val="222222"/>
                </a:solidFill>
                <a:latin typeface="Calibri"/>
              </a:rPr>
              <a:t>borrow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from the next column.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84248"/>
            <a:ext cx="457200" cy="457200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98424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965960"/>
            <a:ext cx="982980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Half subtractor:  D = A ⊕ B,  B</a:t>
            </a:r>
            <a:r>
              <a:rPr sz="1900" b="0" i="0" baseline="-25000">
                <a:solidFill>
                  <a:srgbClr val="222222"/>
                </a:solidFill>
                <a:latin typeface="Calibri"/>
              </a:rPr>
              <a:t>out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= A̅B.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642615"/>
            <a:ext cx="457200" cy="45720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642615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624327"/>
            <a:ext cx="982980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The Difference is the same XOR as the adder's Sum.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300984"/>
            <a:ext cx="457200" cy="457200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30098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282696"/>
            <a:ext cx="982980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A half subtractor has no borrow-in, so it fits only the LSB.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3959352"/>
            <a:ext cx="457200" cy="45720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39593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941064"/>
            <a:ext cx="982980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Full subtractor:  D = A ⊕ B ⊕ B</a:t>
            </a:r>
            <a:r>
              <a:rPr sz="1900" b="0" i="0" baseline="-25000">
                <a:solidFill>
                  <a:srgbClr val="222222"/>
                </a:solidFill>
                <a:latin typeface="Calibri"/>
              </a:rPr>
              <a:t>in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.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617720"/>
            <a:ext cx="457200" cy="457200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46177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599432"/>
            <a:ext cx="982980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B</a:t>
            </a:r>
            <a:r>
              <a:rPr sz="1900" b="0" i="0" baseline="-25000">
                <a:solidFill>
                  <a:srgbClr val="222222"/>
                </a:solidFill>
                <a:latin typeface="Calibri"/>
              </a:rPr>
              <a:t>out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= A̅B + A̅B</a:t>
            </a:r>
            <a:r>
              <a:rPr sz="1900" b="0" i="0" baseline="-25000">
                <a:solidFill>
                  <a:srgbClr val="222222"/>
                </a:solidFill>
                <a:latin typeface="Calibri"/>
              </a:rPr>
              <a:t>in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+ BB</a:t>
            </a:r>
            <a:r>
              <a:rPr sz="1900" b="0" i="0" baseline="-25000">
                <a:solidFill>
                  <a:srgbClr val="222222"/>
                </a:solidFill>
                <a:latin typeface="Calibri"/>
              </a:rPr>
              <a:t>in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 = A̅B + B</a:t>
            </a:r>
            <a:r>
              <a:rPr sz="1900" b="0" i="0" baseline="-25000">
                <a:solidFill>
                  <a:srgbClr val="222222"/>
                </a:solidFill>
                <a:latin typeface="Calibri"/>
              </a:rPr>
              <a:t>in</a:t>
            </a:r>
            <a:r>
              <a:rPr sz="1900" b="0" i="0">
                <a:solidFill>
                  <a:srgbClr val="222222"/>
                </a:solidFill>
                <a:latin typeface="Calibri"/>
              </a:rPr>
              <a:t>(A ⊕ B)′.</a:t>
            </a:r>
          </a:p>
        </p:txBody>
      </p:sp>
      <p:sp>
        <p:nvSpPr>
          <p:cNvPr id="24" name="Oval 23"/>
          <p:cNvSpPr/>
          <p:nvPr/>
        </p:nvSpPr>
        <p:spPr>
          <a:xfrm>
            <a:off x="548640" y="5276088"/>
            <a:ext cx="457200" cy="45720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527608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5257800"/>
            <a:ext cx="982980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Full subtractor = 2 half subtractors + 1 OR gate.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Before You Leave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222222"/>
                </a:solidFill>
                <a:latin typeface="Calibri"/>
              </a:rPr>
              <a:t>You should be able to answer: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303520" cy="105156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" y="2039112"/>
            <a:ext cx="548640" cy="54864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3911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19" y="1783080"/>
            <a:ext cx="3977639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Calibri"/>
              </a:rPr>
              <a:t>What is the difference between a half and a full subtractor?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6792" y="1783080"/>
            <a:ext cx="5303520" cy="105156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656831" y="2039112"/>
            <a:ext cx="548640" cy="548640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56831" y="203911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34071" y="1783080"/>
            <a:ext cx="3977639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Calibri"/>
              </a:rPr>
              <a:t>Why is the Difference the same as the adder's Sum?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17520"/>
            <a:ext cx="5303520" cy="105156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68680" y="3273552"/>
            <a:ext cx="548640" cy="54864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27355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19" y="3017520"/>
            <a:ext cx="3977639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Calibri"/>
              </a:rPr>
              <a:t>Write the complete truth table of a full subtractor.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36792" y="3017520"/>
            <a:ext cx="5303520" cy="105156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656831" y="3273552"/>
            <a:ext cx="548640" cy="548640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56831" y="327355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34071" y="3017520"/>
            <a:ext cx="3977639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Calibri"/>
              </a:rPr>
              <a:t>Derive B</a:t>
            </a:r>
            <a:r>
              <a:rPr sz="1800" b="0" i="0" baseline="-25000">
                <a:solidFill>
                  <a:srgbClr val="222222"/>
                </a:solidFill>
                <a:latin typeface="Calibri"/>
              </a:rPr>
              <a:t>out</a:t>
            </a:r>
            <a:r>
              <a:rPr sz="1800" b="0" i="0">
                <a:solidFill>
                  <a:srgbClr val="222222"/>
                </a:solidFill>
                <a:latin typeface="Calibri"/>
              </a:rPr>
              <a:t> using a K-map.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51960"/>
            <a:ext cx="5303520" cy="105156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68680" y="4507992"/>
            <a:ext cx="548640" cy="548640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450799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19" y="4251960"/>
            <a:ext cx="3977639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Calibri"/>
              </a:rPr>
              <a:t>How do you build a full subtractor from two half subtractors?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36792" y="4251960"/>
            <a:ext cx="5303520" cy="105156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656831" y="4507992"/>
            <a:ext cx="548640" cy="548640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56831" y="450799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34071" y="4251960"/>
            <a:ext cx="3977639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Calibri"/>
              </a:rPr>
              <a:t>Which ICs do you need to build a full subtractor in the lab?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68312" y="1828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0" i="0">
                <a:solidFill>
                  <a:srgbClr val="6B6B6B"/>
                </a:solidFill>
                <a:latin typeface="Calibri"/>
              </a:rPr>
              <a:t>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 i="0">
                <a:solidFill>
                  <a:srgbClr val="1B3A6B"/>
                </a:solidFill>
                <a:latin typeface="Calibri"/>
              </a:rPr>
              <a:t>Lab Task — Experiment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2823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CSE208  ·  Digital Logic Design Laboratory  ·  Class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282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alibri"/>
              </a:rPr>
              <a:t>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11091672" cy="100584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435608"/>
            <a:ext cx="1054303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B3A6B"/>
                </a:solidFill>
                <a:latin typeface="Calibri"/>
              </a:rPr>
              <a:t>Implementation of Half Subtractor and Full Subtractor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783080"/>
            <a:ext cx="105430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222222"/>
                </a:solidFill>
                <a:latin typeface="Calibri"/>
              </a:rPr>
              <a:t>Construct the following circuits and verify every row of the truth table.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2316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F8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8E1B22"/>
                </a:solidFill>
                <a:latin typeface="Calibri"/>
              </a:rPr>
              <a:t>Part A — Half Subtractor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218688"/>
            <a:ext cx="82296" cy="82296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70432" y="3127248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Calibri"/>
              </a:rPr>
              <a:t>One XOR + one NOT + one AND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602736"/>
            <a:ext cx="82296" cy="82296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70432" y="3511296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Calibri"/>
              </a:rPr>
              <a:t>ICs: 7486, 7404, 7408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986783"/>
            <a:ext cx="82296" cy="82296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70432" y="3895344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Calibri"/>
              </a:rPr>
              <a:t>Verify all 4 rows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36792" y="2423160"/>
            <a:ext cx="5303520" cy="1783080"/>
          </a:xfrm>
          <a:prstGeom prst="roundRect">
            <a:avLst>
              <a:gd name="adj" fmla="val 6000"/>
            </a:avLst>
          </a:prstGeom>
          <a:solidFill>
            <a:srgbClr val="E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56831" y="260604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B3A6B"/>
                </a:solidFill>
                <a:latin typeface="Calibri"/>
              </a:rPr>
              <a:t>Part B — Full Subtractor</a:t>
            </a:r>
          </a:p>
        </p:txBody>
      </p:sp>
      <p:sp>
        <p:nvSpPr>
          <p:cNvPr id="19" name="Oval 18"/>
          <p:cNvSpPr/>
          <p:nvPr/>
        </p:nvSpPr>
        <p:spPr>
          <a:xfrm>
            <a:off x="6702552" y="3218688"/>
            <a:ext cx="82296" cy="82296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58583" y="3127248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Calibri"/>
              </a:rPr>
              <a:t>Two half subtractors + one OR gate</a:t>
            </a:r>
          </a:p>
        </p:txBody>
      </p:sp>
      <p:sp>
        <p:nvSpPr>
          <p:cNvPr id="21" name="Oval 20"/>
          <p:cNvSpPr/>
          <p:nvPr/>
        </p:nvSpPr>
        <p:spPr>
          <a:xfrm>
            <a:off x="6702552" y="3602736"/>
            <a:ext cx="82296" cy="82296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58583" y="3511296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Calibri"/>
              </a:rPr>
              <a:t>ICs: 7486, 7404, 7408, 7432</a:t>
            </a:r>
          </a:p>
        </p:txBody>
      </p:sp>
      <p:sp>
        <p:nvSpPr>
          <p:cNvPr id="23" name="Oval 22"/>
          <p:cNvSpPr/>
          <p:nvPr/>
        </p:nvSpPr>
        <p:spPr>
          <a:xfrm>
            <a:off x="6702552" y="3986783"/>
            <a:ext cx="82296" cy="82296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58583" y="3895344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Calibri"/>
              </a:rPr>
              <a:t>Verify all 8 rows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4348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B3A6B"/>
                </a:solidFill>
                <a:latin typeface="Calibri"/>
              </a:rPr>
              <a:t>Submit:</a:t>
            </a:r>
          </a:p>
        </p:txBody>
      </p:sp>
      <p:sp>
        <p:nvSpPr>
          <p:cNvPr id="26" name="Oval 25"/>
          <p:cNvSpPr/>
          <p:nvPr/>
        </p:nvSpPr>
        <p:spPr>
          <a:xfrm>
            <a:off x="548640" y="4892040"/>
            <a:ext cx="402336" cy="402336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489204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4892040"/>
            <a:ext cx="310896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Calibri"/>
              </a:rPr>
              <a:t>Circuit diagrams</a:t>
            </a:r>
          </a:p>
        </p:txBody>
      </p:sp>
      <p:sp>
        <p:nvSpPr>
          <p:cNvPr id="29" name="Oval 28"/>
          <p:cNvSpPr/>
          <p:nvPr/>
        </p:nvSpPr>
        <p:spPr>
          <a:xfrm>
            <a:off x="4325112" y="4892040"/>
            <a:ext cx="402336" cy="402336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25112" y="489204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4892040"/>
            <a:ext cx="310896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Calibri"/>
              </a:rPr>
              <a:t>Truth tables</a:t>
            </a:r>
          </a:p>
        </p:txBody>
      </p:sp>
      <p:sp>
        <p:nvSpPr>
          <p:cNvPr id="32" name="Oval 31"/>
          <p:cNvSpPr/>
          <p:nvPr/>
        </p:nvSpPr>
        <p:spPr>
          <a:xfrm>
            <a:off x="8101583" y="4892040"/>
            <a:ext cx="402336" cy="402336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01583" y="489204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68511" y="4892040"/>
            <a:ext cx="310896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Calibri"/>
              </a:rPr>
              <a:t>Boolean expressions &amp; K-maps</a:t>
            </a:r>
          </a:p>
        </p:txBody>
      </p:sp>
      <p:sp>
        <p:nvSpPr>
          <p:cNvPr id="35" name="Oval 34"/>
          <p:cNvSpPr/>
          <p:nvPr/>
        </p:nvSpPr>
        <p:spPr>
          <a:xfrm>
            <a:off x="548640" y="5458968"/>
            <a:ext cx="402336" cy="402336"/>
          </a:xfrm>
          <a:prstGeom prst="ellipse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545896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" y="5458968"/>
            <a:ext cx="310896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Calibri"/>
              </a:rPr>
              <a:t>Experimental observations</a:t>
            </a:r>
          </a:p>
        </p:txBody>
      </p:sp>
      <p:sp>
        <p:nvSpPr>
          <p:cNvPr id="38" name="Oval 37"/>
          <p:cNvSpPr/>
          <p:nvPr/>
        </p:nvSpPr>
        <p:spPr>
          <a:xfrm>
            <a:off x="4325112" y="5458968"/>
            <a:ext cx="402336" cy="402336"/>
          </a:xfrm>
          <a:prstGeom prst="ellipse">
            <a:avLst/>
          </a:prstGeom>
          <a:solidFill>
            <a:srgbClr val="8E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325112" y="5458968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92040" y="5458968"/>
            <a:ext cx="310896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Calibri"/>
              </a:rPr>
              <a:t>Short conclusion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E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91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One Inverter Makes the Difference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8E1B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737360"/>
            <a:ext cx="62179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Half subtractor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 — 2 bits in, Difference and Borrow out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5176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8E1B22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651760"/>
            <a:ext cx="62179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Full subtractor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 — 3 bits in, handles the borrow from the last column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56616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8E1B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566160"/>
            <a:ext cx="62179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Two half subtractors + OR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 — the standard full subtractor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056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44805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8E1B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480560"/>
            <a:ext cx="62179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The Difference is the adder's Sum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 — only the borrow is new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691640"/>
            <a:ext cx="3776472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60" y="192024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8E1B22"/>
                </a:solidFill>
                <a:latin typeface="Calibri"/>
              </a:rPr>
              <a:t>NEXT CLASS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28600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B3A6B"/>
                </a:solidFill>
                <a:latin typeface="Calibri"/>
              </a:rPr>
              <a:t>Karnaugh Maps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880360"/>
            <a:ext cx="3291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Calibri"/>
              </a:rPr>
              <a:t>Group the 1s and read off the simplest expression.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572000"/>
            <a:ext cx="3776472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3475</Words>
  <Application>Microsoft Office PowerPoint</Application>
  <PresentationFormat>Widescreen</PresentationFormat>
  <Paragraphs>620</Paragraphs>
  <Slides>39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2005018 - Munzer Mahmood</cp:lastModifiedBy>
  <cp:revision>2</cp:revision>
  <dcterms:created xsi:type="dcterms:W3CDTF">2013-01-27T09:14:16Z</dcterms:created>
  <dcterms:modified xsi:type="dcterms:W3CDTF">2026-10-06T17:46:47Z</dcterms:modified>
  <cp:category/>
</cp:coreProperties>
</file>